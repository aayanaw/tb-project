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9488"/>
                </a:solidFill>
              </a:defRPr>
            </a:pPr>
            <a:r>
              <a:t>Phase 3: Statistical Analysis</a:t>
            </a:r>
          </a:p>
          <a:p>
            <a:pPr algn="ctr">
              <a:spcBef>
                <a:spcPts val="1600"/>
              </a:spcBef>
              <a:defRPr sz="2000">
                <a:solidFill>
                  <a:srgbClr val="FFFFFF"/>
                </a:solidFill>
              </a:defRPr>
            </a:pPr>
            <a:r>
              <a:t>ENIGMA Project — Quantifying the Noise Difference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931920"/>
            <a:ext cx="48764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50,000 cells  |  4 conditions  |  10,000 bootstraps  |  Multiple statistical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Statistics?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800" b="0">
                <a:solidFill>
                  <a:srgbClr val="334155"/>
                </a:solidFill>
              </a:defRPr>
            </a:pPr>
            <a:r>
              <a:t>50,000 cells per condition generates rich distributions, not single numbers</a:t>
            </a:r>
          </a:p>
          <a:p>
            <a:pPr>
              <a:spcBef>
                <a:spcPts val="400"/>
              </a:spcBef>
              <a:defRPr sz="1800" b="0">
                <a:solidFill>
                  <a:srgbClr val="334155"/>
                </a:solidFill>
              </a:defRPr>
            </a:pPr>
            <a:r>
              <a:t>We need rigorous statistics to prove the CV difference is real, not a simulation artifact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D9488"/>
                </a:solidFill>
              </a:defRPr>
            </a:pPr>
            <a:r>
              <a:t>Key questions Phase 3 answers:</a:t>
            </a:r>
          </a:p>
          <a:p>
            <a:pPr lvl="1">
              <a:spcBef>
                <a:spcPts val="400"/>
              </a:spcBef>
              <a:defRPr sz="1700" b="0">
                <a:solidFill>
                  <a:srgbClr val="334155"/>
                </a:solidFill>
              </a:defRPr>
            </a:pPr>
            <a:r>
              <a:t>Is CV(asymmetric) significantly greater than CV(symmetric)?</a:t>
            </a:r>
          </a:p>
          <a:p>
            <a:pPr lvl="1">
              <a:spcBef>
                <a:spcPts val="400"/>
              </a:spcBef>
              <a:defRPr sz="1700" b="0">
                <a:solidFill>
                  <a:srgbClr val="334155"/>
                </a:solidFill>
              </a:defRPr>
            </a:pPr>
            <a:r>
              <a:t>How large is the effect? (Effect size metrics)</a:t>
            </a:r>
          </a:p>
          <a:p>
            <a:pPr lvl="1">
              <a:spcBef>
                <a:spcPts val="400"/>
              </a:spcBef>
              <a:defRPr sz="1700" b="0">
                <a:solidFill>
                  <a:srgbClr val="334155"/>
                </a:solidFill>
              </a:defRPr>
            </a:pPr>
            <a:r>
              <a:t>Is the result robust to parameter perturbation? (Sensitivity analysis)</a:t>
            </a:r>
          </a:p>
          <a:p>
            <a:pPr lvl="1">
              <a:spcBef>
                <a:spcPts val="400"/>
              </a:spcBef>
              <a:defRPr sz="1700" b="0">
                <a:solidFill>
                  <a:srgbClr val="334155"/>
                </a:solidFill>
              </a:defRPr>
            </a:pPr>
            <a:r>
              <a:t>Do negative controls confirm specificity? (Shuffled parameters)</a:t>
            </a:r>
          </a:p>
          <a:p>
            <a:pPr lvl="1">
              <a:spcBef>
                <a:spcPts val="400"/>
              </a:spcBef>
              <a:defRPr sz="1700" b="0">
                <a:solidFill>
                  <a:srgbClr val="334155"/>
                </a:solidFill>
              </a:defRPr>
            </a:pPr>
            <a:r>
              <a:t>Does the model agree with experimental data? (Santangelo 2009)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64748B"/>
                </a:solidFill>
              </a:defRPr>
            </a:pPr>
            <a:r>
              <a:t>Statistical toolkit: Bootstrap resampling, KS test, Mann-Whitney U, permutation tests, BIC model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Noise Metrics Overview</a:t>
            </a:r>
          </a:p>
        </p:txBody>
      </p:sp>
      <p:pic>
        <p:nvPicPr>
          <p:cNvPr id="4" name="Picture 3" descr="cv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486400" cy="3429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188720"/>
          <a:ext cx="5943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371600"/>
                <a:gridCol w="109728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 Cells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 Protein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Fano Factor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50000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197.31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0.1866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6.8718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50000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292.58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7.1841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50000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341.77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0.1495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7.6350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50000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2224.01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7.7680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37490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Condition A (full asymmetric mce3r) has the highest CV.</a:t>
            </a:r>
            <a:br/>
            <a:r>
              <a:t>Condition D (symmetric, no blocking) has the lowest CV.</a:t>
            </a:r>
            <a:br/>
            <a:br/>
            <a:r>
              <a:t>This ordering A &gt; B &gt; C &gt; D matches the prediction</a:t>
            </a:r>
            <a:br/>
            <a:r>
              <a:t>that asymmetric operator architecture amplifies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9488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4A3B8"/>
                </a:solidFill>
              </a:defRPr>
            </a:pPr>
            <a:r>
              <a:t>THE CENTRAL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9488"/>
                </a:solidFill>
              </a:defRPr>
            </a:pPr>
            <a:r>
              <a:t>CV(Asymmetric)  &gt;  CV(Symmetric)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</a:defRPr>
            </a:pPr>
            <a:r>
              <a:t>CV(A) = 0.1866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0175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CV(D) = 0.0591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+215.8% higher noise in the asymmetric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This noise amplification creates the long tail of high-expression outliers — potential persister cells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Bootstrap Analysis</a:t>
            </a:r>
          </a:p>
        </p:txBody>
      </p:sp>
      <p:pic>
        <p:nvPicPr>
          <p:cNvPr id="4" name="Picture 3" descr="bootstrap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943600" cy="3714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D9488"/>
                </a:solidFill>
              </a:defRPr>
            </a:pPr>
            <a:r>
              <a:t>10,000 bootstrap resamples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Point estimate: ΔCV = 0.1275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95% CI: [0.1260, 0.1291]</a:t>
            </a: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Entire CI is above zero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D9488"/>
                </a:solidFill>
              </a:defRPr>
            </a:pPr>
            <a:r>
              <a:t>Interpretation: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The CV difference between asymmetric (A) and symmetric (D) conditions is statistically robust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Zero is far outside the confidence interval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The noise amplification is not a simulation artifact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Statistical Tests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54864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KS Statistic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Cohen's 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A_vs_B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0.7528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-2.2911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A_vs_C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0.9013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-3.2442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A_vs_D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-20.9978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B_vs_D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-19.6218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C_vs_D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-18.8765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188720"/>
          <a:ext cx="530352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3716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LR Statistic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GMM_LR_2v3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GMM_LR_2v3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GMM_LR_2v3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GMM_LR_2v3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GMM_LR_1v2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1041.97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GMM_LR_1v2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471.97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GMM_LR_1v2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423.12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GMM_LR_1v2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89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0D9488"/>
                </a:solidFill>
              </a:defRPr>
            </a:pPr>
            <a:r>
              <a:t>All KS tests: p &lt; 0.001 — distributions are significantly different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GMM likelihood-ratio tests confirm 2-component mixture is preferred for conditions A, B, C (bimodal)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Condition D is best fit by a single component (unimodal)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Massive Cohen's d values (|d| &gt; 2) indicate enormous effect sizes well beyond conventional thresholds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Effect Size Analysis</a:t>
            </a:r>
          </a:p>
        </p:txBody>
      </p:sp>
      <p:pic>
        <p:nvPicPr>
          <p:cNvPr id="4" name="Picture 3" descr="effec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4008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D9488"/>
                </a:solidFill>
              </a:defRPr>
            </a:pPr>
            <a:r>
              <a:t>Cohen's d interpretation: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|d| &lt; 0.2 = negligible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|d| ~ 0.5 = medium</a:t>
            </a:r>
          </a:p>
          <a:p>
            <a:pPr lvl="1"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|d| &gt; 0.8 = large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EF4444"/>
                </a:solidFill>
              </a:defRPr>
            </a:pPr>
            <a:r>
              <a:t>A vs D:  d = -21.00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This is a massive effect — over 20 standard deviations!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Even B vs D and C vs D show |d| &gt; 18</a:t>
            </a:r>
          </a:p>
          <a:p>
            <a:pPr>
              <a:spcBef>
                <a:spcPts val="400"/>
              </a:spcBef>
              <a:defRPr sz="1500" b="0">
                <a:solidFill>
                  <a:srgbClr val="475569"/>
                </a:solidFill>
              </a:defRPr>
            </a:pPr>
            <a:r>
              <a:t>The asymmetric architecture creates a fundamental shift in the protein distribution, not a subtle tweak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Fano Factor: Super-Poissonian Noise</a:t>
            </a:r>
          </a:p>
        </p:txBody>
      </p:sp>
      <p:pic>
        <p:nvPicPr>
          <p:cNvPr id="4" name="Picture 3" descr="fano_f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217920" cy="3886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D9488"/>
                </a:solidFill>
              </a:defRPr>
            </a:pPr>
            <a:r>
              <a:t>Fano Factor = Variance / Mean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Poisson process: Fano = 1</a:t>
            </a: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All conditions: Fano &gt;&gt; 1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Condition A: Fano = 6.87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Condition B: Fano = 7.18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Condition C: Fano = 7.63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Condition D: Fano = 7.77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700" b="1">
                <a:solidFill>
                  <a:srgbClr val="0D9488"/>
                </a:solidFill>
              </a:defRPr>
            </a:pPr>
            <a:r>
              <a:t>Super-Poissonian noise = bursty transcription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The two-state promoter generates burst-like expression</a:t>
            </a:r>
          </a:p>
          <a:p>
            <a:pPr>
              <a:spcBef>
                <a:spcPts val="400"/>
              </a:spcBef>
              <a:defRPr sz="1400" b="0">
                <a:solidFill>
                  <a:srgbClr val="475569"/>
                </a:solidFill>
              </a:defRPr>
            </a:pPr>
            <a:r>
              <a:t>Condition D has the highest Fano (most bursty per molecule) but lowest CV (least cell-to-cell variation)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Experimental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0D9488"/>
                </a:solidFill>
              </a:defRPr>
            </a:pPr>
            <a:r>
              <a:t>Model vs Experiment (Santangelo 2009)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334155"/>
                </a:solidFill>
              </a:defRPr>
            </a:pPr>
            <a:r>
              <a:t>Model mean protein (Condition A): 197.3 molecules</a:t>
            </a:r>
          </a:p>
          <a:p>
            <a:pPr>
              <a:spcBef>
                <a:spcPts val="400"/>
              </a:spcBef>
              <a:defRPr sz="1700" b="0">
                <a:solidFill>
                  <a:srgbClr val="334155"/>
                </a:solidFill>
              </a:defRPr>
            </a:pPr>
            <a:r>
              <a:t>Model mean protein (Condition D): 2224.0 molecules</a:t>
            </a:r>
          </a:p>
          <a:p>
            <a:pPr>
              <a:spcBef>
                <a:spcPts val="400"/>
              </a:spcBef>
              <a:defRPr sz="1800" b="1">
                <a:solidFill>
                  <a:srgbClr val="334155"/>
                </a:solidFill>
              </a:defRPr>
            </a:pPr>
            <a:r>
              <a:t>Model fold-change (D/A): 11.3×</a:t>
            </a:r>
          </a:p>
          <a:p>
            <a:pPr>
              <a:spcBef>
                <a:spcPts val="400"/>
              </a:spcBef>
              <a:defRPr sz="1800" b="1">
                <a:solidFill>
                  <a:srgbClr val="334155"/>
                </a:solidFill>
              </a:defRPr>
            </a:pPr>
            <a:r>
              <a:t>Experimental fold-change: 8.5×</a:t>
            </a:r>
          </a:p>
          <a:p>
            <a:pPr>
              <a:spcBef>
                <a:spcPts val="400"/>
              </a:spcBef>
              <a:defRPr sz="1800" b="1">
                <a:solidFill>
                  <a:srgbClr val="EF4444"/>
                </a:solidFill>
              </a:defRPr>
            </a:pPr>
            <a:r>
              <a:t>Ratio (model/experiment): 1.33×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700" b="0">
                <a:solidFill>
                  <a:srgbClr val="334155"/>
                </a:solidFill>
              </a:defRPr>
            </a:pPr>
            <a:r>
              <a:t>The model predicts a fold-change within 33% of the experimentally measured value</a:t>
            </a:r>
          </a:p>
          <a:p>
            <a:pPr>
              <a:spcBef>
                <a:spcPts val="400"/>
              </a:spcBef>
              <a:defRPr sz="1600" b="0">
                <a:solidFill>
                  <a:srgbClr val="475569"/>
                </a:solidFill>
              </a:defRPr>
            </a:pPr>
            <a:r>
              <a:t>Given the simplifications (no cell division, steady-state assumption), this is excellent agreement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D9488"/>
                </a:solidFill>
              </a:defRPr>
            </a:pPr>
            <a:r>
              <a:t>GMM persister threshold: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Threshold = 209.1 molecules  |  Persister fraction (A) = 41.2%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Sensitivity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73152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CV Range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Sensitivity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CV Min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CV Max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block_strong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0.1792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0.2697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0.1061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0.2854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t_half_protein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0.2487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k_max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0.0766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0.0766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0.1602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0.2368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block_weak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0.2087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k_on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0.0137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0.0137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0.1792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0.1929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k_translation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t_half_mRNA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0.0111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0.0111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0.1817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0.1928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0D9488"/>
                </a:solidFill>
              </a:defRPr>
            </a:pPr>
            <a:r>
              <a:t>Sensitivity = ΔCV / Δ(fold-change in parameter)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Most sensitive parameter: block_strong (sensitivity = 0.2697)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Least sensitive parameter: t_half_mRNA (sensitivity = 0.0111)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The CV difference is robust: even large parameter perturbations do not eliminate the noise ordering</a:t>
            </a:r>
          </a:p>
          <a:p>
            <a:pPr>
              <a:spcBef>
                <a:spcPts val="400"/>
              </a:spcBef>
              <a:defRPr sz="1500" b="0">
                <a:solidFill>
                  <a:srgbClr val="475569"/>
                </a:solidFill>
              </a:defRPr>
            </a:pPr>
            <a:r>
              <a:t>block_strong has the highest sensitivity — blocking strength is the key driver of noise amplification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Negative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D9488"/>
                </a:solidFill>
              </a:defRPr>
            </a:pPr>
            <a:r>
              <a:t>Shuffle test: Randomize blocking site assignments and check if CV ordering survives</a:t>
            </a:r>
          </a:p>
          <a:p>
            <a:pPr>
              <a:spcBef>
                <a:spcPts val="400"/>
              </a:spcBef>
              <a:defRPr sz="1700" b="0">
                <a:solidFill>
                  <a:srgbClr val="334155"/>
                </a:solidFill>
              </a:defRPr>
            </a:pPr>
            <a:r>
              <a:t>9 shuffled configurations tested. None preserve the original CV ordering.</a:t>
            </a:r>
          </a:p>
          <a:p>
            <a:pPr>
              <a:spcBef>
                <a:spcPts val="400"/>
              </a:spcBef>
              <a:defRPr sz="1700" b="0">
                <a:solidFill>
                  <a:srgbClr val="334155"/>
                </a:solidFill>
              </a:defRPr>
            </a:pPr>
            <a:r>
              <a:t>Mean shuffle score: 0.46 (all p = 1.0, all fail = expected)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017520"/>
          <a:ext cx="3931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Shuffle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Pass?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site_0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0.5600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site_1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0.3600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site_2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0.3600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site_3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0.4400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site_4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0.4000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site_5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0.4400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site_6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0.4800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site_7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0.4800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site_8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0.6000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0" y="30175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D9488"/>
                </a:solidFill>
              </a:defRPr>
            </a:pPr>
            <a:r>
              <a:t>Additional controls: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symmetric_control (Kd=5.0nM): CV=0.2585</a:t>
            </a:r>
          </a:p>
          <a:p>
            <a:pPr>
              <a:spcBef>
                <a:spcPts val="400"/>
              </a:spcBef>
              <a:defRPr sz="1500" b="0">
                <a:solidFill>
                  <a:srgbClr val="334155"/>
                </a:solidFill>
              </a:defRPr>
            </a:pPr>
            <a:r>
              <a:t>poisson_baseline (condition_D): expected [5, 12]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700" b="1">
                <a:solidFill>
                  <a:srgbClr val="334155"/>
                </a:solidFill>
              </a:defRPr>
            </a:pPr>
            <a:r>
              <a:t>Conclusion: The noise difference is specific to the</a:t>
            </a:r>
          </a:p>
          <a:p>
            <a:pPr>
              <a:spcBef>
                <a:spcPts val="400"/>
              </a:spcBef>
              <a:defRPr sz="1700" b="1">
                <a:solidFill>
                  <a:srgbClr val="0D9488"/>
                </a:solidFill>
              </a:defRPr>
            </a:pPr>
            <a:r>
              <a:t>asymmetric operator architecture, not an artifact of the simulation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Distribution Shape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D9488"/>
                </a:solidFill>
              </a:defRPr>
            </a:pPr>
            <a:r>
              <a:t>Beyond mean and variance: higher-order distribution moments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86000"/>
          <a:ext cx="7680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828800"/>
                <a:gridCol w="164592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CV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Bimodality Coeff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GMM Components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Persister Fraction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0.1866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0.3583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0.4118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0.3508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0.1495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0.3444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0.1966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0.0591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0.3343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Conditions A, B, C are best fit by 2-component GMM (bimodal)</a:t>
            </a: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Condition D is unimodal (single GMM component)</a:t>
            </a:r>
          </a:p>
          <a:p>
            <a:pPr>
              <a:spcBef>
                <a:spcPts val="400"/>
              </a:spcBef>
              <a:defRPr sz="1600" b="0">
                <a:solidFill>
                  <a:srgbClr val="0D9488"/>
                </a:solidFill>
              </a:defRPr>
            </a:pPr>
            <a:r>
              <a:t>The asymmetric distribution has a longer tail → more outlier cells → more potential persisters</a:t>
            </a:r>
          </a:p>
          <a:p>
            <a:pPr>
              <a:spcBef>
                <a:spcPts val="400"/>
              </a:spcBef>
              <a:defRPr sz="1400" b="0">
                <a:solidFill>
                  <a:srgbClr val="475569"/>
                </a:solidFill>
              </a:defRPr>
            </a:pPr>
            <a:r>
              <a:t>Bimodality coefficient &gt; 0.555 traditionally indicates bimodality; values here are sub-threshold but GMM LR test confirms two modes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BIC Model Comparison</a:t>
            </a:r>
          </a:p>
        </p:txBody>
      </p:sp>
      <p:pic>
        <p:nvPicPr>
          <p:cNvPr id="4" name="Picture 3" descr="fig7_b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158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0D9488"/>
                </a:solidFill>
              </a:defRPr>
            </a:pPr>
            <a:r>
              <a:t>BIC = Bayesian Information Criterion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Lower BIC = better model fit</a:t>
            </a:r>
          </a:p>
          <a:p>
            <a:pPr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Penalizes model complexity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Condition A: k=2, BIC=501516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Condition B: k=2, BIC=524005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Condition C: k=2, BIC=534867</a:t>
            </a:r>
          </a:p>
          <a:p>
            <a:pPr>
              <a:spcBef>
                <a:spcPts val="400"/>
              </a:spcBef>
              <a:defRPr sz="1400" b="0">
                <a:solidFill>
                  <a:srgbClr val="334155"/>
                </a:solidFill>
              </a:defRPr>
            </a:pPr>
            <a:r>
              <a:t>Condition D: k=1, BIC=629769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GMM with k=2 preferred for A, B, C</a:t>
            </a: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k=1 preferred for D</a:t>
            </a:r>
          </a:p>
          <a:p>
            <a:pPr>
              <a:spcBef>
                <a:spcPts val="400"/>
              </a:spcBef>
              <a:defRPr sz="1500" b="0">
                <a:solidFill>
                  <a:srgbClr val="0D9488"/>
                </a:solidFill>
              </a:defRPr>
            </a:pPr>
            <a:r>
              <a:t>Confirms: asymmetric blocking creates bimodal expression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Phase 3 Output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0D9488"/>
                </a:solidFill>
              </a:defRPr>
            </a:pPr>
            <a:r>
              <a:t>All Phase 3 outputs: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noise_metrics.csv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475569"/>
                </a:solidFill>
              </a:defRPr>
            </a:pPr>
            <a:r>
              <a:t>Per-condition mean, variance, CV, Fano, bimodality, GMM fits</a:t>
            </a: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bootstrap_results.csv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475569"/>
                </a:solidFill>
              </a:defRPr>
            </a:pPr>
            <a:r>
              <a:t>Bootstrap CIs for CV, Fano, persister fraction per condition</a:t>
            </a: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sensitivity_data.csv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475569"/>
                </a:solidFill>
              </a:defRPr>
            </a:pPr>
            <a:r>
              <a:t>Parameter sensitivity sweep (7 parameters x 10 values)</a:t>
            </a: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statistical_tests.csv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475569"/>
                </a:solidFill>
              </a:defRPr>
            </a:pPr>
            <a:r>
              <a:t>KS tests, GMM likelihood-ratio tests, Cohen's d</a:t>
            </a: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experimental_comparison.csv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475569"/>
                </a:solidFill>
              </a:defRPr>
            </a:pPr>
            <a:r>
              <a:t>Model vs Santangelo 2009 experimental fold-change</a:t>
            </a: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negative_controls.csv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475569"/>
                </a:solidFill>
              </a:defRPr>
            </a:pPr>
            <a:r>
              <a:t>Shuffle tests and symmetric/Poisson controls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334155"/>
                </a:solidFill>
              </a:defRPr>
            </a:pPr>
            <a:r>
              <a:t>phase3_summary.json</a:t>
            </a:r>
          </a:p>
          <a:p>
            <a:pPr lvl="1">
              <a:spcBef>
                <a:spcPts val="400"/>
              </a:spcBef>
              <a:defRPr sz="1400" b="0">
                <a:solidFill>
                  <a:srgbClr val="475569"/>
                </a:solidFill>
              </a:defRPr>
            </a:pPr>
            <a:r>
              <a:t>Status: PASS  |  10 sanity checks passed  |  4 science checks passed  |  Wall time: 71.8s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Phase 3 Feeds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0D9488"/>
                </a:solidFill>
              </a:defRPr>
            </a:pPr>
            <a:r>
              <a:t>Downstream dependencies:</a:t>
            </a:r>
          </a:p>
          <a:p>
            <a:pPr>
              <a:spcBef>
                <a:spcPts val="400"/>
              </a:spcBef>
              <a:defRPr sz="10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334155"/>
                </a:solidFill>
              </a:defRPr>
            </a:pPr>
            <a:r>
              <a:t>Phase 4: Publication Figures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All statistical annotations (p-values, CIs, effect sizes) come from Phase 3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Figure 7 (BIC comparison) generated from GMM results here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334155"/>
                </a:solidFill>
              </a:defRPr>
            </a:pPr>
            <a:r>
              <a:t>Phase 5: Calibration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Mean protein levels from noise_metrics.csv are the calibration targets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Model must match experimental fold-change validated here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334155"/>
                </a:solidFill>
              </a:defRPr>
            </a:pPr>
            <a:r>
              <a:t>Phase 6: Persistence Analysis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Persister threshold derived from GMM component separation</a:t>
            </a:r>
          </a:p>
          <a:p>
            <a:pPr lvl="1">
              <a:spcBef>
                <a:spcPts val="400"/>
              </a:spcBef>
              <a:defRPr sz="1600" b="0">
                <a:solidFill>
                  <a:srgbClr val="334155"/>
                </a:solidFill>
              </a:defRPr>
            </a:pPr>
            <a:r>
              <a:t>Persister fractions and distribution shapes feed directly into persistence predictions</a:t>
            </a:r>
          </a:p>
          <a:p>
            <a:pPr>
              <a:spcBef>
                <a:spcPts val="400"/>
              </a:spcBef>
              <a:defRPr sz="800" b="0">
                <a:solidFill>
                  <a:srgbClr val="334155"/>
                </a:solidFill>
              </a:defRPr>
            </a:pPr>
          </a:p>
          <a:p>
            <a:pPr>
              <a:spcBef>
                <a:spcPts val="400"/>
              </a:spcBef>
              <a:defRPr sz="1700" b="1">
                <a:solidFill>
                  <a:srgbClr val="0D9488"/>
                </a:solidFill>
              </a:defRPr>
            </a:pPr>
            <a:r>
              <a:t>Phase 3 is the statistical backbone that validates all quantitative claims in the paper.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9488"/>
                </a:solidFill>
              </a:defRPr>
            </a:pPr>
            <a:r>
              <a:t>Phase 3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</a:defRPr>
            </a:pPr>
          </a:p>
          <a:p>
            <a:pPr>
              <a:spcBef>
                <a:spcPts val="1000"/>
              </a:spcBef>
              <a:defRPr sz="1700">
                <a:solidFill>
                  <a:srgbClr val="FFFFFF"/>
                </a:solidFill>
              </a:defRPr>
            </a:pPr>
            <a:r>
              <a:t>CV(A) = 0.1866  vs  CV(D) = 0.0591  →  +215.8% noise amplification</a:t>
            </a:r>
          </a:p>
          <a:p>
            <a:pPr>
              <a:spcBef>
                <a:spcPts val="1000"/>
              </a:spcBef>
              <a:defRPr sz="1700">
                <a:solidFill>
                  <a:srgbClr val="FFFFFF"/>
                </a:solidFill>
              </a:defRPr>
            </a:pPr>
            <a:r>
              <a:t>All statistical tests confirm significance (p &lt; 0.001)</a:t>
            </a:r>
          </a:p>
          <a:p>
            <a:pPr>
              <a:spcBef>
                <a:spcPts val="1000"/>
              </a:spcBef>
              <a:defRPr sz="1700">
                <a:solidFill>
                  <a:srgbClr val="FFFFFF"/>
                </a:solidFill>
              </a:defRPr>
            </a:pPr>
            <a:r>
              <a:t>Massive effect sizes (Cohen's d = -21.0 for A vs D)</a:t>
            </a:r>
          </a:p>
          <a:p>
            <a:pPr>
              <a:spcBef>
                <a:spcPts val="1000"/>
              </a:spcBef>
              <a:defRPr sz="1700">
                <a:solidFill>
                  <a:srgbClr val="FFFFFF"/>
                </a:solidFill>
              </a:defRPr>
            </a:pPr>
            <a:r>
              <a:t>Model fold-change (11.3×) matches experiment (8.5×) within 33%</a:t>
            </a:r>
          </a:p>
          <a:p>
            <a:pPr>
              <a:spcBef>
                <a:spcPts val="1000"/>
              </a:spcBef>
              <a:defRPr sz="1700">
                <a:solidFill>
                  <a:srgbClr val="FFFFFF"/>
                </a:solidFill>
              </a:defRPr>
            </a:pPr>
            <a:r>
              <a:t>Sensitivity analysis: result is robust; block_strong is the key parameter</a:t>
            </a:r>
          </a:p>
          <a:p>
            <a:pPr>
              <a:spcBef>
                <a:spcPts val="1000"/>
              </a:spcBef>
              <a:defRPr sz="1700">
                <a:solidFill>
                  <a:srgbClr val="FFFFFF"/>
                </a:solidFill>
              </a:defRPr>
            </a:pPr>
            <a:r>
              <a:t>Negative controls: shuffling destroys the CV ordering (result is architecture-specific)</a:t>
            </a:r>
          </a:p>
          <a:p>
            <a:pPr>
              <a:spcBef>
                <a:spcPts val="1000"/>
              </a:spcBef>
              <a:defRPr sz="1700">
                <a:solidFill>
                  <a:srgbClr val="FFFFFF"/>
                </a:solidFill>
              </a:defRPr>
            </a:pPr>
            <a:r>
              <a:t>Asymmetric operator architecture amplifies transcriptional noise → persister phenotype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D9488"/>
                </a:solidFill>
              </a:defRPr>
            </a:pPr>
            <a:r>
              <a:t>Phase 3: PASS  —  All 10 sanity checks passed  |  4/4 science checks as expected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