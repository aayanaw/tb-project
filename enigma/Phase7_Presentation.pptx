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Trebuchet MS"/>
              </a:defRPr>
            </a:pPr>
            <a:r>
              <a:t>Phase 7: Extended Figures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108960"/>
            <a:ext cx="3657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Calibri"/>
              </a:defRPr>
            </a:pPr>
            <a:r>
              <a:t>ENIGMA Project — Visualizing Phases 5–6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ENIGMA Project  |  Mce3R Stochastic Gene Regulation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Extended Figure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har char="•"/>
            </a:pPr>
            <a:r>
              <a:rPr b="1" sz="1600">
                <a:solidFill>
                  <a:srgbClr val="1E293B"/>
                </a:solidFill>
                <a:latin typeface="Calibri"/>
              </a:rPr>
              <a:t>Fig 9 — Repression Curves: </a:t>
            </a:r>
            <a:r>
              <a:rPr sz="1600">
                <a:solidFill>
                  <a:srgbClr val="1E293B"/>
                </a:solidFill>
                <a:latin typeface="Calibri"/>
              </a:rPr>
              <a:t>Fold-repression vs [Mce3R] for 4 operator architectures</a:t>
            </a:r>
          </a:p>
          <a:p>
            <a:pPr>
              <a:spcAft>
                <a:spcPts val="1200"/>
              </a:spcAft>
              <a:buChar char="•"/>
            </a:pPr>
            <a:r>
              <a:rPr b="1" sz="1600">
                <a:solidFill>
                  <a:srgbClr val="1E293B"/>
                </a:solidFill>
                <a:latin typeface="Calibri"/>
              </a:rPr>
              <a:t>Fig 10 — Cooperativity Analysis: </a:t>
            </a:r>
            <a:r>
              <a:rPr sz="1600">
                <a:solidFill>
                  <a:srgbClr val="1E293B"/>
                </a:solidFill>
                <a:latin typeface="Calibri"/>
              </a:rPr>
              <a:t>MCMC posteriors + repression landscape heatmap</a:t>
            </a:r>
          </a:p>
          <a:p>
            <a:pPr>
              <a:spcAft>
                <a:spcPts val="1200"/>
              </a:spcAft>
              <a:buChar char="•"/>
            </a:pPr>
            <a:r>
              <a:rPr b="1" sz="1600">
                <a:solidFill>
                  <a:srgbClr val="1E293B"/>
                </a:solidFill>
                <a:latin typeface="Calibri"/>
              </a:rPr>
              <a:t>Fig 11 — Environmental Distributions: </a:t>
            </a:r>
            <a:r>
              <a:rPr sz="1600">
                <a:solidFill>
                  <a:srgbClr val="1E293B"/>
                </a:solidFill>
                <a:latin typeface="Calibri"/>
              </a:rPr>
              <a:t>3×4 grid of histograms across architectures and environments</a:t>
            </a:r>
          </a:p>
          <a:p>
            <a:pPr>
              <a:spcAft>
                <a:spcPts val="1200"/>
              </a:spcAft>
              <a:buChar char="•"/>
            </a:pPr>
            <a:r>
              <a:rPr b="1" sz="1600">
                <a:solidFill>
                  <a:srgbClr val="1E293B"/>
                </a:solidFill>
                <a:latin typeface="Calibri"/>
              </a:rPr>
              <a:t>Fig 12 — Mutual Information: </a:t>
            </a:r>
            <a:r>
              <a:rPr sz="1600">
                <a:solidFill>
                  <a:srgbClr val="1E293B"/>
                </a:solidFill>
                <a:latin typeface="Calibri"/>
              </a:rPr>
              <a:t>MI (bits) vs concentration for 3 architectures</a:t>
            </a:r>
          </a:p>
          <a:p>
            <a:pPr>
              <a:spcAft>
                <a:spcPts val="1200"/>
              </a:spcAft>
              <a:buChar char="•"/>
            </a:pPr>
            <a:r>
              <a:rPr b="1" sz="1600">
                <a:solidFill>
                  <a:srgbClr val="1E293B"/>
                </a:solidFill>
                <a:latin typeface="Calibri"/>
              </a:rPr>
              <a:t>Fig 13 — Persistence Phase Diagram: </a:t>
            </a:r>
            <a:r>
              <a:rPr sz="1600">
                <a:solidFill>
                  <a:srgbClr val="1E293B"/>
                </a:solidFill>
                <a:latin typeface="Calibri"/>
              </a:rPr>
              <a:t>Heatmap of persister fractions vs asymmetry ratio and environment</a:t>
            </a:r>
          </a:p>
          <a:p>
            <a:pPr>
              <a:spcAft>
                <a:spcPts val="1200"/>
              </a:spcAft>
              <a:buChar char="•"/>
            </a:pPr>
            <a:r>
              <a:rPr b="1" sz="1600">
                <a:solidFill>
                  <a:srgbClr val="1E293B"/>
                </a:solidFill>
                <a:latin typeface="Calibri"/>
              </a:rPr>
              <a:t>Fig 14 — Two-Species Traces: </a:t>
            </a:r>
            <a:r>
              <a:rPr sz="1600">
                <a:solidFill>
                  <a:srgbClr val="1E293B"/>
                </a:solidFill>
                <a:latin typeface="Calibri"/>
              </a:rPr>
              <a:t>Mce3R + target protein dynamics with operator state coloring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Figure 9: Repression Curves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pic>
        <p:nvPicPr>
          <p:cNvPr id="6" name="Picture 5" descr="fig9_repress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Fold-repression vs [Mce3R] concentration for asymmetric, symmetric, single-site, and unregulated architectures. Dashed line marks physiological concentration.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Figure 10: Cooperativity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pic>
        <p:nvPicPr>
          <p:cNvPr id="6" name="Picture 5" descr="fig10_coopera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Panel A: 2D histogram of MCMC posteriors for log10(ω) and ΔG_spacer. Panel B: Fold repression landscape at 332 nM Mce3R.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Figure 11: Environmental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pic>
        <p:nvPicPr>
          <p:cNvPr id="6" name="Picture 5" descr="fig11_environmental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3×4 grid: rows = asymmetric / symmetric / single-site; columns = baseline / cholesterol / acidic pH / host-like. Shows how environment reshapes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Figure 12: Mutual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pic>
        <p:nvPicPr>
          <p:cNvPr id="6" name="Picture 5" descr="fig12_mutual_in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Mutual information (bits) vs [Mce3R] for 3 promoter architectures. Vertical dashed line at physiological 332 nM.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Figure 13: Persistence Phase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pic>
        <p:nvPicPr>
          <p:cNvPr id="6" name="Picture 5" descr="fig13_persistence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Heatmap: persister fraction vs asymmetry ratio (X) and environment (Y). Star marks the native Mce3R operator position (ratio ~20.4).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Figure 14: Two-Species Traces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pic>
        <p:nvPicPr>
          <p:cNvPr id="6" name="Picture 5" descr="fig14_two_species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Panel A: Time traces of Mce3R (blue) and target protein (orange) for 5 cells. Panel B: Scatter of Mce3R vs target colored by operator 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The Extended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ENIGMA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Char char="•"/>
            </a:pPr>
            <a:r>
              <a:rPr b="1" sz="1500">
                <a:solidFill>
                  <a:srgbClr val="1E293B"/>
                </a:solidFill>
                <a:latin typeface="Calibri"/>
              </a:rPr>
              <a:t>Thermodynamic foundations (Figs 9–10): </a:t>
            </a:r>
            <a:r>
              <a:rPr sz="1500">
                <a:solidFill>
                  <a:srgbClr val="1E293B"/>
                </a:solidFill>
                <a:latin typeface="Calibri"/>
              </a:rPr>
              <a:t>Repression curves establish the dose-response, while MCMC posteriors quantify cooperativity between binding sites</a:t>
            </a:r>
          </a:p>
          <a:p>
            <a:pPr>
              <a:spcAft>
                <a:spcPts val="1000"/>
              </a:spcAft>
              <a:buChar char="•"/>
            </a:pPr>
            <a:r>
              <a:rPr b="1" sz="1500">
                <a:solidFill>
                  <a:srgbClr val="1E293B"/>
                </a:solidFill>
                <a:latin typeface="Calibri"/>
              </a:rPr>
              <a:t>Environmental modulation (Figs 11–12): </a:t>
            </a:r>
            <a:r>
              <a:rPr sz="1500">
                <a:solidFill>
                  <a:srgbClr val="1E293B"/>
                </a:solidFill>
                <a:latin typeface="Calibri"/>
              </a:rPr>
              <a:t>Protein distributions shift dramatically across environments; mutual information reveals which architectures transmit the most signal</a:t>
            </a:r>
          </a:p>
          <a:p>
            <a:pPr>
              <a:spcAft>
                <a:spcPts val="1000"/>
              </a:spcAft>
              <a:buChar char="•"/>
            </a:pPr>
            <a:r>
              <a:rPr b="1" sz="1500">
                <a:solidFill>
                  <a:srgbClr val="1E293B"/>
                </a:solidFill>
                <a:latin typeface="Calibri"/>
              </a:rPr>
              <a:t>Persistence implications (Figs 13–14): </a:t>
            </a:r>
            <a:r>
              <a:rPr sz="1500">
                <a:solidFill>
                  <a:srgbClr val="1E293B"/>
                </a:solidFill>
                <a:latin typeface="Calibri"/>
              </a:rPr>
              <a:t>Phase diagram maps the landscape of persister fractions; two-species traces show how regulator-target dynamics co-evolve</a:t>
            </a:r>
          </a:p>
          <a:p>
            <a:pPr>
              <a:spcAft>
                <a:spcPts val="1000"/>
              </a:spcAft>
              <a:buChar char="•"/>
            </a:pPr>
            <a:r>
              <a:rPr b="1" sz="1500">
                <a:solidFill>
                  <a:srgbClr val="1E293B"/>
                </a:solidFill>
                <a:latin typeface="Calibri"/>
              </a:rPr>
              <a:t>Narrative arc: </a:t>
            </a:r>
            <a:r>
              <a:rPr sz="1500">
                <a:solidFill>
                  <a:srgbClr val="1E293B"/>
                </a:solidFill>
                <a:latin typeface="Calibri"/>
              </a:rPr>
              <a:t>From equilibrium thermodynamics through stochastic environments to clinically relevant persistence phenotypes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Trebuchet MS"/>
              </a:defRPr>
            </a:pPr>
            <a:r>
              <a:t>Phase 7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6888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Calibri"/>
              </a:defRPr>
            </a:pPr>
            <a:r>
              <a:t>6 extended figures visualizing the results of Phases 5–6.</a:t>
            </a:r>
            <a:br/>
            <a:br/>
            <a:r>
              <a:t>Figures 9–10: Thermodynamic repression and cooperativity</a:t>
            </a:r>
            <a:br/>
            <a:r>
              <a:t>Figures 11–12: Environmental noise and information theory</a:t>
            </a:r>
            <a:br/>
            <a:r>
              <a:t>Figures 13–14: Persistence phenotypes and two-species dynamics</a:t>
            </a:r>
            <a:br/>
            <a:br/>
            <a:r>
              <a:t>Together with the 8 manuscript figures from Phase 4,</a:t>
            </a:r>
            <a:br/>
            <a:r>
              <a:t>these 14 figures form a complete visual narrative of</a:t>
            </a:r>
            <a:br/>
            <a:r>
              <a:t>Mce3R stochastic gene regulation in M. tuberculosis.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ENIGMA Project  |  Mce3R Stochastic Gene Regulation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