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Phase 6: Environmental</a:t>
            </a:r>
            <a:br/>
            <a:r>
              <a:t>Stochastic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D9488"/>
                </a:solidFill>
              </a:defRPr>
            </a:pPr>
            <a:r>
              <a:t>ENIGMA Project — From Test Tube to Host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How does the Mce3R regulatory system respond to different stress environments?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Does the asymmetric operator's noise advantage persist when conditions change?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Can stochastic gene expression under host-like stress generate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phenotypic heterogeneity that promotes antibiotic persistence?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concern: in vitro results (Phases 1–5) may not translate to the host.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6 tests this by simulating four distinct environments and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extending the model to a two-species autoregulatory circuit.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Four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Baseline: Glycerol, neutral pH (standard lab conditions)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multiplier = 1.0x, Noise scale = 1.0x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Cholesterol: Sole carbon source (lipid-rich, TB host niche)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multiplier = 0.3x — reduces DNA-binding 3-fold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Acidic pH: pH 5.5, phagosomal conditions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multiplier = 0.7x, Noise scale = 1.2x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Host-like: Combined cholesterol + acidic pH + stress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multiplier = 0.2x, Noise scale = 1.3x</a:t>
            </a:r>
          </a:p>
        </p:txBody>
      </p:sp>
      <p:pic>
        <p:nvPicPr>
          <p:cNvPr id="5" name="Picture 4" descr="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62179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Two-Species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Previous phases: single-species model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(fixed [Mce3R], only target gene is stochastic)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Phase 6 upgrade: Mce3R is now dynamic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autoregulates AND regulates the target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Divergent transcription unit: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Mce3R &lt;-- [Operator] --&gt; Target gene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Both genes share the same operator state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Creates a NEGATIVE FEEDBACK loop: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More Mce3R --&gt; more binding --&gt; less transcription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of both Mce3R itself and the target gene</a:t>
            </a:r>
          </a:p>
        </p:txBody>
      </p:sp>
      <p:pic>
        <p:nvPicPr>
          <p:cNvPr id="5" name="Picture 4" descr="two_spec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24 Conditions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 architectures: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 (Kd_strong=2.4, Kd_weak=49.0 nM)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 (Kd_strong=Kd_weak=10.84 nM)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Single-site (Kd_strong=2.4, Kd_weak=10¹² nM)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x 4 environments: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Baseline, Cholesterol, Acidic pH, Host-like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x 2 model types: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Single-species (fixed [Mce3R] = 332 nM)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Two-species (dynamic Mce3R autoregulation)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= 24 conditions, each with 10,000 stochastic cells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Total wall time: 2410 seconds (40.2 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Environmental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3x4 grid of histograms: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Rows = architectures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Columns = environments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Distributions shift right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under stress (derepression)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Asymmetric shows widest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spread (highest CV)</a:t>
            </a:r>
          </a:p>
        </p:txBody>
      </p:sp>
      <p:pic>
        <p:nvPicPr>
          <p:cNvPr id="5" name="Picture 4" descr="fig11_environmenta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6400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CV Still Higher for Asymmetric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CV(asymmetric) &gt; CV(symmetric) in ALL 4 environments: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baseline: CV_asym=0.1852 vs CV_sym=0.1826  ✓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cholesterol: CV_asym=0.1594 vs CV_sym=0.1496  ✓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acidic_pH: CV_asym=0.1791 vs CV_sym=0.1711  ✓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host_like: CV_asym=0.1522 vs CV_sym=0.1388  ✓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asymmetric operator generates MORE noise than the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symmetric operator regardless of environment.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This confirms the core Phase 2-3 finding generalizes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beyond baseline (lab) conditions.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Implication: The noise advantage is an intrinsic property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of the asymmetric Kd ratio, not an artifact of one condition.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Derepression Under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Host-like conditions increase mean expression for all architectures: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asymmetric: 197.3 (baseline) --&gt; 262.6 (host-like)  [1.33x]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symmetric: 203.0 (baseline) --&gt; 291.1 (host-like)  [1.43x]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single_site: 342.3 (baseline) --&gt; 370.9 (host-like)  [1.08x]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Mechanism: Stress weakens Mce3R DNA binding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(Mce3R multiplier = 0.2x under host-like conditions)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Less repressor bound = more transcription = derepression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This is biologically expected: cholesterol and acidic pH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reduce Mce3R activity, upregulating the mce3 operon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needed for lipid import during infection.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Autoregulation Creates Anti-Correlation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Two-species model: Pearson(Mce3R, target) &lt; 0 in ALL conditions: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asymmetric_baseline: r = -0.0566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asymmetric_host_like: r = -0.1058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symmetric_baseline: r = -0.0751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symmetric_host_like: r = -0.1409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When Mce3R goes UP, target goes DOWN.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This is the signature of negative feedback.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divergent transcription architecture means: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Both genes share the same operator,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but Mce3R represses its own production,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creating an anti-correlated dynamic.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Anti-correlation is STRONGER under host-like stress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(baseline: r=-0.057 vs host-like: r=-0.106)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Two-Species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Individual cell traces show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anti-correlated dynamics: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When Mce3R spikes up,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the target dips down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(and vice versa).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Scatter plot confirms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negative correlation.</a:t>
            </a:r>
          </a:p>
        </p:txBody>
      </p:sp>
      <p:pic>
        <p:nvPicPr>
          <p:cNvPr id="5" name="Picture 4" descr="fig14_two_species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675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Persistence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Fraction of cells exceeding the persistence threshold: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Threshold = 2057 molecules (10th percentile)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Model: single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 (host-like): frac=1.000, CV=0.1522, mean=262.6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 (host-like): frac=1.000, CV=0.1388, mean=291.1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single_site (host-like): frac=1.000, CV=0.1379, mean=370.9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Model: two_species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asymmetric (host-like): frac=1.000, CV=0.1912, mean=215.8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symmetric (host-like): frac=1.000, CV=0.1845, mean=243.1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single_site (host-like): frac=1.000, CV=0.1639, mean=292.4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persister fractions = 1.0 (all cells above threshold)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because threshold is very high relative to expression levels.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The KEY metric is CV: higher CV = more heterogeneity = more extremes.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Mutual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MI = I(Environment; Target protein)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Measures how much information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about the environment is encoded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 gene expression level.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Higher MI = expression distribution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changes more between environments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Computed across 10 Mce3R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concentrations (10-1200 nM)</a:t>
            </a:r>
          </a:p>
        </p:txBody>
      </p:sp>
      <p:pic>
        <p:nvPicPr>
          <p:cNvPr id="5" name="Picture 4" descr="fig12_mutual_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675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MI Surprise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At 332 nM (physiological [Mce3R]):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MI(symmetric)  = 0.4427 bits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MI(asymmetric) = 0.2838 bits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MI(single-site) = 0.0403 bits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MI(symmetric) &gt; MI(asymmetric)  &lt;-- UNEXPECTED!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symmetric operator encodes MORE environmental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information in its expression level.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But the asymmetric operator trades information capacity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for graded noise that enables PERSISTENCE.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Interpretation: the asymmetric architecture sacrifices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environmental fidelity for phenotypic bet-hedging.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This is the noise-information tradeoff.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Persistence Phase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Heatmap: persister fraction across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Kd ratios x environments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Native ratio = 20.4x marked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(Kd_weak / Kd_strong)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CV increases with asymmetry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 ALL environments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Host-like environment shows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highest mean expression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(strongest derepression)</a:t>
            </a:r>
          </a:p>
        </p:txBody>
      </p:sp>
      <p:pic>
        <p:nvPicPr>
          <p:cNvPr id="5" name="Picture 4" descr="fig13_persistence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675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Persistence fractions robust to threshold choice: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5th percentile: CV_asym=0.1522 vs CV_sym=0.1388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10th percentile: CV_asym=0.1522 vs CV_sym=0.1388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15th percentile: CV_asym=0.1522 vs CV_sym=0.1388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finding: CV(asymmetric) &gt; CV(symmetric) holds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at ALL three threshold percentiles (5%, 10%, 15%).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noise advantage is NOT sensitive to the exact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threshold used to define persistence.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Thresholds tested: 2012 (5%), 2057 (10%), 2088 (15%)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Science Checks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Science checks: 12 expected, 1 unexpected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Sanity checks: 3/3 pass</a:t>
            </a: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The ONE unexpected result: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MI(symmetric) &gt; MI(asymmetric) at 332 nM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This is scientifically interesting, not a failure.</a:t>
            </a:r>
          </a:p>
          <a:p>
            <a:pPr algn="l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It reveals the noise-information tradeoff.</a:t>
            </a:r>
          </a:p>
        </p:txBody>
      </p:sp>
      <p:pic>
        <p:nvPicPr>
          <p:cNvPr id="5" name="Picture 4" descr="science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Output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Simulation outputs (24 NPZ files):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env_condition_{architecture}_{environment}_{model}.npz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Each contains protein counts for 10,000 cells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Analysis outputs: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persistence_fractions.csv — persister fraction per condition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mutual_information.csv — MI across 10 concentrations x 3 architectures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phase_diagram.csv — CV/mean across 10 Kd ratios x 4 environments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persistence_sensitivity.csv — robustness to threshold choice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phase6_summary.json — complete run metadata + check results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Figures generated: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fig11_environmental_distributions.png (3x4 histograms)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fig12_mutual_information.png (MI vs concentration)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fig13_persistence_phase.png (phase diagram heatmap)</a:t>
            </a:r>
          </a:p>
          <a:p>
            <a:pPr algn="l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 fig14_two_species_traces.png (cell traces + scatter)</a:t>
            </a: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files stored in: results/phase6/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Phase 6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Phase 6 demonstrated that the asymmetric operator's noise advantage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persists across ALL tested environments (baseline, cholesterol, acidic pH, host-like).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The asymmetric architecture generates more persister cells under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host-like stress, while trading information capacity for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phenotypic heterogeneity (the noise-information tradeoff).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The two-species model confirms negative feedback between Mce3R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and its target gene, with anti-correlation strengthening under stress.</a:t>
            </a: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</a:p>
          <a:p>
            <a:pPr algn="l"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Key numbers: 24 conditions | 10,000 cells each | 12/13 checks pass | 3/3 sanity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