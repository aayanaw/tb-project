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Phase 2: Gillespie Stochastic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  <a:latin typeface="Calibri"/>
              </a:defRPr>
            </a:pPr>
            <a:r>
              <a:t>ENIGMA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Simulating Single-Cell Gene Expression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4-State Operator Model  |  50,000 Cells  |  12 Reactions  |  Numba JIT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Panagoda et al. 2024  |  Computational Biology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Why Stochastic Simulation?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92608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~2 mRNA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molecules at</a:t>
            </a:r>
            <a:br/>
            <a:r>
              <a:t>steady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Gene expression is inherently random -- individual molecules bind and unbind stochastically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With only ~2 mRNA molecules at steady state in TB, each binding/unbinding event creates measurable cell-to-cell variation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Deterministic ODE models compute the average behavior, but cannot capture the noise that drives persistence</a:t>
            </a:r>
          </a:p>
          <a:p>
            <a:pPr>
              <a:spcAft>
                <a:spcPts val="800"/>
              </a:spcAft>
              <a:buChar char="•"/>
            </a:pPr>
            <a:r>
              <a:rPr b="1" sz="1400">
                <a:solidFill>
                  <a:srgbClr val="1E293B"/>
                </a:solidFill>
                <a:latin typeface="Calibri"/>
              </a:rPr>
              <a:t>Key insight: </a:t>
            </a:r>
            <a:r>
              <a:rPr sz="1400">
                <a:solidFill>
                  <a:srgbClr val="1E293B"/>
                </a:solidFill>
                <a:latin typeface="Calibri"/>
              </a:rPr>
              <a:t>We need to simulate each molecule individually to measure how operator architecture shapes expression noise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The Gillespie algorithm (SSA) gives exact stochastic trajectories -- every reaction is sampled from the correct probability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4-State Operator Model</a:t>
            </a:r>
          </a:p>
        </p:txBody>
      </p:sp>
      <p:pic>
        <p:nvPicPr>
          <p:cNvPr id="4" name="Picture 3" descr="operator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b="1" sz="1250">
                <a:solidFill>
                  <a:srgbClr val="1E293B"/>
                </a:solidFill>
                <a:latin typeface="Calibri"/>
              </a:rPr>
              <a:t>State 0: </a:t>
            </a:r>
            <a:r>
              <a:rPr sz="1250">
                <a:solidFill>
                  <a:srgbClr val="1E293B"/>
                </a:solidFill>
                <a:latin typeface="Calibri"/>
              </a:rPr>
              <a:t>Both sites empty -- full transcription (k_max = 0.15/min)</a:t>
            </a:r>
          </a:p>
          <a:p>
            <a:pPr>
              <a:spcAft>
                <a:spcPts val="800"/>
              </a:spcAft>
              <a:buChar char="•"/>
            </a:pPr>
            <a:r>
              <a:rPr b="1" sz="1250">
                <a:solidFill>
                  <a:srgbClr val="1E293B"/>
                </a:solidFill>
                <a:latin typeface="Calibri"/>
              </a:rPr>
              <a:t>State 1: </a:t>
            </a:r>
            <a:r>
              <a:rPr sz="1250">
                <a:solidFill>
                  <a:srgbClr val="1E293B"/>
                </a:solidFill>
                <a:latin typeface="Calibri"/>
              </a:rPr>
              <a:t>Strong site bound -- 85% blocked (k_txn = 0.0225/min)</a:t>
            </a:r>
          </a:p>
          <a:p>
            <a:pPr>
              <a:spcAft>
                <a:spcPts val="800"/>
              </a:spcAft>
              <a:buChar char="•"/>
            </a:pPr>
            <a:r>
              <a:rPr b="1" sz="1250">
                <a:solidFill>
                  <a:srgbClr val="1E293B"/>
                </a:solidFill>
                <a:latin typeface="Calibri"/>
              </a:rPr>
              <a:t>State 2: </a:t>
            </a:r>
            <a:r>
              <a:rPr sz="1250">
                <a:solidFill>
                  <a:srgbClr val="1E293B"/>
                </a:solidFill>
                <a:latin typeface="Calibri"/>
              </a:rPr>
              <a:t>Weak site bound -- 50% blocked (k_txn = 0.075/min)</a:t>
            </a:r>
          </a:p>
          <a:p>
            <a:pPr>
              <a:spcAft>
                <a:spcPts val="800"/>
              </a:spcAft>
              <a:buChar char="•"/>
            </a:pPr>
            <a:r>
              <a:rPr b="1" sz="1250">
                <a:solidFill>
                  <a:srgbClr val="1E293B"/>
                </a:solidFill>
                <a:latin typeface="Calibri"/>
              </a:rPr>
              <a:t>State 3: </a:t>
            </a:r>
            <a:r>
              <a:rPr sz="1250">
                <a:solidFill>
                  <a:srgbClr val="1E293B"/>
                </a:solidFill>
                <a:latin typeface="Calibri"/>
              </a:rPr>
              <a:t>Both bound -- 92.5% blocked (k_txn = 0.01125/min)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  <a:buChar char="•"/>
            </a:pPr>
            <a:r>
              <a:t>Each state has a different transcription rate, creating state-dependent bursting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  <a:buChar char="•"/>
            </a:pPr>
            <a:r>
              <a:t>8 transitions between states driven by concentration-dependent binding and first-order unbinding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All 12 Reactions</a:t>
            </a:r>
          </a:p>
        </p:txBody>
      </p:sp>
      <p:pic>
        <p:nvPicPr>
          <p:cNvPr id="4" name="Picture 3" descr="reac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Gillespie Algorithm (SSA)</a:t>
            </a:r>
          </a:p>
        </p:txBody>
      </p:sp>
      <p:pic>
        <p:nvPicPr>
          <p:cNvPr id="4" name="Picture 3" descr="gillespi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Step 1: </a:t>
            </a:r>
            <a:r>
              <a:rPr sz="1200">
                <a:solidFill>
                  <a:srgbClr val="1E293B"/>
                </a:solidFill>
                <a:latin typeface="Calibri"/>
              </a:rPr>
              <a:t>Compute propensity a_i for each of the 12 reactions based on current state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Step 2: </a:t>
            </a:r>
            <a:r>
              <a:rPr sz="1200">
                <a:solidFill>
                  <a:srgbClr val="1E293B"/>
                </a:solidFill>
                <a:latin typeface="Calibri"/>
              </a:rPr>
              <a:t>Sum all propensities to get a_total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Step 3: </a:t>
            </a:r>
            <a:r>
              <a:rPr sz="1200">
                <a:solidFill>
                  <a:srgbClr val="1E293B"/>
                </a:solidFill>
                <a:latin typeface="Calibri"/>
              </a:rPr>
              <a:t>Draw waiting time tau from Exp(a_total) -- time until next reaction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Step 4: </a:t>
            </a:r>
            <a:r>
              <a:rPr sz="1200">
                <a:solidFill>
                  <a:srgbClr val="1E293B"/>
                </a:solidFill>
                <a:latin typeface="Calibri"/>
              </a:rPr>
              <a:t>Select which reaction fires with probability a_i / a_total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Step 5: </a:t>
            </a:r>
            <a:r>
              <a:rPr sz="1200">
                <a:solidFill>
                  <a:srgbClr val="1E293B"/>
                </a:solidFill>
                <a:latin typeface="Calibri"/>
              </a:rPr>
              <a:t>Update molecule counts (change operator state, or +/-1 mRNA/protein)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Repeat: </a:t>
            </a:r>
            <a:r>
              <a:rPr sz="1200">
                <a:solidFill>
                  <a:srgbClr val="1E293B"/>
                </a:solidFill>
                <a:latin typeface="Calibri"/>
              </a:rPr>
              <a:t>Continue until t reaches t_max = 30,000 min (~21 days)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Key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4191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k_max (max transcription)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0.15 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Mtb transcriptomics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k_translation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 protein/mRNA/min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Taniguchi 2010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mRNA half-life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9.5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Rustad 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Protein half-life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1,500 min (~25 hr)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Taniguchi 2010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k_on (binding 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0.0167 nM^-1 min^-1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Stormo &amp; Zhao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Kd_strong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2.4 nM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Panagoda 2024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Kd_weak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49 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Panagoda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block_strong / block_weak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85% / 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Estimated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30,000 min (500 hr)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t_burn_in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15,000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10x protein t_1/2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n_cells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Four Simulation Conditions</a:t>
            </a:r>
          </a:p>
        </p:txBody>
      </p:sp>
      <p:pic>
        <p:nvPicPr>
          <p:cNvPr id="4" name="Picture 3" descr="four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8463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846320"/>
            <a:ext cx="26517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A: Asymmetric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Native Mce3R</a:t>
            </a:r>
            <a:br/>
            <a:r>
              <a:t>Kd = 2.4/49 nM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48463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4846320"/>
            <a:ext cx="26517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B: Symmetric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5532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Geometric mean</a:t>
            </a:r>
            <a:br/>
            <a:r>
              <a:t>Kd = 10.84/10.84 nM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8463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484632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C: Single-Site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532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Strong site only</a:t>
            </a:r>
            <a:br/>
            <a:r>
              <a:t>Weak disabled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48463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4846320"/>
            <a:ext cx="26517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D: No Regulation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532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k_on = 0</a:t>
            </a:r>
            <a:br/>
            <a:r>
              <a:t>Always unbound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What 50,000 Cells Looks Like</a:t>
            </a:r>
          </a:p>
        </p:txBody>
      </p:sp>
      <p:pic>
        <p:nvPicPr>
          <p:cNvPr id="4" name="Picture 3" descr="fig2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Each histogram shows the distribution of protein levels across 50,000 simulated cells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Condition A: </a:t>
            </a:r>
            <a:r>
              <a:rPr sz="1200">
                <a:solidFill>
                  <a:srgbClr val="1E293B"/>
                </a:solidFill>
                <a:latin typeface="Calibri"/>
              </a:rPr>
              <a:t>Mean = 197, lowest due to strong repression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Condition B: </a:t>
            </a:r>
            <a:r>
              <a:rPr sz="1200">
                <a:solidFill>
                  <a:srgbClr val="1E293B"/>
                </a:solidFill>
                <a:latin typeface="Calibri"/>
              </a:rPr>
              <a:t>Mean = 293, higher because symmetric sites are weaker individually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Condition D: </a:t>
            </a:r>
            <a:r>
              <a:rPr sz="1200">
                <a:solidFill>
                  <a:srgbClr val="1E293B"/>
                </a:solidFill>
                <a:latin typeface="Calibri"/>
              </a:rPr>
              <a:t>Mean = 2,224, the unregulated maximum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The WIDTH of each distribution (CV) is the key noise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Key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4114800" cy="2743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Asymmetric (Native)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CV = 0.187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libri"/>
              </a:defRPr>
            </a:pPr>
            <a:r>
              <a:t>Mean = 197 proteins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645920"/>
            <a:ext cx="4114800" cy="2743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Symmetric (Control)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CV = 0.157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  <a:latin typeface="Calibri"/>
              </a:defRPr>
            </a:pPr>
            <a:r>
              <a:t>Mean = 293 proteins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754880"/>
            <a:ext cx="484632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846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Asymmetric CV is ~19% higher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94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ECACA"/>
                </a:solidFill>
                <a:latin typeface="Calibri"/>
              </a:defRPr>
            </a:pPr>
            <a:r>
              <a:t>The native operator produces more noise than an equivalent symmetric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Why Asymmetry Creates More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The weak site flickers: </a:t>
            </a:r>
            <a:r>
              <a:rPr sz="1350">
                <a:solidFill>
                  <a:srgbClr val="1E293B"/>
                </a:solidFill>
                <a:latin typeface="Calibri"/>
              </a:rPr>
              <a:t>Kd = 49 nM means rapid binding/unbinding. The weak site is occupied only ~25% of the time, constantly switching between states.</a:t>
            </a:r>
          </a:p>
          <a:p>
            <a:pPr>
              <a:spcAft>
                <a:spcPts val="12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The strong site anchors: </a:t>
            </a:r>
            <a:r>
              <a:rPr sz="1350">
                <a:solidFill>
                  <a:srgbClr val="1E293B"/>
                </a:solidFill>
                <a:latin typeface="Calibri"/>
              </a:rPr>
              <a:t>Kd = 2.4 nM means the strong site stays bound most of the time, holding the operator in a partially repressed state.</a:t>
            </a:r>
          </a:p>
          <a:p>
            <a:pPr>
              <a:spcAft>
                <a:spcPts val="12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Transcriptional bursting: </a:t>
            </a:r>
            <a:r>
              <a:rPr sz="1350">
                <a:solidFill>
                  <a:srgbClr val="1E293B"/>
                </a:solidFill>
                <a:latin typeface="Calibri"/>
              </a:rPr>
              <a:t>When the weak site briefly unbinds, transcription rate jumps from 0.01125/min (both bound) to 0.0225/min (strong only) -- a 2x burst.</a:t>
            </a:r>
          </a:p>
          <a:p>
            <a:pPr>
              <a:spcAft>
                <a:spcPts val="12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Wider distribution: </a:t>
            </a:r>
            <a:r>
              <a:rPr sz="1350">
                <a:solidFill>
                  <a:srgbClr val="1E293B"/>
                </a:solidFill>
                <a:latin typeface="Calibri"/>
              </a:rPr>
              <a:t>This flickering creates cells with very different expression histories. Some cells catch more bursts, others fewer, widening the protein distribution.</a:t>
            </a:r>
          </a:p>
          <a:p>
            <a:pPr>
              <a:spcAft>
                <a:spcPts val="12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Symmetric operators are calmer: </a:t>
            </a:r>
            <a:r>
              <a:rPr sz="1350">
                <a:solidFill>
                  <a:srgbClr val="1E293B"/>
                </a:solidFill>
                <a:latin typeface="Calibri"/>
              </a:rPr>
              <a:t>With two equal-affinity sites (Kd = 10.84 nM each), both sites flicker at the same rate. The transitions between states are more balanced, producing a narrower distribution.</a:t>
            </a:r>
          </a:p>
          <a:p>
            <a:pPr>
              <a:spcAft>
                <a:spcPts val="12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The biological implication: </a:t>
            </a:r>
            <a:r>
              <a:rPr sz="1350">
                <a:solidFill>
                  <a:srgbClr val="1E293B"/>
                </a:solidFill>
                <a:latin typeface="Calibri"/>
              </a:rPr>
              <a:t>Higher noise means a larger tail of the distribution -- more cells reach the extreme expression levels that may trigger the persister phenotype.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Numba JIT Acceleration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0040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~10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for 200,000 cells</a:t>
            </a:r>
            <a:br/>
            <a:r>
              <a:t>(all 4 conditions)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Pure Python Gillespie would take hours to days for 50,000 cells per condition</a:t>
            </a:r>
          </a:p>
          <a:p>
            <a:pPr>
              <a:spcAft>
                <a:spcPts val="8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@numba.njit: </a:t>
            </a:r>
            <a:r>
              <a:rPr sz="1300">
                <a:solidFill>
                  <a:srgbClr val="1E293B"/>
                </a:solidFill>
                <a:latin typeface="Calibri"/>
              </a:rPr>
              <a:t>Compiles the inner simulation loop to optimized machine code at first call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The simulate_cell() function runs ~100x faster than interpreted Python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First call takes ~30 seconds for JIT compilation; subsequent calls are near-instant</a:t>
            </a:r>
          </a:p>
          <a:p>
            <a:pPr>
              <a:spcAft>
                <a:spcPts val="8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Performance breakdown: </a:t>
            </a:r>
            <a:r>
              <a:rPr sz="1300">
                <a:solidFill>
                  <a:srgbClr val="1E293B"/>
                </a:solidFill>
                <a:latin typeface="Calibri"/>
              </a:rPr>
              <a:t>Condition A: 42s, Condition B: 36s, Condition C: 390s (weak site flickers constantly), Condition D: 83s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Total Phase 2 runtime: ~593 seconds (~10 minutes) for all conditions + asymmetry sweep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Condition D: The Unregulated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6517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2,224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Mean Protein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463040"/>
            <a:ext cx="265176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0.059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CV (Noise)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265176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Fano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463040"/>
            <a:ext cx="2651760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11.3x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Fold Repression</a:t>
            </a:r>
            <a:br/>
            <a:r>
              <a:t>(D/A)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  <a:buChar char="•"/>
            </a:pPr>
            <a:r>
              <a:t>With k_on = 0, no repressor binds -- the operator is always in State 0 (fully active)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  <a:buChar char="•"/>
            </a:pPr>
            <a:r>
              <a:t>Mean protein = 2,224 serves as the maximum expression reference for all conditions</a:t>
            </a:r>
          </a:p>
          <a:p>
            <a:pPr>
              <a:spcAft>
                <a:spcPts val="8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Fold-change validation: </a:t>
            </a:r>
            <a:r>
              <a:rPr sz="1350">
                <a:solidFill>
                  <a:srgbClr val="1E293B"/>
                </a:solidFill>
                <a:latin typeface="Calibri"/>
              </a:rPr>
              <a:t>Model predicts 11.3x repression (D/A), compared to experimental ~8.5x from Santangelo 2009</a:t>
            </a:r>
          </a:p>
          <a:p>
            <a:pPr>
              <a:spcAft>
                <a:spcPts val="800"/>
              </a:spcAft>
              <a:buChar char="•"/>
            </a:pPr>
            <a:r>
              <a:rPr b="1" sz="1350">
                <a:solidFill>
                  <a:srgbClr val="1E293B"/>
                </a:solidFill>
                <a:latin typeface="Calibri"/>
              </a:rPr>
              <a:t>Fano factor = 7.77: </a:t>
            </a:r>
            <a:r>
              <a:rPr sz="1350">
                <a:solidFill>
                  <a:srgbClr val="1E293B"/>
                </a:solidFill>
                <a:latin typeface="Calibri"/>
              </a:rPr>
              <a:t>Close to theoretical prediction of 1 + burst_size = 1 + 6.85 = 7.85 for unregulated two-stage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Asymmetry Sweep (Condition E)</a:t>
            </a:r>
          </a:p>
        </p:txBody>
      </p:sp>
      <p:pic>
        <p:nvPicPr>
          <p:cNvPr id="4" name="Picture 3" descr="fig3_asymmetr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Sweep Kd_weak/Kd_strong ratio from 1 (symmetric) to 50 (extreme asymmetry)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Geometric mean held constant at 10.84 nM to isolate the effect of asymmetry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CV increases from 0.158 (ratio=1) to 0.191 (ratio=20)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5,000 cells simulated per ratio point (10 ratios total)</a:t>
            </a:r>
          </a:p>
          <a:p>
            <a:pPr>
              <a:spcAft>
                <a:spcPts val="800"/>
              </a:spcAft>
              <a:buChar char="•"/>
            </a:pPr>
            <a:r>
              <a:rPr b="1" sz="1200">
                <a:solidFill>
                  <a:srgbClr val="1E293B"/>
                </a:solidFill>
                <a:latin typeface="Calibri"/>
              </a:rPr>
              <a:t>Native Mce3R ratio = 20.4: </a:t>
            </a:r>
            <a:r>
              <a:rPr sz="1200">
                <a:solidFill>
                  <a:srgbClr val="1E293B"/>
                </a:solidFill>
                <a:latin typeface="Calibri"/>
              </a:rPr>
              <a:t>sits near the peak of the noise curve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Single-Cell Traces</a:t>
            </a:r>
          </a:p>
        </p:txBody>
      </p:sp>
      <p:pic>
        <p:nvPicPr>
          <p:cNvPr id="4" name="Picture 3" descr="fig6_single_cell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Individual cell protein levels fluctuate over time as molecules are produced and degraded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Each line is one cell's trajectory recorded every 10 minutes after burn-in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Stochastic bursting is visible as sharp peaks when the operator briefly opens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Cells in the same condition can have very different instantaneous protein levels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This cell-to-cell variation IS the noise that we quantify with CV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Sanity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Mean protein in expected range: </a:t>
            </a:r>
            <a:r>
              <a:rPr sz="1300">
                <a:solidFill>
                  <a:srgbClr val="1E293B"/>
                </a:solidFill>
                <a:latin typeface="Calibri"/>
              </a:rPr>
              <a:t>Condition A = 197 (expected ~200 for regulated TB gene)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CV &gt; 0 for all conditions: </a:t>
            </a:r>
            <a:r>
              <a:rPr sz="1300">
                <a:solidFill>
                  <a:srgbClr val="1E293B"/>
                </a:solidFill>
                <a:latin typeface="Calibri"/>
              </a:rPr>
              <a:t>Confirmed -- all simulations show measurable noise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Fano factor &gt; 1 (super-Poissonian): </a:t>
            </a:r>
            <a:r>
              <a:rPr sz="1300">
                <a:solidFill>
                  <a:srgbClr val="1E293B"/>
                </a:solidFill>
                <a:latin typeface="Calibri"/>
              </a:rPr>
              <a:t>All conditions show Fano 6.87-7.81, consistent with transcriptional bursting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Condition D has highest mean: </a:t>
            </a:r>
            <a:r>
              <a:rPr sz="1300">
                <a:solidFill>
                  <a:srgbClr val="1E293B"/>
                </a:solidFill>
                <a:latin typeface="Calibri"/>
              </a:rPr>
              <a:t>2,224 &gt;&gt; 342 &gt;&gt; 293 &gt;&gt; 197 (D &gt; C &gt; B &gt; A), confirming repression hierarchy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Fano(D) ~ 1 + burst_size: </a:t>
            </a:r>
            <a:r>
              <a:rPr sz="1300">
                <a:solidFill>
                  <a:srgbClr val="1E293B"/>
                </a:solidFill>
                <a:latin typeface="Calibri"/>
              </a:rPr>
              <a:t>7.77 vs expected 7.85 -- validates the two-stage gene expression model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Reproducibility: </a:t>
            </a:r>
            <a:r>
              <a:rPr sz="1300">
                <a:solidFill>
                  <a:srgbClr val="1E293B"/>
                </a:solidFill>
                <a:latin typeface="Calibri"/>
              </a:rPr>
              <a:t>All conditions use deterministic seeds (master_seed=42 + condition offset)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All NPZ files saved: </a:t>
            </a:r>
            <a:r>
              <a:rPr sz="1300">
                <a:solidFill>
                  <a:srgbClr val="1E293B"/>
                </a:solidFill>
                <a:latin typeface="Calibri"/>
              </a:rPr>
              <a:t>condition_A.npz, condition_B.npz, condition_C.npz, condition_D.npz, condition_E_sweep.npz</a:t>
            </a:r>
          </a:p>
          <a:p>
            <a:pPr>
              <a:spcAft>
                <a:spcPts val="10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Numba compilation: </a:t>
            </a:r>
            <a:r>
              <a:rPr sz="1300">
                <a:solidFill>
                  <a:srgbClr val="1E293B"/>
                </a:solidFill>
                <a:latin typeface="Calibri"/>
              </a:rPr>
              <a:t>JIT compiles successfully on first call, no type errors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Output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27432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condition_A.npz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50,000 protein/mRNA/op_state arrays + 20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Asymmetric (native)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condition_B.npz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50,000 protein/mRNA/op_state arrays + 20 traces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Symmetric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condition_C.npz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50,000 protein/mRNA/op_state arrays + 20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Single-site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condition_D.npz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50,000 protein/mRNA/op_state arrays + 20 traces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Unregulated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condition_E_sweep.npz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5,000 cells x 10 ratios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Asymmetry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phase2_summary.json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Mean, CV, Fano for all conditions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Summary statistics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All output stored in results/phase2/. NPZ files use numpy compressed format for efficient storage of large arrays.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What Phase 2 Feeds Into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Statistical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Bootstrap CIs, Mann-Whitney tests,</a:t>
            </a:r>
            <a:br/>
            <a:r>
              <a:t>GMM fitting, sensitivity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743200"/>
            <a:ext cx="3200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6304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63040"/>
            <a:ext cx="34747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Figure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7 publication-quality figures</a:t>
            </a:r>
            <a:br/>
            <a:r>
              <a:t>at 300 dpi (matplotlib + seaborn)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743200"/>
            <a:ext cx="3200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46304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463040"/>
            <a:ext cx="3474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Mean protein from Phase 2 becomes</a:t>
            </a:r>
            <a:br/>
            <a:r>
              <a:t>the calibration target for</a:t>
            </a:r>
            <a:br/>
            <a:r>
              <a:t>thermodynamic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b="1" sz="1300">
                <a:solidFill>
                  <a:srgbClr val="1E293B"/>
                </a:solidFill>
                <a:latin typeface="Calibri"/>
              </a:rPr>
              <a:t>Phase 2 is the engine: </a:t>
            </a:r>
            <a:r>
              <a:rPr sz="1300">
                <a:solidFill>
                  <a:srgbClr val="1E293B"/>
                </a:solidFill>
                <a:latin typeface="Calibri"/>
              </a:rPr>
              <a:t>It produces the raw stochastic data that all downstream analyses depend 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The 50,000-cell protein arrays from each condition feed directly into Phase 3 statistical tests and Phase 4 visualizations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Phase 2 simulated 50,000 individual TB cells for each of 4 operator architectures using exact stochastic simulation (Gillespie SSA), demonstrating that the native asymmetric operator produces ~19% higher expression noise (CV) than an equivalent symmetric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9202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F3D0"/>
                </a:solidFill>
                <a:latin typeface="Calibri"/>
              </a:defRPr>
            </a:pPr>
            <a:r>
              <a:t>cells per</a:t>
            </a:r>
            <a:br/>
            <a:r>
              <a:t>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3657600"/>
            <a:ext cx="19202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749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F3D0"/>
                </a:solidFill>
                <a:latin typeface="Calibri"/>
              </a:defRPr>
            </a:pPr>
            <a:r>
              <a:t>reactions</a:t>
            </a:r>
            <a:br/>
            <a:r>
              <a:t>modeled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657600"/>
            <a:ext cx="19202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3749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F3D0"/>
                </a:solidFill>
                <a:latin typeface="Calibri"/>
              </a:defRPr>
            </a:pPr>
            <a:r>
              <a:t>operator</a:t>
            </a:r>
            <a:br/>
            <a:r>
              <a:t>architectures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657600"/>
            <a:ext cx="19202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749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F3D0"/>
                </a:solidFill>
                <a:latin typeface="Calibri"/>
              </a:defRPr>
            </a:pPr>
            <a:r>
              <a:t>more noise in</a:t>
            </a:r>
            <a:br/>
            <a:r>
              <a:t>asymmetric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3657600"/>
            <a:ext cx="19202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7490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~10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F3D0"/>
                </a:solidFill>
                <a:latin typeface="Calibri"/>
              </a:defRPr>
            </a:pPr>
            <a:r>
              <a:t>total</a:t>
            </a:r>
            <a:br/>
            <a: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ENIGMA Project  |  Mce3R Stochastic Simulation  |  Phase 2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