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Introduce yourself and the project topic.</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clinical urgency. TB kills 1.3 million/year. The bacterium survives inside macrophages and forms persister populations. Understanding how it regulates survival genes could reveal new drug targets.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Mce3R is a TetR-family repressor that controls cholesterol/lipid import. It sits on DNA and blocks the mce3 operon. When cholesterol is present inside macrophages, a ligand causes Mce3R to release, activating lipid import. Deletion of mce3R increases antibiotic persister frequency — it's clinically relevant.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scientific motivation. In 2024, Panagoda et al. solved the cryo-EM structure and showed Mce3R binds an asymmetric nonpalindromic operator — unprecedented for TetR-family regulators. Two ~25 bp half-sites, 53 bp apart, with the downstream site having higher affinity (Kd 2.4 nM). Each Mce3R monomer uses two distinct HTH motifs — Arg53 and Lys262.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research gap. Only one Mce3R operator is experimentally validated. Our pipeline uses the 2024 asymmetric model to search genome-wide for new binding sites.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pipeline step. Emphasize that MEME discovers the motif without being told what to look for, then FIMO scores every promoter. The analysis step combines multiple metrics for confidence ranking.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promoter is the DNA region upstream of a gene where transcription factors bind. We extract 300 bp upstream of every gene. The 9 candidate promoters are the known Mce3R-regulated genes used as input for MEME motif discovery. Cross-species sequences test whether the motif is conserved across mycobacteria. Scripts: download_genome.py fetches the full H37Rv GenBank record via NCBI Entrez with retry logic and validates &gt;4 Mb, &gt;3000 CDS features. extract_promoters.py builds a CDS interval tree, trims promoters at adjacent gene boundaries, and extracts divergent IGRs. fetch_sequences.py downloads orthologous yrbE3A upstream from M. bovis and M. marinum.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MEME uses Expectation Maximization: start with a random alignment, compute site probabilities (E-step), re-estimate the motif model (M-step), repeat. We run two modes: ZOOPS assumes each sequence has at most one motif site — good for finding the single best motif. ANR allows multiple sites per sequence — this can capture BOTH half-sites of the asymmetric operator in a single run. Width range 20-30 bp is set based on the 2024 structural data showing ~25 bp half-sites. Output is a PWM: a 4×W matrix (A/C/G/T × width) of base probabilities.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FIMO slides a window across every position in all 2,351 promoters. At each position, it computes a log-odds score: the sum of log2(motif probability / background probability) for each base. M. tb has 65% GC content, so background frequencies are NOT 25% each — this is critical to avoid false positives in GC-rich regions. P-values are computed empirically: sample 100,000 random windows, compute their scores, then p-value = fraction of random scores ≥ observed score. Threshold is 1 in 10,000. We run FIMO twice — once with the palindromic PWM, once with the asymmetric PWM — then merge results, removing duplicates where both models hit the same position.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palindrome score splits each matched sequence in half, reverse-complements the right half, and counts mismatches (Hamming distance). A perfect palindrome scores 1.0 — both halves are exact reverse complements. The 2024 structural paper showed the real Mce3R operator scores 0.3-0.65 because the two half-sites are NOT reverse complements. This is our key innovation: sites scoring ≥ 0.85 are flagged as likely belonging to a DIFFERENT classical TetR regulator, not Mce3R. Standard TetR pipelines would promote these; ours penalizes them. The asymmetry_score = 1 - palindrome_score.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classification is the most biologically informative metric. The 2024 paper showed Mce3R uses two same-strand half-sites separated by ~53 bp — this 'validated_paired_asymmetric' geometry gets the highest priority. We define it as same-strand sites with 40-65 bp spacing (allowing ±12 bp tolerance around 53 bp). The matches_validated_spacing flag is stricter: 48-58 bp (±5 bp). Inverted repeats (classic palindromic TetR) get the LOWEST score because the 2024 paper explicitly showed Mce3R does NOT use this geometry. Isolated sites have no detectable partner within 80 bp (max_gap parameter).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composite score combines four independent signals into a single ranking. 40% comes from raw motif match quality (FIMO log-odds, normalized 0-1). 25% comes from operator geometry — validated_paired_asymmetric (same strand, 40-65 bp) scores 1.0, while inverted_repeat (classic palindrome) scores only 0.05. 20% is the asymmetry weight — a triangular function that peaks for palindrome scores 0.3-0.65 (the Mce3R-expected range) and drops to zero for scores ≥ 0.85 (classical TetR). 15% is a biological prior from published literature: Tier 1 (known validated targets) gets 1.0, Tier 2 (lipid metabolism genes) gets 0.6, Tier 3 (everything else) gets 0.2. Critically, tier assignment happens BEFORE composite scoring so the prior can inform the ranking.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overview of all 9 figures generated by the pipeline. Each provides a different view of the data. We'll examine the key ones in detail.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pipeline's top-ranked hit IS the known validated operator — this is our positive control passing. 98% of hits prefer the asymmetric model, and zero sites have palindrome scores above 0.8, confirming the 2024 structural finding. The 24 validated_paired_asymmetric sites are our highest-confidence novel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simulation (hardcoded PWM) vs real MEME discovery. Real MEME found 4.6x more hits, 8x more Tier 1 sites, and the composite score jumped from 0.365 to 0.942. Most importantly, real MEME found 24 validated paired asymmetric sites — the simulation found zero. This justifies de novo motif discovery.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24 sites are our strongest predictions — they have the exact same geometry as the validated operator: two same-strand sites with 40-65 bp spacing. The top hit IS the known operator (validation). Novel targets include Rv1176c (54 bp spacer), cyp125 (cholesterol catabolism), and Rv3575c (53 bp spacer — exact match to reference).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biological coherence is striking. Mce3R is a cholesterol-responsive regulator, and the predicted targets map to a connected metabolic pathway: import → oxidation → degradation → carbon metabolism. This functional enrichment is strong evidence against false positives. The GC content plot confirms hits aren't GC-biased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Negative controls are as important as positive results. Santangelo 2008 showed genetically that Mce3R does NOT regulate mce1, mce2, or mce4. Our pipeline correctly produces no high-confidence hits in those promoters. This validates the pipeline's specificity — it's not just finding any TetR-like site.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Multiple independent lines of evidence strengthen computational predictions without wet-lab experiments. Cross-species conservation tests evolutionary pressure. Microarray overlap tests whether predicted targets are differentially expressed in Δmce3R mutants. Shuffle tests control for GC composition bias in the M. tb genome.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significance. Before this work, Mce3R was thought to regulate mainly the mce3 operon. Our results suggest it coordinates a much larger metabolic network. If Mce3R controls cholesterol catabolism genes, targeting this regulon could address the persister population problem in TB treatment.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project has clear next steps. EMSA is the gold-standard experimental validation. Stochastic modeling connects to Balázsi lab's expertise in gene expression noise. Comparative genomics could reveal whether operator mutations drive drug resistance. AlphaFold modeling could predict new Mce3R-DNA interactions without crystallography.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technical specifications for reproducibility. The pipeline is 7 Python modules totaling ~2,500 lines. Key design choices: MEME width 20-30 bp is informed by the structural data showing ~25 bp half-sites. FIMO p-value 0.0001 balances sensitivity vs. specificity. Max gap of 80 bp ensures we don't miss wider-than-expected paired sites. The composite 40/25/20/15 weights were tuned so the known validated operator ranks #1.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references. The 2024 ACS Chem Biol paper is the most important — it established the asymmetric operator model that our pipeline is built around.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your mentors and acknowledge the scientific community.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and open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8.png"/><Relationship Id="rId9" Type="http://schemas.openxmlformats.org/officeDocument/2006/relationships/image" Target="../media/image5.png"/><Relationship Id="rId10" Type="http://schemas.openxmlformats.org/officeDocument/2006/relationships/image" Target="../media/image9.png"/><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914400" y="2103120"/>
            <a:ext cx="1033272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32720" cy="1828800"/>
          </a:xfrm>
          <a:prstGeom prst="rect">
            <a:avLst/>
          </a:prstGeom>
          <a:noFill/>
        </p:spPr>
        <p:txBody>
          <a:bodyPr wrap="square">
            <a:spAutoFit/>
          </a:bodyPr>
          <a:lstStyle/>
          <a:p>
            <a:pPr algn="l">
              <a:defRPr sz="3200" b="1">
                <a:solidFill>
                  <a:srgbClr val="FFFFFF"/>
                </a:solidFill>
                <a:latin typeface="Trebuchet MS"/>
              </a:defRPr>
            </a:pPr>
            <a:r>
              <a:t>Genome-Wide Identification of Mce3R</a:t>
            </a:r>
            <a:br/>
            <a:r>
              <a:t>Binding Sites in Mycobacterium tuberculosis</a:t>
            </a:r>
            <a:br/>
            <a:r>
              <a:t>Using a Dual-Motif Computational Pipeline</a:t>
            </a:r>
          </a:p>
        </p:txBody>
      </p:sp>
      <p:sp>
        <p:nvSpPr>
          <p:cNvPr id="4" name="TextBox 3"/>
          <p:cNvSpPr txBox="1"/>
          <p:nvPr/>
        </p:nvSpPr>
        <p:spPr>
          <a:xfrm>
            <a:off x="914400" y="4206240"/>
            <a:ext cx="10332720" cy="548640"/>
          </a:xfrm>
          <a:prstGeom prst="rect">
            <a:avLst/>
          </a:prstGeom>
          <a:noFill/>
        </p:spPr>
        <p:txBody>
          <a:bodyPr wrap="square">
            <a:spAutoFit/>
          </a:bodyPr>
          <a:lstStyle/>
          <a:p>
            <a:pPr algn="l">
              <a:defRPr sz="2000" b="0">
                <a:solidFill>
                  <a:srgbClr val="14B8A6"/>
                </a:solidFill>
                <a:latin typeface="Trebuchet MS"/>
              </a:defRPr>
            </a:pPr>
            <a:r>
              <a:t>Informed by the 2024 Asymmetric Operator Structure</a:t>
            </a:r>
          </a:p>
        </p:txBody>
      </p:sp>
      <p:sp>
        <p:nvSpPr>
          <p:cNvPr id="5" name="TextBox 4"/>
          <p:cNvSpPr txBox="1"/>
          <p:nvPr/>
        </p:nvSpPr>
        <p:spPr>
          <a:xfrm>
            <a:off x="914400" y="5029200"/>
            <a:ext cx="4572000" cy="457200"/>
          </a:xfrm>
          <a:prstGeom prst="rect">
            <a:avLst/>
          </a:prstGeom>
          <a:noFill/>
        </p:spPr>
        <p:txBody>
          <a:bodyPr wrap="square">
            <a:spAutoFit/>
          </a:bodyPr>
          <a:lstStyle/>
          <a:p>
            <a:pPr algn="l">
              <a:defRPr sz="2200" b="1">
                <a:solidFill>
                  <a:srgbClr val="94A3B8"/>
                </a:solidFill>
                <a:latin typeface="Calibri"/>
              </a:defRPr>
            </a:pPr>
            <a:r>
              <a:t>Aayan Alwani</a:t>
            </a:r>
          </a:p>
        </p:txBody>
      </p:sp>
      <p:sp>
        <p:nvSpPr>
          <p:cNvPr id="6" name="TextBox 5"/>
          <p:cNvSpPr txBox="1"/>
          <p:nvPr/>
        </p:nvSpPr>
        <p:spPr>
          <a:xfrm>
            <a:off x="914400" y="5486400"/>
            <a:ext cx="4572000" cy="457200"/>
          </a:xfrm>
          <a:prstGeom prst="rect">
            <a:avLst/>
          </a:prstGeom>
          <a:noFill/>
        </p:spPr>
        <p:txBody>
          <a:bodyPr wrap="square">
            <a:spAutoFit/>
          </a:bodyPr>
          <a:lstStyle/>
          <a:p>
            <a:pPr algn="l">
              <a:defRPr sz="1600" b="0">
                <a:solidFill>
                  <a:srgbClr val="94A3B8"/>
                </a:solidFill>
                <a:latin typeface="Calibri"/>
              </a:defRPr>
            </a:pPr>
            <a:r>
              <a:t>Great Neck South High School</a:t>
            </a:r>
          </a:p>
        </p:txBody>
      </p:sp>
      <p:sp>
        <p:nvSpPr>
          <p:cNvPr id="7" name="Rectangle 6"/>
          <p:cNvSpPr/>
          <p:nvPr/>
        </p:nvSpPr>
        <p:spPr>
          <a:xfrm>
            <a:off x="914400" y="6217920"/>
            <a:ext cx="27432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The Problem — Tuberculosis</a:t>
            </a:r>
          </a:p>
        </p:txBody>
      </p:sp>
      <p:sp>
        <p:nvSpPr>
          <p:cNvPr id="3" name="Rectangle 2"/>
          <p:cNvSpPr/>
          <p:nvPr/>
        </p:nvSpPr>
        <p:spPr>
          <a:xfrm>
            <a:off x="731520" y="1005840"/>
            <a:ext cx="36576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9728"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320800"/>
            <a:ext cx="4754880" cy="365760"/>
          </a:xfrm>
          <a:prstGeom prst="rect">
            <a:avLst/>
          </a:prstGeom>
          <a:noFill/>
        </p:spPr>
        <p:txBody>
          <a:bodyPr wrap="square">
            <a:spAutoFit/>
          </a:bodyPr>
          <a:lstStyle/>
          <a:p>
            <a:pPr algn="l">
              <a:defRPr sz="2000" b="1">
                <a:solidFill>
                  <a:srgbClr val="FFFFFF"/>
                </a:solidFill>
                <a:latin typeface="Calibri"/>
              </a:defRPr>
            </a:pPr>
            <a:r>
              <a:t>1.3 million deaths/year</a:t>
            </a:r>
          </a:p>
        </p:txBody>
      </p:sp>
      <p:sp>
        <p:nvSpPr>
          <p:cNvPr id="6" name="TextBox 5"/>
          <p:cNvSpPr txBox="1"/>
          <p:nvPr/>
        </p:nvSpPr>
        <p:spPr>
          <a:xfrm>
            <a:off x="1097280" y="1645920"/>
            <a:ext cx="4754880" cy="365760"/>
          </a:xfrm>
          <a:prstGeom prst="rect">
            <a:avLst/>
          </a:prstGeom>
          <a:noFill/>
        </p:spPr>
        <p:txBody>
          <a:bodyPr wrap="square">
            <a:spAutoFit/>
          </a:bodyPr>
          <a:lstStyle/>
          <a:p>
            <a:pPr algn="l">
              <a:defRPr sz="1400" b="0">
                <a:solidFill>
                  <a:srgbClr val="94A3B8"/>
                </a:solidFill>
                <a:latin typeface="Calibri"/>
              </a:defRPr>
            </a:pPr>
            <a:r>
              <a:t>WHO 2023 — the deadliest bacterial infection</a:t>
            </a:r>
          </a:p>
        </p:txBody>
      </p:sp>
      <p:sp>
        <p:nvSpPr>
          <p:cNvPr id="7" name="Rounded Rectangle 6"/>
          <p:cNvSpPr/>
          <p:nvPr/>
        </p:nvSpPr>
        <p:spPr>
          <a:xfrm>
            <a:off x="731520" y="2468880"/>
            <a:ext cx="109728"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18080"/>
            <a:ext cx="4754880" cy="365760"/>
          </a:xfrm>
          <a:prstGeom prst="rect">
            <a:avLst/>
          </a:prstGeom>
          <a:noFill/>
        </p:spPr>
        <p:txBody>
          <a:bodyPr wrap="square">
            <a:spAutoFit/>
          </a:bodyPr>
          <a:lstStyle/>
          <a:p>
            <a:pPr algn="l">
              <a:defRPr sz="2000" b="1">
                <a:solidFill>
                  <a:srgbClr val="FFFFFF"/>
                </a:solidFill>
                <a:latin typeface="Calibri"/>
              </a:defRPr>
            </a:pPr>
            <a:r>
              <a:t>Survives inside macrophages</a:t>
            </a:r>
          </a:p>
        </p:txBody>
      </p:sp>
      <p:sp>
        <p:nvSpPr>
          <p:cNvPr id="9" name="TextBox 8"/>
          <p:cNvSpPr txBox="1"/>
          <p:nvPr/>
        </p:nvSpPr>
        <p:spPr>
          <a:xfrm>
            <a:off x="1097280" y="2743200"/>
            <a:ext cx="4754880" cy="365760"/>
          </a:xfrm>
          <a:prstGeom prst="rect">
            <a:avLst/>
          </a:prstGeom>
          <a:noFill/>
        </p:spPr>
        <p:txBody>
          <a:bodyPr wrap="square">
            <a:spAutoFit/>
          </a:bodyPr>
          <a:lstStyle/>
          <a:p>
            <a:pPr algn="l">
              <a:defRPr sz="1400" b="0">
                <a:solidFill>
                  <a:srgbClr val="94A3B8"/>
                </a:solidFill>
                <a:latin typeface="Calibri"/>
              </a:defRPr>
            </a:pPr>
            <a:r>
              <a:t>M. tuberculosis hides inside the very immune cells meant to kill it</a:t>
            </a:r>
          </a:p>
        </p:txBody>
      </p:sp>
      <p:sp>
        <p:nvSpPr>
          <p:cNvPr id="10" name="Rounded Rectangle 9"/>
          <p:cNvSpPr/>
          <p:nvPr/>
        </p:nvSpPr>
        <p:spPr>
          <a:xfrm>
            <a:off x="731520" y="3566160"/>
            <a:ext cx="109728"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515360"/>
            <a:ext cx="4754880" cy="365760"/>
          </a:xfrm>
          <a:prstGeom prst="rect">
            <a:avLst/>
          </a:prstGeom>
          <a:noFill/>
        </p:spPr>
        <p:txBody>
          <a:bodyPr wrap="square">
            <a:spAutoFit/>
          </a:bodyPr>
          <a:lstStyle/>
          <a:p>
            <a:pPr algn="l">
              <a:defRPr sz="2000" b="1">
                <a:solidFill>
                  <a:srgbClr val="FFFFFF"/>
                </a:solidFill>
                <a:latin typeface="Calibri"/>
              </a:defRPr>
            </a:pPr>
            <a:r>
              <a:t>6–9 month treatment</a:t>
            </a:r>
          </a:p>
        </p:txBody>
      </p:sp>
      <p:sp>
        <p:nvSpPr>
          <p:cNvPr id="12" name="TextBox 11"/>
          <p:cNvSpPr txBox="1"/>
          <p:nvPr/>
        </p:nvSpPr>
        <p:spPr>
          <a:xfrm>
            <a:off x="1097280" y="3840480"/>
            <a:ext cx="4754880" cy="365760"/>
          </a:xfrm>
          <a:prstGeom prst="rect">
            <a:avLst/>
          </a:prstGeom>
          <a:noFill/>
        </p:spPr>
        <p:txBody>
          <a:bodyPr wrap="square">
            <a:spAutoFit/>
          </a:bodyPr>
          <a:lstStyle/>
          <a:p>
            <a:pPr algn="l">
              <a:defRPr sz="1400" b="0">
                <a:solidFill>
                  <a:srgbClr val="94A3B8"/>
                </a:solidFill>
                <a:latin typeface="Calibri"/>
              </a:defRPr>
            </a:pPr>
            <a:r>
              <a:t>Antibiotic-tolerant 'persister' bacteria require prolonged therapy</a:t>
            </a:r>
          </a:p>
        </p:txBody>
      </p:sp>
      <p:sp>
        <p:nvSpPr>
          <p:cNvPr id="13" name="Rounded Rectangle 12"/>
          <p:cNvSpPr/>
          <p:nvPr/>
        </p:nvSpPr>
        <p:spPr>
          <a:xfrm>
            <a:off x="731520" y="4663440"/>
            <a:ext cx="109728" cy="109728"/>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97280" y="4612640"/>
            <a:ext cx="4754880" cy="365760"/>
          </a:xfrm>
          <a:prstGeom prst="rect">
            <a:avLst/>
          </a:prstGeom>
          <a:noFill/>
        </p:spPr>
        <p:txBody>
          <a:bodyPr wrap="square">
            <a:spAutoFit/>
          </a:bodyPr>
          <a:lstStyle/>
          <a:p>
            <a:pPr algn="l">
              <a:defRPr sz="2000" b="1">
                <a:solidFill>
                  <a:srgbClr val="FFFFFF"/>
                </a:solidFill>
                <a:latin typeface="Calibri"/>
              </a:defRPr>
            </a:pPr>
            <a:r>
              <a:t>Gene regulation is key</a:t>
            </a:r>
          </a:p>
        </p:txBody>
      </p:sp>
      <p:sp>
        <p:nvSpPr>
          <p:cNvPr id="15" name="TextBox 14"/>
          <p:cNvSpPr txBox="1"/>
          <p:nvPr/>
        </p:nvSpPr>
        <p:spPr>
          <a:xfrm>
            <a:off x="1097280" y="4937760"/>
            <a:ext cx="4754880" cy="365760"/>
          </a:xfrm>
          <a:prstGeom prst="rect">
            <a:avLst/>
          </a:prstGeom>
          <a:noFill/>
        </p:spPr>
        <p:txBody>
          <a:bodyPr wrap="square">
            <a:spAutoFit/>
          </a:bodyPr>
          <a:lstStyle/>
          <a:p>
            <a:pPr algn="l">
              <a:defRPr sz="1400" b="0">
                <a:solidFill>
                  <a:srgbClr val="94A3B8"/>
                </a:solidFill>
                <a:latin typeface="Calibri"/>
              </a:defRPr>
            </a:pPr>
            <a:r>
              <a:t>Transcription factors control which survival genes are switched on/off</a:t>
            </a:r>
          </a:p>
        </p:txBody>
      </p:sp>
      <p:sp>
        <p:nvSpPr>
          <p:cNvPr id="16" name="Rounded Rectangle 15"/>
          <p:cNvSpPr/>
          <p:nvPr/>
        </p:nvSpPr>
        <p:spPr>
          <a:xfrm>
            <a:off x="6400800" y="1371600"/>
            <a:ext cx="5029200" cy="41148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7200" b="1">
                <a:solidFill>
                  <a:srgbClr val="F59E0B"/>
                </a:solidFill>
              </a:defRPr>
            </a:pPr>
            <a:r>
              <a:t>1.3M</a:t>
            </a:r>
          </a:p>
          <a:p>
            <a:pPr algn="ctr">
              <a:spcBef>
                <a:spcPts val="600"/>
              </a:spcBef>
              <a:defRPr sz="2200" b="0">
                <a:solidFill>
                  <a:srgbClr val="E2E8F0"/>
                </a:solidFill>
                <a:latin typeface="Calibri"/>
              </a:defRPr>
            </a:pPr>
            <a:r>
              <a:t>deaths per year</a:t>
            </a:r>
          </a:p>
          <a:p>
            <a:pPr algn="ctr">
              <a:spcBef>
                <a:spcPts val="2000"/>
              </a:spcBef>
              <a:defRPr sz="1400" b="0">
                <a:solidFill>
                  <a:srgbClr val="94A3B8"/>
                </a:solidFill>
                <a:latin typeface="Calibri"/>
              </a:defRPr>
            </a:pPr>
            <a:r>
              <a:t>Making TB the #1 bacterial killer worldwide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What is Mce3R?</a:t>
            </a:r>
          </a:p>
        </p:txBody>
      </p:sp>
      <p:sp>
        <p:nvSpPr>
          <p:cNvPr id="3" name="Rectangle 2"/>
          <p:cNvSpPr/>
          <p:nvPr/>
        </p:nvSpPr>
        <p:spPr>
          <a:xfrm>
            <a:off x="731520" y="1005840"/>
            <a:ext cx="27432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2240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371600"/>
            <a:ext cx="5303520" cy="411480"/>
          </a:xfrm>
          <a:prstGeom prst="rect">
            <a:avLst/>
          </a:prstGeom>
          <a:noFill/>
        </p:spPr>
        <p:txBody>
          <a:bodyPr wrap="square">
            <a:spAutoFit/>
          </a:bodyPr>
          <a:lstStyle/>
          <a:p>
            <a:pPr algn="l">
              <a:defRPr sz="1600" b="0">
                <a:solidFill>
                  <a:srgbClr val="E2E8F0"/>
                </a:solidFill>
                <a:latin typeface="Calibri"/>
              </a:defRPr>
            </a:pPr>
            <a:r>
              <a:t>Mce3R (Rv1963c) — a TetR-family transcriptional repressor</a:t>
            </a:r>
          </a:p>
        </p:txBody>
      </p:sp>
      <p:sp>
        <p:nvSpPr>
          <p:cNvPr id="6" name="Rounded Rectangle 5"/>
          <p:cNvSpPr/>
          <p:nvPr/>
        </p:nvSpPr>
        <p:spPr>
          <a:xfrm>
            <a:off x="731520" y="192532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874520"/>
            <a:ext cx="5303520" cy="411480"/>
          </a:xfrm>
          <a:prstGeom prst="rect">
            <a:avLst/>
          </a:prstGeom>
          <a:noFill/>
        </p:spPr>
        <p:txBody>
          <a:bodyPr wrap="square">
            <a:spAutoFit/>
          </a:bodyPr>
          <a:lstStyle/>
          <a:p>
            <a:pPr algn="l">
              <a:defRPr sz="1600" b="0">
                <a:solidFill>
                  <a:srgbClr val="E2E8F0"/>
                </a:solidFill>
                <a:latin typeface="Calibri"/>
              </a:defRPr>
            </a:pPr>
            <a:r>
              <a:t>Controls the mce3 operon: a cholesterol/lipid import system</a:t>
            </a:r>
          </a:p>
        </p:txBody>
      </p:sp>
      <p:sp>
        <p:nvSpPr>
          <p:cNvPr id="8" name="Rounded Rectangle 7"/>
          <p:cNvSpPr/>
          <p:nvPr/>
        </p:nvSpPr>
        <p:spPr>
          <a:xfrm>
            <a:off x="731520" y="242824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377440"/>
            <a:ext cx="5303520" cy="411480"/>
          </a:xfrm>
          <a:prstGeom prst="rect">
            <a:avLst/>
          </a:prstGeom>
          <a:noFill/>
        </p:spPr>
        <p:txBody>
          <a:bodyPr wrap="square">
            <a:spAutoFit/>
          </a:bodyPr>
          <a:lstStyle/>
          <a:p>
            <a:pPr algn="l">
              <a:defRPr sz="1600" b="0">
                <a:solidFill>
                  <a:srgbClr val="E2E8F0"/>
                </a:solidFill>
                <a:latin typeface="Calibri"/>
              </a:defRPr>
            </a:pPr>
            <a:r>
              <a:t>When cholesterol is present inside macrophages, Mce3R releases from DNA</a:t>
            </a:r>
          </a:p>
        </p:txBody>
      </p:sp>
      <p:sp>
        <p:nvSpPr>
          <p:cNvPr id="10" name="Rounded Rectangle 9"/>
          <p:cNvSpPr/>
          <p:nvPr/>
        </p:nvSpPr>
        <p:spPr>
          <a:xfrm>
            <a:off x="731520" y="293116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880360"/>
            <a:ext cx="5303520" cy="411480"/>
          </a:xfrm>
          <a:prstGeom prst="rect">
            <a:avLst/>
          </a:prstGeom>
          <a:noFill/>
        </p:spPr>
        <p:txBody>
          <a:bodyPr wrap="square">
            <a:spAutoFit/>
          </a:bodyPr>
          <a:lstStyle/>
          <a:p>
            <a:pPr algn="l">
              <a:defRPr sz="1600" b="0">
                <a:solidFill>
                  <a:srgbClr val="E2E8F0"/>
                </a:solidFill>
                <a:latin typeface="Calibri"/>
              </a:defRPr>
            </a:pPr>
            <a:r>
              <a:t>This activates lipid import genes needed for intracellular survival</a:t>
            </a:r>
          </a:p>
        </p:txBody>
      </p:sp>
      <p:sp>
        <p:nvSpPr>
          <p:cNvPr id="12" name="Rounded Rectangle 11"/>
          <p:cNvSpPr/>
          <p:nvPr/>
        </p:nvSpPr>
        <p:spPr>
          <a:xfrm>
            <a:off x="731520" y="343408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383280"/>
            <a:ext cx="5303520" cy="411480"/>
          </a:xfrm>
          <a:prstGeom prst="rect">
            <a:avLst/>
          </a:prstGeom>
          <a:noFill/>
        </p:spPr>
        <p:txBody>
          <a:bodyPr wrap="square">
            <a:spAutoFit/>
          </a:bodyPr>
          <a:lstStyle/>
          <a:p>
            <a:pPr algn="l">
              <a:defRPr sz="1600" b="0">
                <a:solidFill>
                  <a:srgbClr val="E2E8F0"/>
                </a:solidFill>
                <a:latin typeface="Calibri"/>
              </a:defRPr>
            </a:pPr>
            <a:r>
              <a:t>Mce3R is autoregulated — it represses its own gene</a:t>
            </a:r>
          </a:p>
        </p:txBody>
      </p:sp>
      <p:sp>
        <p:nvSpPr>
          <p:cNvPr id="14" name="Rounded Rectangle 13"/>
          <p:cNvSpPr/>
          <p:nvPr/>
        </p:nvSpPr>
        <p:spPr>
          <a:xfrm>
            <a:off x="731520" y="393700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3886200"/>
            <a:ext cx="5303520" cy="411480"/>
          </a:xfrm>
          <a:prstGeom prst="rect">
            <a:avLst/>
          </a:prstGeom>
          <a:noFill/>
        </p:spPr>
        <p:txBody>
          <a:bodyPr wrap="square">
            <a:spAutoFit/>
          </a:bodyPr>
          <a:lstStyle/>
          <a:p>
            <a:pPr algn="l">
              <a:defRPr sz="1600" b="0">
                <a:solidFill>
                  <a:srgbClr val="E2E8F0"/>
                </a:solidFill>
                <a:latin typeface="Calibri"/>
              </a:defRPr>
            </a:pPr>
            <a:r>
              <a:t>Deleting mce3R increases antibiotic persister frequency</a:t>
            </a:r>
          </a:p>
        </p:txBody>
      </p:sp>
      <p:sp>
        <p:nvSpPr>
          <p:cNvPr id="16" name="Rounded Rectangle 15"/>
          <p:cNvSpPr/>
          <p:nvPr/>
        </p:nvSpPr>
        <p:spPr>
          <a:xfrm>
            <a:off x="6583680" y="1371600"/>
            <a:ext cx="4846320" cy="41148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4B8A6"/>
                </a:solidFill>
              </a:defRPr>
            </a:pPr>
            <a:r>
              <a:t>Mce3R Regulatory Model</a:t>
            </a:r>
          </a:p>
          <a:p>
            <a:pPr algn="l">
              <a:spcBef>
                <a:spcPts val="600"/>
              </a:spcBef>
              <a:defRPr sz="800" b="0">
                <a:solidFill>
                  <a:srgbClr val="10274A"/>
                </a:solidFill>
                <a:latin typeface="Calibri"/>
              </a:defRPr>
            </a:pPr>
          </a:p>
          <a:p>
            <a:pPr algn="ctr">
              <a:spcBef>
                <a:spcPts val="600"/>
              </a:spcBef>
              <a:defRPr sz="1400" b="0">
                <a:solidFill>
                  <a:srgbClr val="FFFFFF"/>
                </a:solidFill>
                <a:latin typeface="Calibri"/>
              </a:defRPr>
            </a:pPr>
            <a:r>
              <a:t>─── DNA ─── [ OPERATOR ] ─── mce3 operon ───►</a:t>
            </a:r>
          </a:p>
          <a:p>
            <a:pPr algn="ctr">
              <a:spcBef>
                <a:spcPts val="600"/>
              </a:spcBef>
              <a:defRPr sz="1800" b="0">
                <a:solidFill>
                  <a:srgbClr val="F59E0B"/>
                </a:solidFill>
                <a:latin typeface="Calibri"/>
              </a:defRPr>
            </a:pPr>
            <a:r>
              <a:t>▼</a:t>
            </a:r>
          </a:p>
          <a:p>
            <a:pPr algn="ctr">
              <a:spcBef>
                <a:spcPts val="600"/>
              </a:spcBef>
              <a:defRPr sz="1400" b="0">
                <a:solidFill>
                  <a:srgbClr val="E2E8F0"/>
                </a:solidFill>
                <a:latin typeface="Calibri"/>
              </a:defRPr>
            </a:pPr>
            <a:r>
              <a:t>Mce3R protein sits on operator</a:t>
            </a:r>
          </a:p>
          <a:p>
            <a:pPr algn="ctr">
              <a:spcBef>
                <a:spcPts val="400"/>
              </a:spcBef>
              <a:defRPr sz="1400" b="0">
                <a:solidFill>
                  <a:srgbClr val="EF4444"/>
                </a:solidFill>
                <a:latin typeface="Calibri"/>
              </a:defRPr>
            </a:pPr>
            <a:r>
              <a:t>→ BLOCKS transcription of lipid import genes</a:t>
            </a:r>
          </a:p>
          <a:p>
            <a:pPr algn="l">
              <a:spcBef>
                <a:spcPts val="600"/>
              </a:spcBef>
              <a:defRPr sz="800" b="0">
                <a:solidFill>
                  <a:srgbClr val="10274A"/>
                </a:solidFill>
                <a:latin typeface="Calibri"/>
              </a:defRPr>
            </a:pPr>
          </a:p>
          <a:p>
            <a:pPr algn="ctr">
              <a:spcBef>
                <a:spcPts val="600"/>
              </a:spcBef>
              <a:defRPr sz="1400" b="0">
                <a:solidFill>
                  <a:srgbClr val="22C55E"/>
                </a:solidFill>
                <a:latin typeface="Calibri"/>
              </a:defRPr>
            </a:pPr>
            <a:r>
              <a:t>+ Cholesterol signal → Mce3R releases</a:t>
            </a:r>
          </a:p>
          <a:p>
            <a:pPr algn="ctr">
              <a:spcBef>
                <a:spcPts val="600"/>
              </a:spcBef>
              <a:defRPr sz="1400" b="0">
                <a:solidFill>
                  <a:srgbClr val="22C55E"/>
                </a:solidFill>
                <a:latin typeface="Calibri"/>
              </a:defRPr>
            </a:pPr>
            <a:r>
              <a:t>→ Lipid genes ACTIVATED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2800" b="1">
                <a:solidFill>
                  <a:srgbClr val="FFFFFF"/>
                </a:solidFill>
                <a:latin typeface="Trebuchet MS"/>
              </a:defRPr>
            </a:pPr>
            <a:r>
              <a:t>The Key Discovery — Asymmetric Operator (2024)</a:t>
            </a:r>
          </a:p>
        </p:txBody>
      </p:sp>
      <p:sp>
        <p:nvSpPr>
          <p:cNvPr id="3" name="Rectangle 2"/>
          <p:cNvSpPr/>
          <p:nvPr/>
        </p:nvSpPr>
        <p:spPr>
          <a:xfrm>
            <a:off x="731520" y="1005840"/>
            <a:ext cx="45720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029200" cy="320040"/>
          </a:xfrm>
          <a:prstGeom prst="rect">
            <a:avLst/>
          </a:prstGeom>
          <a:noFill/>
        </p:spPr>
        <p:txBody>
          <a:bodyPr wrap="square">
            <a:spAutoFit/>
          </a:bodyPr>
          <a:lstStyle/>
          <a:p>
            <a:pPr algn="l">
              <a:defRPr sz="1600" b="1">
                <a:solidFill>
                  <a:srgbClr val="E2E8F0"/>
                </a:solidFill>
                <a:latin typeface="Calibri"/>
              </a:defRPr>
            </a:pPr>
            <a:r>
              <a:t>Classical TetR assumption:</a:t>
            </a:r>
          </a:p>
        </p:txBody>
      </p:sp>
      <p:sp>
        <p:nvSpPr>
          <p:cNvPr id="5" name="TextBox 4"/>
          <p:cNvSpPr txBox="1"/>
          <p:nvPr/>
        </p:nvSpPr>
        <p:spPr>
          <a:xfrm>
            <a:off x="731520" y="1645920"/>
            <a:ext cx="5029200" cy="320040"/>
          </a:xfrm>
          <a:prstGeom prst="rect">
            <a:avLst/>
          </a:prstGeom>
          <a:noFill/>
        </p:spPr>
        <p:txBody>
          <a:bodyPr wrap="square">
            <a:spAutoFit/>
          </a:bodyPr>
          <a:lstStyle/>
          <a:p>
            <a:pPr algn="l">
              <a:defRPr sz="1400" b="0">
                <a:solidFill>
                  <a:srgbClr val="94A3B8"/>
                </a:solidFill>
                <a:latin typeface="Calibri"/>
              </a:defRPr>
            </a:pPr>
            <a:r>
              <a:t>palindromic (symmetric) DNA operator</a:t>
            </a:r>
          </a:p>
        </p:txBody>
      </p:sp>
      <p:sp>
        <p:nvSpPr>
          <p:cNvPr id="6" name="TextBox 5"/>
          <p:cNvSpPr txBox="1"/>
          <p:nvPr/>
        </p:nvSpPr>
        <p:spPr>
          <a:xfrm>
            <a:off x="731520" y="2057400"/>
            <a:ext cx="5029200" cy="320040"/>
          </a:xfrm>
          <a:prstGeom prst="rect">
            <a:avLst/>
          </a:prstGeom>
          <a:noFill/>
        </p:spPr>
        <p:txBody>
          <a:bodyPr wrap="square">
            <a:spAutoFit/>
          </a:bodyPr>
          <a:lstStyle/>
          <a:p>
            <a:pPr algn="l">
              <a:defRPr sz="1600" b="1">
                <a:solidFill>
                  <a:srgbClr val="F59E0B"/>
                </a:solidFill>
                <a:latin typeface="Calibri"/>
              </a:defRPr>
            </a:pPr>
            <a:r>
              <a:t>2024 breakthrough:</a:t>
            </a:r>
          </a:p>
        </p:txBody>
      </p:sp>
      <p:sp>
        <p:nvSpPr>
          <p:cNvPr id="7" name="TextBox 6"/>
          <p:cNvSpPr txBox="1"/>
          <p:nvPr/>
        </p:nvSpPr>
        <p:spPr>
          <a:xfrm>
            <a:off x="731520" y="2331720"/>
            <a:ext cx="5029200" cy="320040"/>
          </a:xfrm>
          <a:prstGeom prst="rect">
            <a:avLst/>
          </a:prstGeom>
          <a:noFill/>
        </p:spPr>
        <p:txBody>
          <a:bodyPr wrap="square">
            <a:spAutoFit/>
          </a:bodyPr>
          <a:lstStyle/>
          <a:p>
            <a:pPr algn="l">
              <a:defRPr sz="1400" b="0">
                <a:solidFill>
                  <a:srgbClr val="FFFFFF"/>
                </a:solidFill>
                <a:latin typeface="Calibri"/>
              </a:defRPr>
            </a:pPr>
            <a:r>
              <a:t>Mce3R uses a NONPALINDROMIC, ASYMMETRIC operator</a:t>
            </a:r>
          </a:p>
        </p:txBody>
      </p:sp>
      <p:sp>
        <p:nvSpPr>
          <p:cNvPr id="8" name="TextBox 7"/>
          <p:cNvSpPr txBox="1"/>
          <p:nvPr/>
        </p:nvSpPr>
        <p:spPr>
          <a:xfrm>
            <a:off x="731520" y="2743200"/>
            <a:ext cx="5029200" cy="320040"/>
          </a:xfrm>
          <a:prstGeom prst="rect">
            <a:avLst/>
          </a:prstGeom>
          <a:noFill/>
        </p:spPr>
        <p:txBody>
          <a:bodyPr wrap="square">
            <a:spAutoFit/>
          </a:bodyPr>
          <a:lstStyle/>
          <a:p>
            <a:pPr algn="l">
              <a:defRPr sz="1600" b="1">
                <a:solidFill>
                  <a:srgbClr val="E2E8F0"/>
                </a:solidFill>
                <a:latin typeface="Calibri"/>
              </a:defRPr>
            </a:pPr>
            <a:r>
              <a:t>Two ~25 bp half-sites</a:t>
            </a:r>
          </a:p>
        </p:txBody>
      </p:sp>
      <p:sp>
        <p:nvSpPr>
          <p:cNvPr id="9" name="TextBox 8"/>
          <p:cNvSpPr txBox="1"/>
          <p:nvPr/>
        </p:nvSpPr>
        <p:spPr>
          <a:xfrm>
            <a:off x="731520" y="3017520"/>
            <a:ext cx="5029200" cy="320040"/>
          </a:xfrm>
          <a:prstGeom prst="rect">
            <a:avLst/>
          </a:prstGeom>
          <a:noFill/>
        </p:spPr>
        <p:txBody>
          <a:bodyPr wrap="square">
            <a:spAutoFit/>
          </a:bodyPr>
          <a:lstStyle/>
          <a:p>
            <a:pPr algn="l">
              <a:defRPr sz="1400" b="0">
                <a:solidFill>
                  <a:srgbClr val="94A3B8"/>
                </a:solidFill>
                <a:latin typeface="Calibri"/>
              </a:defRPr>
            </a:pPr>
            <a:r>
              <a:t>separated by ~53 bp spacer</a:t>
            </a:r>
          </a:p>
        </p:txBody>
      </p:sp>
      <p:sp>
        <p:nvSpPr>
          <p:cNvPr id="10" name="TextBox 9"/>
          <p:cNvSpPr txBox="1"/>
          <p:nvPr/>
        </p:nvSpPr>
        <p:spPr>
          <a:xfrm>
            <a:off x="731520" y="3429000"/>
            <a:ext cx="5029200" cy="320040"/>
          </a:xfrm>
          <a:prstGeom prst="rect">
            <a:avLst/>
          </a:prstGeom>
          <a:noFill/>
        </p:spPr>
        <p:txBody>
          <a:bodyPr wrap="square">
            <a:spAutoFit/>
          </a:bodyPr>
          <a:lstStyle/>
          <a:p>
            <a:pPr algn="l">
              <a:defRPr sz="1600" b="1">
                <a:solidFill>
                  <a:srgbClr val="14B8A6"/>
                </a:solidFill>
                <a:latin typeface="Calibri"/>
              </a:defRPr>
            </a:pPr>
            <a:r>
              <a:t>Downstream site:</a:t>
            </a:r>
          </a:p>
        </p:txBody>
      </p:sp>
      <p:sp>
        <p:nvSpPr>
          <p:cNvPr id="11" name="TextBox 10"/>
          <p:cNvSpPr txBox="1"/>
          <p:nvPr/>
        </p:nvSpPr>
        <p:spPr>
          <a:xfrm>
            <a:off x="731520" y="3703320"/>
            <a:ext cx="5029200" cy="320040"/>
          </a:xfrm>
          <a:prstGeom prst="rect">
            <a:avLst/>
          </a:prstGeom>
          <a:noFill/>
        </p:spPr>
        <p:txBody>
          <a:bodyPr wrap="square">
            <a:spAutoFit/>
          </a:bodyPr>
          <a:lstStyle/>
          <a:p>
            <a:pPr algn="l">
              <a:defRPr sz="1400" b="0">
                <a:solidFill>
                  <a:srgbClr val="E2E8F0"/>
                </a:solidFill>
                <a:latin typeface="Calibri"/>
              </a:defRPr>
            </a:pPr>
            <a:r>
              <a:t>higher affinity — Kd = 2.4 ± 0.7 nM</a:t>
            </a:r>
          </a:p>
        </p:txBody>
      </p:sp>
      <p:sp>
        <p:nvSpPr>
          <p:cNvPr id="12" name="TextBox 11"/>
          <p:cNvSpPr txBox="1"/>
          <p:nvPr/>
        </p:nvSpPr>
        <p:spPr>
          <a:xfrm>
            <a:off x="731520" y="4114800"/>
            <a:ext cx="5029200" cy="320040"/>
          </a:xfrm>
          <a:prstGeom prst="rect">
            <a:avLst/>
          </a:prstGeom>
          <a:noFill/>
        </p:spPr>
        <p:txBody>
          <a:bodyPr wrap="square">
            <a:spAutoFit/>
          </a:bodyPr>
          <a:lstStyle/>
          <a:p>
            <a:pPr algn="l">
              <a:defRPr sz="1600" b="1">
                <a:solidFill>
                  <a:srgbClr val="F59E0B"/>
                </a:solidFill>
                <a:latin typeface="Calibri"/>
              </a:defRPr>
            </a:pPr>
            <a:r>
              <a:t>Unprecedented:</a:t>
            </a:r>
          </a:p>
        </p:txBody>
      </p:sp>
      <p:sp>
        <p:nvSpPr>
          <p:cNvPr id="13" name="TextBox 12"/>
          <p:cNvSpPr txBox="1"/>
          <p:nvPr/>
        </p:nvSpPr>
        <p:spPr>
          <a:xfrm>
            <a:off x="731520" y="4389120"/>
            <a:ext cx="5029200" cy="320040"/>
          </a:xfrm>
          <a:prstGeom prst="rect">
            <a:avLst/>
          </a:prstGeom>
          <a:noFill/>
        </p:spPr>
        <p:txBody>
          <a:bodyPr wrap="square">
            <a:spAutoFit/>
          </a:bodyPr>
          <a:lstStyle/>
          <a:p>
            <a:pPr algn="l">
              <a:defRPr sz="1400" b="0">
                <a:solidFill>
                  <a:srgbClr val="94A3B8"/>
                </a:solidFill>
                <a:latin typeface="Calibri"/>
              </a:defRPr>
            </a:pPr>
            <a:r>
              <a:t>first known asymmetric TetR-family operator</a:t>
            </a:r>
          </a:p>
        </p:txBody>
      </p:sp>
      <p:sp>
        <p:nvSpPr>
          <p:cNvPr id="14" name="Rounded Rectangle 13"/>
          <p:cNvSpPr/>
          <p:nvPr/>
        </p:nvSpPr>
        <p:spPr>
          <a:xfrm>
            <a:off x="6217920" y="1371600"/>
            <a:ext cx="5303520" cy="292608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Validated Operator Architecture</a:t>
            </a:r>
          </a:p>
          <a:p>
            <a:pPr algn="l">
              <a:spcBef>
                <a:spcPts val="600"/>
              </a:spcBef>
              <a:defRPr sz="600" b="0">
                <a:solidFill>
                  <a:srgbClr val="10274A"/>
                </a:solidFill>
                <a:latin typeface="Calibri"/>
              </a:defRPr>
            </a:pPr>
          </a:p>
          <a:p>
            <a:pPr algn="ctr">
              <a:spcBef>
                <a:spcPts val="600"/>
              </a:spcBef>
              <a:defRPr sz="1300" b="0">
                <a:solidFill>
                  <a:srgbClr val="94A3B8"/>
                </a:solidFill>
                <a:latin typeface="Calibri"/>
              </a:defRPr>
            </a:pPr>
            <a:r>
              <a:t>  ┌─── Upstream ───┐          ┌── Downstream ──┐</a:t>
            </a:r>
          </a:p>
          <a:p>
            <a:pPr algn="ctr">
              <a:spcBef>
                <a:spcPts val="600"/>
              </a:spcBef>
              <a:defRPr sz="1300" b="0">
                <a:solidFill>
                  <a:srgbClr val="FFFFFF"/>
                </a:solidFill>
                <a:latin typeface="Calibri"/>
              </a:defRPr>
            </a:pPr>
            <a:r>
              <a:t>  │   ~25 bp site  │◄─ 53 bp ─►│   ~25 bp site  │</a:t>
            </a:r>
          </a:p>
          <a:p>
            <a:pPr algn="ctr">
              <a:spcBef>
                <a:spcPts val="600"/>
              </a:spcBef>
              <a:defRPr sz="1300" b="0">
                <a:solidFill>
                  <a:srgbClr val="94A3B8"/>
                </a:solidFill>
                <a:latin typeface="Calibri"/>
              </a:defRPr>
            </a:pPr>
            <a:r>
              <a:t>  └────────────────┘          └────────────────┘</a:t>
            </a:r>
          </a:p>
          <a:p>
            <a:pPr algn="ctr">
              <a:spcBef>
                <a:spcPts val="800"/>
              </a:spcBef>
              <a:defRPr sz="1200" b="0">
                <a:solidFill>
                  <a:srgbClr val="F59E0B"/>
                </a:solidFill>
                <a:latin typeface="Calibri"/>
              </a:defRPr>
            </a:pPr>
            <a:r>
              <a:t>       Lower Kd                  Kd = 2.4 nM</a:t>
            </a:r>
          </a:p>
          <a:p>
            <a:pPr algn="l">
              <a:spcBef>
                <a:spcPts val="600"/>
              </a:spcBef>
              <a:defRPr sz="600" b="0">
                <a:solidFill>
                  <a:srgbClr val="10274A"/>
                </a:solidFill>
                <a:latin typeface="Calibri"/>
              </a:defRPr>
            </a:pPr>
          </a:p>
          <a:p>
            <a:pPr algn="ctr">
              <a:spcBef>
                <a:spcPts val="600"/>
              </a:spcBef>
              <a:defRPr sz="1100" b="0">
                <a:solidFill>
                  <a:srgbClr val="94A3B8"/>
                </a:solidFill>
                <a:latin typeface="Calibri"/>
              </a:defRPr>
            </a:pPr>
            <a:r>
              <a:t>Panagoda, Balázsi &amp; Sampson (2024) ACS Chem. Biol.</a:t>
            </a:r>
          </a:p>
        </p:txBody>
      </p:sp>
      <p:sp>
        <p:nvSpPr>
          <p:cNvPr id="15" name="TextBox 14"/>
          <p:cNvSpPr txBox="1"/>
          <p:nvPr/>
        </p:nvSpPr>
        <p:spPr>
          <a:xfrm>
            <a:off x="6217920" y="4754880"/>
            <a:ext cx="5303520" cy="457200"/>
          </a:xfrm>
          <a:prstGeom prst="rect">
            <a:avLst/>
          </a:prstGeom>
          <a:noFill/>
        </p:spPr>
        <p:txBody>
          <a:bodyPr wrap="square">
            <a:spAutoFit/>
          </a:bodyPr>
          <a:lstStyle/>
          <a:p>
            <a:pPr algn="l">
              <a:defRPr sz="1100" b="0">
                <a:solidFill>
                  <a:srgbClr val="94A3B8"/>
                </a:solidFill>
                <a:latin typeface="Calibri"/>
              </a:defRPr>
            </a:pPr>
            <a:r>
              <a:t>Citation: Panagoda, Balázsi &amp; Sampson (2024) ACS Chemical Biology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914400" y="1828800"/>
            <a:ext cx="10332720" cy="1371600"/>
          </a:xfrm>
          <a:prstGeom prst="rect">
            <a:avLst/>
          </a:prstGeom>
          <a:noFill/>
        </p:spPr>
        <p:txBody>
          <a:bodyPr wrap="square">
            <a:spAutoFit/>
          </a:bodyPr>
          <a:lstStyle/>
          <a:p>
            <a:pPr algn="ctr">
              <a:defRPr sz="3800" b="1">
                <a:solidFill>
                  <a:srgbClr val="F59E0B"/>
                </a:solidFill>
                <a:latin typeface="Trebuchet MS"/>
              </a:defRPr>
            </a:pPr>
            <a:r>
              <a:t>Where else in the M. tuberculosis genome</a:t>
            </a:r>
            <a:br/>
            <a:r>
              <a:t>does Mce3R bind?</a:t>
            </a:r>
          </a:p>
        </p:txBody>
      </p:sp>
      <p:sp>
        <p:nvSpPr>
          <p:cNvPr id="3" name="Rectangle 2"/>
          <p:cNvSpPr/>
          <p:nvPr/>
        </p:nvSpPr>
        <p:spPr>
          <a:xfrm>
            <a:off x="3657600" y="3474720"/>
            <a:ext cx="484632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3840480"/>
            <a:ext cx="8503920" cy="914400"/>
          </a:xfrm>
          <a:prstGeom prst="rect">
            <a:avLst/>
          </a:prstGeom>
          <a:noFill/>
        </p:spPr>
        <p:txBody>
          <a:bodyPr wrap="square">
            <a:spAutoFit/>
          </a:bodyPr>
          <a:lstStyle/>
          <a:p>
            <a:pPr algn="ctr">
              <a:defRPr sz="2200" b="0">
                <a:solidFill>
                  <a:srgbClr val="E2E8F0"/>
                </a:solidFill>
                <a:latin typeface="Calibri"/>
              </a:defRPr>
            </a:pPr>
            <a:r>
              <a:t>Can we use the asymmetric operator model to predict</a:t>
            </a:r>
            <a:br/>
            <a:r>
              <a:t>new regulatory targets genome-wide?</a:t>
            </a:r>
          </a:p>
        </p:txBody>
      </p:sp>
      <p:sp>
        <p:nvSpPr>
          <p:cNvPr id="5" name="TextBox 4"/>
          <p:cNvSpPr txBox="1"/>
          <p:nvPr/>
        </p:nvSpPr>
        <p:spPr>
          <a:xfrm>
            <a:off x="1828800" y="5029200"/>
            <a:ext cx="8503920" cy="457200"/>
          </a:xfrm>
          <a:prstGeom prst="rect">
            <a:avLst/>
          </a:prstGeom>
          <a:noFill/>
        </p:spPr>
        <p:txBody>
          <a:bodyPr wrap="square">
            <a:spAutoFit/>
          </a:bodyPr>
          <a:lstStyle/>
          <a:p>
            <a:pPr algn="ctr">
              <a:defRPr sz="1600" b="0">
                <a:solidFill>
                  <a:srgbClr val="94A3B8"/>
                </a:solidFill>
                <a:latin typeface="Calibri"/>
              </a:defRPr>
            </a:pPr>
            <a:r>
              <a:t>Only one operator has been experimentally validated — are there more?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Pipeline Overview</a:t>
            </a:r>
          </a:p>
        </p:txBody>
      </p:sp>
      <p:sp>
        <p:nvSpPr>
          <p:cNvPr id="3" name="Rectangle 2"/>
          <p:cNvSpPr/>
          <p:nvPr/>
        </p:nvSpPr>
        <p:spPr>
          <a:xfrm>
            <a:off x="731520" y="1005840"/>
            <a:ext cx="32004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143000" y="16459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1</a:t>
            </a:r>
          </a:p>
        </p:txBody>
      </p:sp>
      <p:sp>
        <p:nvSpPr>
          <p:cNvPr id="5" name="Rounded Rectangle 4"/>
          <p:cNvSpPr/>
          <p:nvPr/>
        </p:nvSpPr>
        <p:spPr>
          <a:xfrm>
            <a:off x="548640" y="2286000"/>
            <a:ext cx="2011680" cy="256032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Sequence</a:t>
            </a:r>
            <a:br/>
            <a:r>
              <a:t>Preparation</a:t>
            </a:r>
          </a:p>
          <a:p>
            <a:pPr algn="ctr">
              <a:spcBef>
                <a:spcPts val="1200"/>
              </a:spcBef>
              <a:defRPr sz="1300" b="0">
                <a:solidFill>
                  <a:srgbClr val="94A3B8"/>
                </a:solidFill>
                <a:latin typeface="Calibri"/>
              </a:defRPr>
            </a:pPr>
            <a:r>
              <a:t>2,351 promoters</a:t>
            </a:r>
            <a:br/>
            <a:r>
              <a:t>from H37Rv genome</a:t>
            </a:r>
          </a:p>
        </p:txBody>
      </p:sp>
      <p:sp>
        <p:nvSpPr>
          <p:cNvPr id="6" name="Right Arrow 5"/>
          <p:cNvSpPr/>
          <p:nvPr/>
        </p:nvSpPr>
        <p:spPr>
          <a:xfrm>
            <a:off x="2651760" y="3291840"/>
            <a:ext cx="274320" cy="27432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3429000" y="16459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2</a:t>
            </a:r>
          </a:p>
        </p:txBody>
      </p:sp>
      <p:sp>
        <p:nvSpPr>
          <p:cNvPr id="8" name="Rounded Rectangle 7"/>
          <p:cNvSpPr/>
          <p:nvPr/>
        </p:nvSpPr>
        <p:spPr>
          <a:xfrm>
            <a:off x="2834640" y="2286000"/>
            <a:ext cx="2011680" cy="256032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MEME</a:t>
            </a:r>
            <a:br/>
            <a:r>
              <a:t>Discovery</a:t>
            </a:r>
          </a:p>
          <a:p>
            <a:pPr algn="ctr">
              <a:spcBef>
                <a:spcPts val="1200"/>
              </a:spcBef>
              <a:defRPr sz="1300" b="0">
                <a:solidFill>
                  <a:srgbClr val="94A3B8"/>
                </a:solidFill>
                <a:latin typeface="Calibri"/>
              </a:defRPr>
            </a:pPr>
            <a:r>
              <a:t>Find binding motif</a:t>
            </a:r>
            <a:br/>
            <a:r>
              <a:t>de novo (unbiased)</a:t>
            </a:r>
          </a:p>
        </p:txBody>
      </p:sp>
      <p:sp>
        <p:nvSpPr>
          <p:cNvPr id="9" name="Right Arrow 8"/>
          <p:cNvSpPr/>
          <p:nvPr/>
        </p:nvSpPr>
        <p:spPr>
          <a:xfrm>
            <a:off x="4937760" y="3291840"/>
            <a:ext cx="274320" cy="27432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715000" y="16459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3</a:t>
            </a:r>
          </a:p>
        </p:txBody>
      </p:sp>
      <p:sp>
        <p:nvSpPr>
          <p:cNvPr id="11" name="Rounded Rectangle 10"/>
          <p:cNvSpPr/>
          <p:nvPr/>
        </p:nvSpPr>
        <p:spPr>
          <a:xfrm>
            <a:off x="5120640" y="2286000"/>
            <a:ext cx="2011680" cy="256032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FIMO</a:t>
            </a:r>
            <a:br/>
            <a:r>
              <a:t>Scanning</a:t>
            </a:r>
          </a:p>
          <a:p>
            <a:pPr algn="ctr">
              <a:spcBef>
                <a:spcPts val="1200"/>
              </a:spcBef>
              <a:defRPr sz="1300" b="0">
                <a:solidFill>
                  <a:srgbClr val="94A3B8"/>
                </a:solidFill>
                <a:latin typeface="Calibri"/>
              </a:defRPr>
            </a:pPr>
            <a:r>
              <a:t>Score all promoters</a:t>
            </a:r>
            <a:br/>
            <a:r>
              <a:t>for motif matches</a:t>
            </a:r>
          </a:p>
        </p:txBody>
      </p:sp>
      <p:sp>
        <p:nvSpPr>
          <p:cNvPr id="12" name="Right Arrow 11"/>
          <p:cNvSpPr/>
          <p:nvPr/>
        </p:nvSpPr>
        <p:spPr>
          <a:xfrm>
            <a:off x="7223760" y="3291840"/>
            <a:ext cx="274320" cy="27432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01000" y="16459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4</a:t>
            </a:r>
          </a:p>
        </p:txBody>
      </p:sp>
      <p:sp>
        <p:nvSpPr>
          <p:cNvPr id="14" name="Rounded Rectangle 13"/>
          <p:cNvSpPr/>
          <p:nvPr/>
        </p:nvSpPr>
        <p:spPr>
          <a:xfrm>
            <a:off x="7406640" y="2286000"/>
            <a:ext cx="2011680" cy="256032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Analysis &amp;</a:t>
            </a:r>
            <a:br/>
            <a:r>
              <a:t>Ranking</a:t>
            </a:r>
          </a:p>
          <a:p>
            <a:pPr algn="ctr">
              <a:spcBef>
                <a:spcPts val="1200"/>
              </a:spcBef>
              <a:defRPr sz="1300" b="0">
                <a:solidFill>
                  <a:srgbClr val="94A3B8"/>
                </a:solidFill>
                <a:latin typeface="Calibri"/>
              </a:defRPr>
            </a:pPr>
            <a:r>
              <a:t>Architecture, asymmetry</a:t>
            </a:r>
            <a:br/>
            <a:r>
              <a:t>composite score</a:t>
            </a:r>
          </a:p>
        </p:txBody>
      </p:sp>
      <p:sp>
        <p:nvSpPr>
          <p:cNvPr id="15" name="Right Arrow 14"/>
          <p:cNvSpPr/>
          <p:nvPr/>
        </p:nvSpPr>
        <p:spPr>
          <a:xfrm>
            <a:off x="9509760" y="3291840"/>
            <a:ext cx="274320" cy="274320"/>
          </a:xfrm>
          <a:prstGeom prst="rightArrow">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7000" y="16459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5</a:t>
            </a:r>
          </a:p>
        </p:txBody>
      </p:sp>
      <p:sp>
        <p:nvSpPr>
          <p:cNvPr id="17" name="Rounded Rectangle 16"/>
          <p:cNvSpPr/>
          <p:nvPr/>
        </p:nvSpPr>
        <p:spPr>
          <a:xfrm>
            <a:off x="9692640" y="2286000"/>
            <a:ext cx="2011680" cy="256032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Visualization</a:t>
            </a:r>
          </a:p>
          <a:p>
            <a:pPr algn="ctr">
              <a:spcBef>
                <a:spcPts val="1200"/>
              </a:spcBef>
              <a:defRPr sz="1300" b="0">
                <a:solidFill>
                  <a:srgbClr val="94A3B8"/>
                </a:solidFill>
                <a:latin typeface="Calibri"/>
              </a:defRPr>
            </a:pPr>
            <a:r>
              <a:t>9 publication-quality</a:t>
            </a:r>
            <a:br/>
            <a:r>
              <a:t>figures</a:t>
            </a:r>
          </a:p>
        </p:txBody>
      </p:sp>
      <p:sp>
        <p:nvSpPr>
          <p:cNvPr id="18" name="TextBox 17"/>
          <p:cNvSpPr txBox="1"/>
          <p:nvPr/>
        </p:nvSpPr>
        <p:spPr>
          <a:xfrm>
            <a:off x="731520" y="5303520"/>
            <a:ext cx="10058400" cy="457200"/>
          </a:xfrm>
          <a:prstGeom prst="rect">
            <a:avLst/>
          </a:prstGeom>
          <a:noFill/>
        </p:spPr>
        <p:txBody>
          <a:bodyPr wrap="square">
            <a:spAutoFit/>
          </a:bodyPr>
          <a:lstStyle/>
          <a:p>
            <a:pPr algn="ctr">
              <a:defRPr sz="1400" b="0">
                <a:solidFill>
                  <a:srgbClr val="94A3B8"/>
                </a:solidFill>
                <a:latin typeface="Calibri"/>
              </a:defRPr>
            </a:pPr>
            <a:r>
              <a:t>Python 3.10  •  MEME Suite 5.5.9  •  BioPython  •  pandas  •  matplotlib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Step 1 — Sequence Preparation</a:t>
            </a:r>
          </a:p>
        </p:txBody>
      </p:sp>
      <p:sp>
        <p:nvSpPr>
          <p:cNvPr id="3" name="Rectangle 2"/>
          <p:cNvSpPr/>
          <p:nvPr/>
        </p:nvSpPr>
        <p:spPr>
          <a:xfrm>
            <a:off x="731520" y="1005840"/>
            <a:ext cx="36576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486400" cy="365760"/>
          </a:xfrm>
          <a:prstGeom prst="rect">
            <a:avLst/>
          </a:prstGeom>
          <a:noFill/>
        </p:spPr>
        <p:txBody>
          <a:bodyPr wrap="square">
            <a:spAutoFit/>
          </a:bodyPr>
          <a:lstStyle/>
          <a:p>
            <a:pPr algn="l">
              <a:defRPr sz="1500" b="0">
                <a:solidFill>
                  <a:srgbClr val="E2E8F0"/>
                </a:solidFill>
                <a:latin typeface="Calibri"/>
              </a:defRPr>
            </a:pPr>
            <a:r>
              <a:t>Extracted 200–300 bp upstream of every gene in M. tuberculosis H37Rv</a:t>
            </a:r>
          </a:p>
        </p:txBody>
      </p:sp>
      <p:sp>
        <p:nvSpPr>
          <p:cNvPr id="5" name="TextBox 4"/>
          <p:cNvSpPr txBox="1"/>
          <p:nvPr/>
        </p:nvSpPr>
        <p:spPr>
          <a:xfrm>
            <a:off x="731520" y="1783080"/>
            <a:ext cx="5486400" cy="365760"/>
          </a:xfrm>
          <a:prstGeom prst="rect">
            <a:avLst/>
          </a:prstGeom>
          <a:noFill/>
        </p:spPr>
        <p:txBody>
          <a:bodyPr wrap="square">
            <a:spAutoFit/>
          </a:bodyPr>
          <a:lstStyle/>
          <a:p>
            <a:pPr algn="l">
              <a:defRPr sz="1500" b="0">
                <a:solidFill>
                  <a:srgbClr val="E2E8F0"/>
                </a:solidFill>
                <a:latin typeface="Calibri"/>
              </a:defRPr>
            </a:pPr>
            <a:r>
              <a:t>2,351 promoter regions total (trimmed at adjacent CDS boundaries)</a:t>
            </a:r>
          </a:p>
        </p:txBody>
      </p:sp>
      <p:sp>
        <p:nvSpPr>
          <p:cNvPr id="6" name="TextBox 5"/>
          <p:cNvSpPr txBox="1"/>
          <p:nvPr/>
        </p:nvSpPr>
        <p:spPr>
          <a:xfrm>
            <a:off x="731520" y="2194560"/>
            <a:ext cx="5486400" cy="365760"/>
          </a:xfrm>
          <a:prstGeom prst="rect">
            <a:avLst/>
          </a:prstGeom>
          <a:noFill/>
        </p:spPr>
        <p:txBody>
          <a:bodyPr wrap="square">
            <a:spAutoFit/>
          </a:bodyPr>
          <a:lstStyle/>
          <a:p>
            <a:pPr algn="l">
              <a:defRPr sz="1500" b="0">
                <a:solidFill>
                  <a:srgbClr val="E2E8F0"/>
                </a:solidFill>
                <a:latin typeface="Calibri"/>
              </a:defRPr>
            </a:pPr>
            <a:r>
              <a:t>Also downloaded orthologous sequences from 3 species:</a:t>
            </a:r>
          </a:p>
        </p:txBody>
      </p:sp>
      <p:sp>
        <p:nvSpPr>
          <p:cNvPr id="7" name="TextBox 6"/>
          <p:cNvSpPr txBox="1"/>
          <p:nvPr/>
        </p:nvSpPr>
        <p:spPr>
          <a:xfrm>
            <a:off x="1371600" y="2606040"/>
            <a:ext cx="5486400" cy="365760"/>
          </a:xfrm>
          <a:prstGeom prst="rect">
            <a:avLst/>
          </a:prstGeom>
          <a:noFill/>
        </p:spPr>
        <p:txBody>
          <a:bodyPr wrap="square">
            <a:spAutoFit/>
          </a:bodyPr>
          <a:lstStyle/>
          <a:p>
            <a:pPr algn="l">
              <a:defRPr sz="1500" b="0">
                <a:solidFill>
                  <a:srgbClr val="E2E8F0"/>
                </a:solidFill>
                <a:latin typeface="Calibri"/>
              </a:defRPr>
            </a:pPr>
            <a:r>
              <a:t>• M. tuberculosis H37Rv (NC_000962.3)</a:t>
            </a:r>
          </a:p>
        </p:txBody>
      </p:sp>
      <p:sp>
        <p:nvSpPr>
          <p:cNvPr id="8" name="TextBox 7"/>
          <p:cNvSpPr txBox="1"/>
          <p:nvPr/>
        </p:nvSpPr>
        <p:spPr>
          <a:xfrm>
            <a:off x="1371600" y="3017520"/>
            <a:ext cx="5486400" cy="365760"/>
          </a:xfrm>
          <a:prstGeom prst="rect">
            <a:avLst/>
          </a:prstGeom>
          <a:noFill/>
        </p:spPr>
        <p:txBody>
          <a:bodyPr wrap="square">
            <a:spAutoFit/>
          </a:bodyPr>
          <a:lstStyle/>
          <a:p>
            <a:pPr algn="l">
              <a:defRPr sz="1500" b="0">
                <a:solidFill>
                  <a:srgbClr val="E2E8F0"/>
                </a:solidFill>
                <a:latin typeface="Calibri"/>
              </a:defRPr>
            </a:pPr>
            <a:r>
              <a:t>• M. bovis AF2122/97 (NC_002945.4)</a:t>
            </a:r>
          </a:p>
        </p:txBody>
      </p:sp>
      <p:sp>
        <p:nvSpPr>
          <p:cNvPr id="9" name="TextBox 8"/>
          <p:cNvSpPr txBox="1"/>
          <p:nvPr/>
        </p:nvSpPr>
        <p:spPr>
          <a:xfrm>
            <a:off x="1371600" y="3429000"/>
            <a:ext cx="5486400" cy="365760"/>
          </a:xfrm>
          <a:prstGeom prst="rect">
            <a:avLst/>
          </a:prstGeom>
          <a:noFill/>
        </p:spPr>
        <p:txBody>
          <a:bodyPr wrap="square">
            <a:spAutoFit/>
          </a:bodyPr>
          <a:lstStyle/>
          <a:p>
            <a:pPr algn="l">
              <a:defRPr sz="1500" b="0">
                <a:solidFill>
                  <a:srgbClr val="E2E8F0"/>
                </a:solidFill>
                <a:latin typeface="Calibri"/>
              </a:defRPr>
            </a:pPr>
            <a:r>
              <a:t>• M. marinum M (NC_010612.1)</a:t>
            </a:r>
          </a:p>
        </p:txBody>
      </p:sp>
      <p:sp>
        <p:nvSpPr>
          <p:cNvPr id="10" name="TextBox 9"/>
          <p:cNvSpPr txBox="1"/>
          <p:nvPr/>
        </p:nvSpPr>
        <p:spPr>
          <a:xfrm>
            <a:off x="731520" y="3840480"/>
            <a:ext cx="5486400" cy="365760"/>
          </a:xfrm>
          <a:prstGeom prst="rect">
            <a:avLst/>
          </a:prstGeom>
          <a:noFill/>
        </p:spPr>
        <p:txBody>
          <a:bodyPr wrap="square">
            <a:spAutoFit/>
          </a:bodyPr>
          <a:lstStyle/>
          <a:p>
            <a:pPr algn="l">
              <a:defRPr sz="1500" b="0">
                <a:solidFill>
                  <a:srgbClr val="E2E8F0"/>
                </a:solidFill>
                <a:latin typeface="Calibri"/>
              </a:defRPr>
            </a:pPr>
            <a:r>
              <a:t>M. tuberculosis has 65% GC content — unusually high, affects scoring</a:t>
            </a:r>
          </a:p>
        </p:txBody>
      </p:sp>
      <p:sp>
        <p:nvSpPr>
          <p:cNvPr id="11" name="Rounded Rectangle 10"/>
          <p:cNvSpPr/>
          <p:nvPr/>
        </p:nvSpPr>
        <p:spPr>
          <a:xfrm>
            <a:off x="6858000" y="1371600"/>
            <a:ext cx="4572000" cy="41148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14B8A6"/>
                </a:solidFill>
              </a:defRPr>
            </a:pPr>
            <a:r>
              <a:t>Input Data Summary</a:t>
            </a:r>
          </a:p>
          <a:p>
            <a:pPr algn="l">
              <a:spcBef>
                <a:spcPts val="1000"/>
              </a:spcBef>
              <a:defRPr sz="1400" b="0">
                <a:solidFill>
                  <a:srgbClr val="94A3B8"/>
                </a:solidFill>
                <a:latin typeface="Calibri"/>
              </a:defRPr>
            </a:pPr>
            <a:r>
              <a:t>Genome:</a:t>
            </a:r>
          </a:p>
          <a:p>
            <a:pPr algn="l">
              <a:spcBef>
                <a:spcPts val="200"/>
              </a:spcBef>
              <a:defRPr sz="1600" b="1">
                <a:solidFill>
                  <a:srgbClr val="FFFFFF"/>
                </a:solidFill>
                <a:latin typeface="Calibri"/>
              </a:defRPr>
            </a:pPr>
            <a:r>
              <a:t>  4,411,532 bp</a:t>
            </a:r>
          </a:p>
          <a:p>
            <a:pPr algn="l">
              <a:spcBef>
                <a:spcPts val="1000"/>
              </a:spcBef>
              <a:defRPr sz="1400" b="0">
                <a:solidFill>
                  <a:srgbClr val="94A3B8"/>
                </a:solidFill>
                <a:latin typeface="Calibri"/>
              </a:defRPr>
            </a:pPr>
            <a:r>
              <a:t>Genes:</a:t>
            </a:r>
          </a:p>
          <a:p>
            <a:pPr algn="l">
              <a:spcBef>
                <a:spcPts val="200"/>
              </a:spcBef>
              <a:defRPr sz="1600" b="1">
                <a:solidFill>
                  <a:srgbClr val="FFFFFF"/>
                </a:solidFill>
                <a:latin typeface="Calibri"/>
              </a:defRPr>
            </a:pPr>
            <a:r>
              <a:t>  ~4,000</a:t>
            </a:r>
          </a:p>
          <a:p>
            <a:pPr algn="l">
              <a:spcBef>
                <a:spcPts val="1000"/>
              </a:spcBef>
              <a:defRPr sz="1400" b="0">
                <a:solidFill>
                  <a:srgbClr val="94A3B8"/>
                </a:solidFill>
                <a:latin typeface="Calibri"/>
              </a:defRPr>
            </a:pPr>
            <a:r>
              <a:t>Promoters extracted:</a:t>
            </a:r>
          </a:p>
          <a:p>
            <a:pPr algn="l">
              <a:spcBef>
                <a:spcPts val="200"/>
              </a:spcBef>
              <a:defRPr sz="1600" b="1">
                <a:solidFill>
                  <a:srgbClr val="FFFFFF"/>
                </a:solidFill>
                <a:latin typeface="Calibri"/>
              </a:defRPr>
            </a:pPr>
            <a:r>
              <a:t>  2,351</a:t>
            </a:r>
          </a:p>
          <a:p>
            <a:pPr algn="l">
              <a:spcBef>
                <a:spcPts val="1000"/>
              </a:spcBef>
              <a:defRPr sz="1400" b="0">
                <a:solidFill>
                  <a:srgbClr val="94A3B8"/>
                </a:solidFill>
                <a:latin typeface="Calibri"/>
              </a:defRPr>
            </a:pPr>
            <a:r>
              <a:t>Candidate (Mce3R):</a:t>
            </a:r>
          </a:p>
          <a:p>
            <a:pPr algn="l">
              <a:spcBef>
                <a:spcPts val="200"/>
              </a:spcBef>
              <a:defRPr sz="1600" b="1">
                <a:solidFill>
                  <a:srgbClr val="FFFFFF"/>
                </a:solidFill>
                <a:latin typeface="Calibri"/>
              </a:defRPr>
            </a:pPr>
            <a:r>
              <a:t>  9 sequences</a:t>
            </a:r>
          </a:p>
          <a:p>
            <a:pPr algn="l">
              <a:spcBef>
                <a:spcPts val="1000"/>
              </a:spcBef>
              <a:defRPr sz="1400" b="0">
                <a:solidFill>
                  <a:srgbClr val="94A3B8"/>
                </a:solidFill>
                <a:latin typeface="Calibri"/>
              </a:defRPr>
            </a:pPr>
            <a:r>
              <a:t>Orthologues:</a:t>
            </a:r>
          </a:p>
          <a:p>
            <a:pPr algn="l">
              <a:spcBef>
                <a:spcPts val="200"/>
              </a:spcBef>
              <a:defRPr sz="1600" b="1">
                <a:solidFill>
                  <a:srgbClr val="FFFFFF"/>
                </a:solidFill>
                <a:latin typeface="Calibri"/>
              </a:defRPr>
            </a:pPr>
            <a:r>
              <a:t>  3 species</a:t>
            </a:r>
          </a:p>
          <a:p>
            <a:pPr algn="l">
              <a:spcBef>
                <a:spcPts val="1000"/>
              </a:spcBef>
              <a:defRPr sz="1400" b="0">
                <a:solidFill>
                  <a:srgbClr val="94A3B8"/>
                </a:solidFill>
                <a:latin typeface="Calibri"/>
              </a:defRPr>
            </a:pPr>
            <a:r>
              <a:t>GC content:</a:t>
            </a:r>
          </a:p>
          <a:p>
            <a:pPr algn="l">
              <a:spcBef>
                <a:spcPts val="200"/>
              </a:spcBef>
              <a:defRPr sz="1600" b="1">
                <a:solidFill>
                  <a:srgbClr val="FFFFFF"/>
                </a:solidFill>
                <a:latin typeface="Calibri"/>
              </a:defRPr>
            </a:pPr>
            <a:r>
              <a:t>  65.6%</a:t>
            </a:r>
          </a:p>
        </p:txBody>
      </p:sp>
      <p:sp>
        <p:nvSpPr>
          <p:cNvPr id="12" name="Rounded Rectangle 11"/>
          <p:cNvSpPr/>
          <p:nvPr/>
        </p:nvSpPr>
        <p:spPr>
          <a:xfrm>
            <a:off x="6858000" y="5577840"/>
            <a:ext cx="4572000" cy="91440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F59E0B"/>
                </a:solidFill>
              </a:defRPr>
            </a:pPr>
            <a:r>
              <a:t>Scripts Used</a:t>
            </a:r>
          </a:p>
          <a:p>
            <a:pPr algn="l">
              <a:spcBef>
                <a:spcPts val="200"/>
              </a:spcBef>
              <a:defRPr sz="900" b="0">
                <a:solidFill>
                  <a:srgbClr val="E2E8F0"/>
                </a:solidFill>
                <a:latin typeface="Calibri"/>
              </a:defRPr>
            </a:pPr>
            <a:r>
              <a:t>  download_genome.py — fetch H37Rv GenBank from NCBI Entrez</a:t>
            </a:r>
          </a:p>
          <a:p>
            <a:pPr algn="l">
              <a:spcBef>
                <a:spcPts val="100"/>
              </a:spcBef>
              <a:defRPr sz="900" b="0">
                <a:solidFill>
                  <a:srgbClr val="E2E8F0"/>
                </a:solidFill>
                <a:latin typeface="Calibri"/>
              </a:defRPr>
            </a:pPr>
            <a:r>
              <a:t>  extract_promoters.py — extract 300 bp upstream of each CDS</a:t>
            </a:r>
          </a:p>
          <a:p>
            <a:pPr algn="l">
              <a:spcBef>
                <a:spcPts val="100"/>
              </a:spcBef>
              <a:defRPr sz="900" b="0">
                <a:solidFill>
                  <a:srgbClr val="E2E8F0"/>
                </a:solidFill>
                <a:latin typeface="Calibri"/>
              </a:defRPr>
            </a:pPr>
            <a:r>
              <a:t>  fetch_sequences.py — download orthologs + tier-specific seqs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Step 2 — MEME Motif Discovery (Detail)</a:t>
            </a:r>
          </a:p>
        </p:txBody>
      </p:sp>
      <p:sp>
        <p:nvSpPr>
          <p:cNvPr id="3" name="Rectangle 2"/>
          <p:cNvSpPr/>
          <p:nvPr/>
        </p:nvSpPr>
        <p:spPr>
          <a:xfrm>
            <a:off x="731520" y="1005840"/>
            <a:ext cx="45720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35100"/>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1371600"/>
            <a:ext cx="5029200" cy="365760"/>
          </a:xfrm>
          <a:prstGeom prst="rect">
            <a:avLst/>
          </a:prstGeom>
          <a:noFill/>
        </p:spPr>
        <p:txBody>
          <a:bodyPr wrap="square">
            <a:spAutoFit/>
          </a:bodyPr>
          <a:lstStyle/>
          <a:p>
            <a:pPr algn="l">
              <a:defRPr sz="1400" b="0">
                <a:solidFill>
                  <a:srgbClr val="E2E8F0"/>
                </a:solidFill>
                <a:latin typeface="Calibri"/>
              </a:defRPr>
            </a:pPr>
            <a:r>
              <a:t>MEME finds conserved DNA patterns WITHOUT prior knowledge (de novo)</a:t>
            </a:r>
          </a:p>
        </p:txBody>
      </p:sp>
      <p:sp>
        <p:nvSpPr>
          <p:cNvPr id="6" name="Rounded Rectangle 5"/>
          <p:cNvSpPr/>
          <p:nvPr/>
        </p:nvSpPr>
        <p:spPr>
          <a:xfrm>
            <a:off x="731520" y="1819148"/>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1755648"/>
            <a:ext cx="5029200" cy="365760"/>
          </a:xfrm>
          <a:prstGeom prst="rect">
            <a:avLst/>
          </a:prstGeom>
          <a:noFill/>
        </p:spPr>
        <p:txBody>
          <a:bodyPr wrap="square">
            <a:spAutoFit/>
          </a:bodyPr>
          <a:lstStyle/>
          <a:p>
            <a:pPr algn="l">
              <a:defRPr sz="1400" b="0">
                <a:solidFill>
                  <a:srgbClr val="E2E8F0"/>
                </a:solidFill>
                <a:latin typeface="Calibri"/>
              </a:defRPr>
            </a:pPr>
            <a:r>
              <a:t>Input: 9 candidate promoters (known Mce3R-regulated genes)</a:t>
            </a:r>
          </a:p>
        </p:txBody>
      </p:sp>
      <p:sp>
        <p:nvSpPr>
          <p:cNvPr id="8" name="Rounded Rectangle 7"/>
          <p:cNvSpPr/>
          <p:nvPr/>
        </p:nvSpPr>
        <p:spPr>
          <a:xfrm>
            <a:off x="731520" y="2203196"/>
            <a:ext cx="91440" cy="9144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2139696"/>
            <a:ext cx="5029200" cy="365760"/>
          </a:xfrm>
          <a:prstGeom prst="rect">
            <a:avLst/>
          </a:prstGeom>
          <a:noFill/>
        </p:spPr>
        <p:txBody>
          <a:bodyPr wrap="square">
            <a:spAutoFit/>
          </a:bodyPr>
          <a:lstStyle/>
          <a:p>
            <a:pPr algn="l">
              <a:defRPr sz="1400" b="0">
                <a:solidFill>
                  <a:srgbClr val="E2E8F0"/>
                </a:solidFill>
                <a:latin typeface="Calibri"/>
              </a:defRPr>
            </a:pPr>
            <a:r>
              <a:t>Width range: 20–30 bp  (set by -minw 20 -maxw 30)</a:t>
            </a:r>
          </a:p>
        </p:txBody>
      </p:sp>
      <p:sp>
        <p:nvSpPr>
          <p:cNvPr id="10" name="Rounded Rectangle 9"/>
          <p:cNvSpPr/>
          <p:nvPr/>
        </p:nvSpPr>
        <p:spPr>
          <a:xfrm>
            <a:off x="731520" y="2615184"/>
            <a:ext cx="5303520" cy="246888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Expectation Maximization Algorithm</a:t>
            </a:r>
          </a:p>
          <a:p>
            <a:pPr algn="l">
              <a:spcBef>
                <a:spcPts val="600"/>
              </a:spcBef>
              <a:defRPr sz="1200" b="0">
                <a:solidFill>
                  <a:srgbClr val="E2E8F0"/>
                </a:solidFill>
                <a:latin typeface="Calibri"/>
              </a:defRPr>
            </a:pPr>
            <a:r>
              <a:t>  E-step:  Given current PWM, compute probability each position is a motif site</a:t>
            </a:r>
          </a:p>
          <a:p>
            <a:pPr algn="l">
              <a:spcBef>
                <a:spcPts val="600"/>
              </a:spcBef>
              <a:defRPr sz="1200" b="0">
                <a:solidFill>
                  <a:srgbClr val="E2E8F0"/>
                </a:solidFill>
                <a:latin typeface="Calibri"/>
              </a:defRPr>
            </a:pPr>
            <a:r>
              <a:t>  M-step:  Re-estimate PWM from weighted alignment of probable sites</a:t>
            </a:r>
          </a:p>
          <a:p>
            <a:pPr algn="l">
              <a:spcBef>
                <a:spcPts val="600"/>
              </a:spcBef>
              <a:defRPr sz="1200" b="0">
                <a:solidFill>
                  <a:srgbClr val="E2E8F0"/>
                </a:solidFill>
                <a:latin typeface="Calibri"/>
              </a:defRPr>
            </a:pPr>
            <a:r>
              <a:t>  Iterate:  Repeat E→M until convergence (max ΔLL &lt; threshold)</a:t>
            </a:r>
          </a:p>
          <a:p>
            <a:pPr algn="l">
              <a:spcBef>
                <a:spcPts val="600"/>
              </a:spcBef>
              <a:defRPr sz="1200" b="0">
                <a:solidFill>
                  <a:srgbClr val="E2E8F0"/>
                </a:solidFill>
                <a:latin typeface="Calibri"/>
              </a:defRPr>
            </a:pPr>
            <a:r>
              <a:t>  Output:  Position Weight Matrix (PWM) — P(base | position)</a:t>
            </a:r>
          </a:p>
        </p:txBody>
      </p:sp>
      <p:sp>
        <p:nvSpPr>
          <p:cNvPr id="11" name="Rounded Rectangle 10"/>
          <p:cNvSpPr/>
          <p:nvPr/>
        </p:nvSpPr>
        <p:spPr>
          <a:xfrm>
            <a:off x="731520" y="5266944"/>
            <a:ext cx="5303520" cy="118872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Two MEME Modes Run Sequentially</a:t>
            </a:r>
          </a:p>
          <a:p>
            <a:pPr algn="l">
              <a:spcBef>
                <a:spcPts val="600"/>
              </a:spcBef>
              <a:defRPr sz="1200" b="0">
                <a:solidFill>
                  <a:srgbClr val="E2E8F0"/>
                </a:solidFill>
                <a:latin typeface="Calibri"/>
              </a:defRPr>
            </a:pPr>
            <a:r>
              <a:t>  ZOOPS (-mod zoops): Zero or One site Per Sequence — standard</a:t>
            </a:r>
          </a:p>
          <a:p>
            <a:pPr algn="l">
              <a:spcBef>
                <a:spcPts val="400"/>
              </a:spcBef>
              <a:defRPr sz="1200" b="0">
                <a:solidFill>
                  <a:srgbClr val="E2E8F0"/>
                </a:solidFill>
                <a:latin typeface="Calibri"/>
              </a:defRPr>
            </a:pPr>
            <a:r>
              <a:t>  ANR   (-mod anr):  Any Number of Repeats — captures both half-sites</a:t>
            </a:r>
          </a:p>
        </p:txBody>
      </p:sp>
      <p:pic>
        <p:nvPicPr>
          <p:cNvPr id="12" name="Picture 11" descr="motif_logo.png"/>
          <p:cNvPicPr>
            <a:picLocks noChangeAspect="1"/>
          </p:cNvPicPr>
          <p:nvPr/>
        </p:nvPicPr>
        <p:blipFill>
          <a:blip r:embed="rId2"/>
          <a:stretch>
            <a:fillRect/>
          </a:stretch>
        </p:blipFill>
        <p:spPr>
          <a:xfrm>
            <a:off x="6400800" y="1188720"/>
            <a:ext cx="5303520" cy="2241789"/>
          </a:xfrm>
          <a:prstGeom prst="rect">
            <a:avLst/>
          </a:prstGeom>
        </p:spPr>
      </p:pic>
      <p:sp>
        <p:nvSpPr>
          <p:cNvPr id="13" name="Rounded Rectangle 12"/>
          <p:cNvSpPr/>
          <p:nvPr/>
        </p:nvSpPr>
        <p:spPr>
          <a:xfrm>
            <a:off x="6400800" y="4389120"/>
            <a:ext cx="5303520" cy="201168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Script: run_meme.py</a:t>
            </a:r>
          </a:p>
          <a:p>
            <a:pPr algn="l">
              <a:spcBef>
                <a:spcPts val="300"/>
              </a:spcBef>
              <a:defRPr sz="1000" b="0">
                <a:solidFill>
                  <a:srgbClr val="E2E8F0"/>
                </a:solidFill>
                <a:latin typeface="Calibri"/>
              </a:defRPr>
            </a:pPr>
            <a:r>
              <a:t>  build_meme_command() — constructs MEME CLI with -minw/-maxw/-mod flags</a:t>
            </a:r>
          </a:p>
          <a:p>
            <a:pPr algn="l">
              <a:spcBef>
                <a:spcPts val="200"/>
              </a:spcBef>
              <a:defRPr sz="1000" b="0">
                <a:solidFill>
                  <a:srgbClr val="E2E8F0"/>
                </a:solidFill>
                <a:latin typeface="Calibri"/>
              </a:defRPr>
            </a:pPr>
            <a:r>
              <a:t>  run_meme() — executes MEME subprocess, detects availability via shutil.which</a:t>
            </a:r>
          </a:p>
          <a:p>
            <a:pPr algn="l">
              <a:spcBef>
                <a:spcPts val="200"/>
              </a:spcBef>
              <a:defRPr sz="1000" b="0">
                <a:solidFill>
                  <a:srgbClr val="E2E8F0"/>
                </a:solidFill>
                <a:latin typeface="Calibri"/>
              </a:defRPr>
            </a:pPr>
            <a:r>
              <a:t>  simulate_meme_output() — fallback: writes synthetic PWM in MEME v4 format</a:t>
            </a:r>
          </a:p>
          <a:p>
            <a:pPr algn="l">
              <a:spcBef>
                <a:spcPts val="200"/>
              </a:spcBef>
              <a:defRPr sz="1000" b="0">
                <a:solidFill>
                  <a:srgbClr val="E2E8F0"/>
                </a:solidFill>
                <a:latin typeface="Calibri"/>
              </a:defRPr>
            </a:pPr>
            <a:r>
              <a:t>  simulate_asymmetric_meme_output() — creates asymmetric operator PWM</a:t>
            </a:r>
          </a:p>
          <a:p>
            <a:pPr algn="l">
              <a:spcBef>
                <a:spcPts val="200"/>
              </a:spcBef>
              <a:defRPr sz="1000" b="0">
                <a:solidFill>
                  <a:srgbClr val="E2E8F0"/>
                </a:solidFill>
                <a:latin typeface="Calibri"/>
              </a:defRPr>
            </a:pPr>
            <a:r>
              <a:t>  parse_meme_motif() — parses meme.txt → PWM matrix + metadata dict</a:t>
            </a:r>
          </a:p>
          <a:p>
            <a:pPr algn="l">
              <a:spcBef>
                <a:spcPts val="300"/>
              </a:spcBef>
              <a:defRPr sz="1000" b="0">
                <a:solidFill>
                  <a:srgbClr val="94A3B8"/>
                </a:solidFill>
                <a:latin typeface="Calibri"/>
              </a:defRPr>
            </a:pPr>
            <a:r>
              <a:t>  Output: meme.txt (2 motifs: DOWNSTREAM + UPSTREAM)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Step 3 — FIMO Log-Odds Scanning (Detail)</a:t>
            </a:r>
          </a:p>
        </p:txBody>
      </p:sp>
      <p:sp>
        <p:nvSpPr>
          <p:cNvPr id="3" name="Rectangle 2"/>
          <p:cNvSpPr/>
          <p:nvPr/>
        </p:nvSpPr>
        <p:spPr>
          <a:xfrm>
            <a:off x="731520" y="1005840"/>
            <a:ext cx="45720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5303520" cy="201168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Log-Odds Scoring Formula</a:t>
            </a:r>
          </a:p>
          <a:p>
            <a:pPr algn="l">
              <a:spcBef>
                <a:spcPts val="600"/>
              </a:spcBef>
              <a:defRPr sz="400" b="0">
                <a:solidFill>
                  <a:srgbClr val="10274A"/>
                </a:solidFill>
                <a:latin typeface="Calibri"/>
              </a:defRPr>
            </a:pPr>
          </a:p>
          <a:p>
            <a:pPr algn="l">
              <a:spcBef>
                <a:spcPts val="400"/>
              </a:spcBef>
              <a:defRPr sz="1200" b="0">
                <a:solidFill>
                  <a:srgbClr val="E2E8F0"/>
                </a:solidFill>
                <a:latin typeface="Calibri"/>
              </a:defRPr>
            </a:pPr>
            <a:r>
              <a:t>  For each window position w of length W:</a:t>
            </a:r>
          </a:p>
          <a:p>
            <a:pPr algn="l">
              <a:spcBef>
                <a:spcPts val="600"/>
              </a:spcBef>
              <a:defRPr sz="1300" b="0">
                <a:solidFill>
                  <a:srgbClr val="F59E0B"/>
                </a:solidFill>
                <a:latin typeface="Calibri"/>
              </a:defRPr>
            </a:pPr>
            <a:r>
              <a:t>    Score(w) = Σᵢ log₂( PWM[i, base_i] / bg[base_i] )</a:t>
            </a:r>
          </a:p>
          <a:p>
            <a:pPr algn="l">
              <a:spcBef>
                <a:spcPts val="600"/>
              </a:spcBef>
              <a:defRPr sz="400" b="0">
                <a:solidFill>
                  <a:srgbClr val="10274A"/>
                </a:solidFill>
                <a:latin typeface="Calibri"/>
              </a:defRPr>
            </a:pPr>
          </a:p>
          <a:p>
            <a:pPr algn="l">
              <a:spcBef>
                <a:spcPts val="200"/>
              </a:spcBef>
              <a:defRPr sz="1100" b="0">
                <a:solidFill>
                  <a:srgbClr val="94A3B8"/>
                </a:solidFill>
                <a:latin typeface="Calibri"/>
              </a:defRPr>
            </a:pPr>
            <a:r>
              <a:t>  PWM[i, b] = probability of base b at motif position i</a:t>
            </a:r>
          </a:p>
          <a:p>
            <a:pPr algn="l">
              <a:spcBef>
                <a:spcPts val="200"/>
              </a:spcBef>
              <a:defRPr sz="1100" b="0">
                <a:solidFill>
                  <a:srgbClr val="94A3B8"/>
                </a:solidFill>
                <a:latin typeface="Calibri"/>
              </a:defRPr>
            </a:pPr>
            <a:r>
              <a:t>  bg[b]     = genome background frequency of base b</a:t>
            </a:r>
          </a:p>
          <a:p>
            <a:pPr algn="l">
              <a:spcBef>
                <a:spcPts val="400"/>
              </a:spcBef>
              <a:defRPr sz="1100" b="0">
                <a:solidFill>
                  <a:srgbClr val="E2E8F0"/>
                </a:solidFill>
                <a:latin typeface="Calibri"/>
              </a:defRPr>
            </a:pPr>
            <a:r>
              <a:t>  Positive score → sequence more likely under motif than by chance</a:t>
            </a:r>
          </a:p>
        </p:txBody>
      </p:sp>
      <p:sp>
        <p:nvSpPr>
          <p:cNvPr id="5" name="Rounded Rectangle 4"/>
          <p:cNvSpPr/>
          <p:nvPr/>
        </p:nvSpPr>
        <p:spPr>
          <a:xfrm>
            <a:off x="731520" y="3474720"/>
            <a:ext cx="5303520" cy="118872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M. tuberculosis Background Frequencies</a:t>
            </a:r>
          </a:p>
          <a:p>
            <a:pPr algn="l">
              <a:spcBef>
                <a:spcPts val="800"/>
              </a:spcBef>
              <a:defRPr sz="1400" b="0">
                <a:solidFill>
                  <a:srgbClr val="FFFFFF"/>
                </a:solidFill>
                <a:latin typeface="Calibri"/>
              </a:defRPr>
            </a:pPr>
            <a:r>
              <a:t>  A: 0.175    C: 0.325    G: 0.325    T: 0.175</a:t>
            </a:r>
          </a:p>
          <a:p>
            <a:pPr algn="l">
              <a:spcBef>
                <a:spcPts val="400"/>
              </a:spcBef>
              <a:defRPr sz="1200" b="0">
                <a:solidFill>
                  <a:srgbClr val="94A3B8"/>
                </a:solidFill>
                <a:latin typeface="Calibri"/>
              </a:defRPr>
            </a:pPr>
            <a:r>
              <a:t>  GC = 65% — scoring must account for this bias</a:t>
            </a:r>
          </a:p>
        </p:txBody>
      </p:sp>
      <p:sp>
        <p:nvSpPr>
          <p:cNvPr id="6" name="Rounded Rectangle 5"/>
          <p:cNvSpPr/>
          <p:nvPr/>
        </p:nvSpPr>
        <p:spPr>
          <a:xfrm>
            <a:off x="731520" y="4846320"/>
            <a:ext cx="5303520" cy="13716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P-Value &amp; Scanning Parameters</a:t>
            </a:r>
          </a:p>
          <a:p>
            <a:pPr algn="l">
              <a:spcBef>
                <a:spcPts val="600"/>
              </a:spcBef>
              <a:defRPr sz="1200" b="0">
                <a:solidFill>
                  <a:srgbClr val="E2E8F0"/>
                </a:solidFill>
                <a:latin typeface="Calibri"/>
              </a:defRPr>
            </a:pPr>
            <a:r>
              <a:t>  P-value cutoff: &lt; 0.0001 (1 in 10,000)</a:t>
            </a:r>
          </a:p>
          <a:p>
            <a:pPr algn="l">
              <a:spcBef>
                <a:spcPts val="300"/>
              </a:spcBef>
              <a:defRPr sz="1200" b="0">
                <a:solidFill>
                  <a:srgbClr val="E2E8F0"/>
                </a:solidFill>
                <a:latin typeface="Calibri"/>
              </a:defRPr>
            </a:pPr>
            <a:r>
              <a:t>  Empirical: fraction of random windows scoring ≥ observed</a:t>
            </a:r>
          </a:p>
          <a:p>
            <a:pPr algn="l">
              <a:spcBef>
                <a:spcPts val="300"/>
              </a:spcBef>
              <a:defRPr sz="1200" b="0">
                <a:solidFill>
                  <a:srgbClr val="E2E8F0"/>
                </a:solidFill>
                <a:latin typeface="Calibri"/>
              </a:defRPr>
            </a:pPr>
            <a:r>
              <a:t>  Both strands scanned (+ and −)</a:t>
            </a:r>
          </a:p>
          <a:p>
            <a:pPr algn="l">
              <a:spcBef>
                <a:spcPts val="300"/>
              </a:spcBef>
              <a:defRPr sz="1200" b="0">
                <a:solidFill>
                  <a:srgbClr val="E2E8F0"/>
                </a:solidFill>
                <a:latin typeface="Calibri"/>
              </a:defRPr>
            </a:pPr>
            <a:r>
              <a:t>  Two models: palindromic + asymmetric → merged w/ dedup</a:t>
            </a:r>
          </a:p>
        </p:txBody>
      </p:sp>
      <p:sp>
        <p:nvSpPr>
          <p:cNvPr id="7" name="Rounded Rectangle 6"/>
          <p:cNvSpPr/>
          <p:nvPr/>
        </p:nvSpPr>
        <p:spPr>
          <a:xfrm>
            <a:off x="6400800" y="1188720"/>
            <a:ext cx="5303520" cy="228600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Script: run_fimo.py</a:t>
            </a:r>
          </a:p>
          <a:p>
            <a:pPr algn="l">
              <a:spcBef>
                <a:spcPts val="300"/>
              </a:spcBef>
              <a:defRPr sz="1000" b="0">
                <a:solidFill>
                  <a:srgbClr val="E2E8F0"/>
                </a:solidFill>
                <a:latin typeface="Calibri"/>
              </a:defRPr>
            </a:pPr>
            <a:r>
              <a:t>  pwm_to_log_odds() — converts PWM probabilities to log₂ scoring matrix</a:t>
            </a:r>
          </a:p>
          <a:p>
            <a:pPr algn="l">
              <a:spcBef>
                <a:spcPts val="200"/>
              </a:spcBef>
              <a:defRPr sz="1000" b="0">
                <a:solidFill>
                  <a:srgbClr val="E2E8F0"/>
                </a:solidFill>
                <a:latin typeface="Calibri"/>
              </a:defRPr>
            </a:pPr>
            <a:r>
              <a:t>  score_window() — scores one DNA window using log-odds matrix</a:t>
            </a:r>
          </a:p>
          <a:p>
            <a:pPr algn="l">
              <a:spcBef>
                <a:spcPts val="200"/>
              </a:spcBef>
              <a:defRPr sz="1000" b="0">
                <a:solidFill>
                  <a:srgbClr val="E2E8F0"/>
                </a:solidFill>
                <a:latin typeface="Calibri"/>
              </a:defRPr>
            </a:pPr>
            <a:r>
              <a:t>  score_sequence_with_pwm() — scans both strands of full sequence</a:t>
            </a:r>
          </a:p>
          <a:p>
            <a:pPr algn="l">
              <a:spcBef>
                <a:spcPts val="200"/>
              </a:spcBef>
              <a:defRPr sz="1000" b="0">
                <a:solidFill>
                  <a:srgbClr val="E2E8F0"/>
                </a:solidFill>
                <a:latin typeface="Calibri"/>
              </a:defRPr>
            </a:pPr>
            <a:r>
              <a:t>  compute_background_score_distribution() — builds empirical null (10K samples)</a:t>
            </a:r>
          </a:p>
          <a:p>
            <a:pPr algn="l">
              <a:spcBef>
                <a:spcPts val="200"/>
              </a:spcBef>
              <a:defRPr sz="1000" b="0">
                <a:solidFill>
                  <a:srgbClr val="E2E8F0"/>
                </a:solidFill>
                <a:latin typeface="Calibri"/>
              </a:defRPr>
            </a:pPr>
            <a:r>
              <a:t>  compute_empirical_pvalue() — p = fraction of null scores ≥ observed</a:t>
            </a:r>
          </a:p>
          <a:p>
            <a:pPr algn="l">
              <a:spcBef>
                <a:spcPts val="200"/>
              </a:spcBef>
              <a:defRPr sz="1000" b="0">
                <a:solidFill>
                  <a:srgbClr val="E2E8F0"/>
                </a:solidFill>
                <a:latin typeface="Calibri"/>
              </a:defRPr>
            </a:pPr>
            <a:r>
              <a:t>  simulate_fimo_scan() — full Python fallback producing canonical fimo.tsv</a:t>
            </a:r>
          </a:p>
          <a:p>
            <a:pPr algn="l">
              <a:spcBef>
                <a:spcPts val="200"/>
              </a:spcBef>
              <a:defRPr sz="1000" b="0">
                <a:solidFill>
                  <a:srgbClr val="E2E8F0"/>
                </a:solidFill>
                <a:latin typeface="Calibri"/>
              </a:defRPr>
            </a:pPr>
            <a:r>
              <a:t>  run_fimo_asymmetric() — separate scan with asymmetric Mce3R PWM</a:t>
            </a:r>
          </a:p>
        </p:txBody>
      </p:sp>
      <p:pic>
        <p:nvPicPr>
          <p:cNvPr id="8" name="Picture 7" descr="score_distribution.png"/>
          <p:cNvPicPr>
            <a:picLocks noChangeAspect="1"/>
          </p:cNvPicPr>
          <p:nvPr/>
        </p:nvPicPr>
        <p:blipFill>
          <a:blip r:embed="rId2"/>
          <a:stretch>
            <a:fillRect/>
          </a:stretch>
        </p:blipFill>
        <p:spPr>
          <a:xfrm>
            <a:off x="6400800" y="3657600"/>
            <a:ext cx="5303520" cy="353358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2800" b="1">
                <a:solidFill>
                  <a:srgbClr val="FFFFFF"/>
                </a:solidFill>
                <a:latin typeface="Trebuchet MS"/>
              </a:defRPr>
            </a:pPr>
            <a:r>
              <a:t>Step 4a — Palindrome Symmetry Scoring (Detail)</a:t>
            </a:r>
          </a:p>
        </p:txBody>
      </p:sp>
      <p:sp>
        <p:nvSpPr>
          <p:cNvPr id="3" name="Rectangle 2"/>
          <p:cNvSpPr/>
          <p:nvPr/>
        </p:nvSpPr>
        <p:spPr>
          <a:xfrm>
            <a:off x="731520" y="1005840"/>
            <a:ext cx="45720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280160"/>
            <a:ext cx="5303520" cy="18288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Palindrome Score Formula</a:t>
            </a:r>
          </a:p>
          <a:p>
            <a:pPr algn="l">
              <a:spcBef>
                <a:spcPts val="600"/>
              </a:spcBef>
              <a:defRPr sz="400" b="0">
                <a:solidFill>
                  <a:srgbClr val="10274A"/>
                </a:solidFill>
                <a:latin typeface="Calibri"/>
              </a:defRPr>
            </a:pPr>
          </a:p>
          <a:p>
            <a:pPr algn="l">
              <a:spcBef>
                <a:spcPts val="400"/>
              </a:spcBef>
              <a:defRPr sz="1200" b="0">
                <a:solidFill>
                  <a:srgbClr val="E2E8F0"/>
                </a:solidFill>
                <a:latin typeface="Calibri"/>
              </a:defRPr>
            </a:pPr>
            <a:r>
              <a:t>  Split matched sequence into left_half and right_half</a:t>
            </a:r>
          </a:p>
          <a:p>
            <a:pPr algn="l">
              <a:spcBef>
                <a:spcPts val="300"/>
              </a:spcBef>
              <a:defRPr sz="1200" b="0">
                <a:solidFill>
                  <a:srgbClr val="E2E8F0"/>
                </a:solidFill>
                <a:latin typeface="Calibri"/>
              </a:defRPr>
            </a:pPr>
            <a:r>
              <a:t>  right_rc = reverse_complement(right_half)</a:t>
            </a:r>
          </a:p>
          <a:p>
            <a:pPr algn="l">
              <a:spcBef>
                <a:spcPts val="300"/>
              </a:spcBef>
              <a:defRPr sz="1200" b="0">
                <a:solidFill>
                  <a:srgbClr val="E2E8F0"/>
                </a:solidFill>
                <a:latin typeface="Calibri"/>
              </a:defRPr>
            </a:pPr>
            <a:r>
              <a:t>  hamming_dist = # mismatches between left_half and right_rc</a:t>
            </a:r>
          </a:p>
          <a:p>
            <a:pPr algn="l">
              <a:spcBef>
                <a:spcPts val="600"/>
              </a:spcBef>
              <a:defRPr sz="1300" b="0">
                <a:solidFill>
                  <a:srgbClr val="F59E0B"/>
                </a:solidFill>
                <a:latin typeface="Calibri"/>
              </a:defRPr>
            </a:pPr>
            <a:r>
              <a:t>  palindrome_score = 1 − (hamming_dist / half_length)</a:t>
            </a:r>
          </a:p>
        </p:txBody>
      </p:sp>
      <p:sp>
        <p:nvSpPr>
          <p:cNvPr id="5" name="Rounded Rectangle 4"/>
          <p:cNvSpPr/>
          <p:nvPr/>
        </p:nvSpPr>
        <p:spPr>
          <a:xfrm>
            <a:off x="731520" y="3291840"/>
            <a:ext cx="5303520" cy="228600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Interpretation Ranges</a:t>
            </a:r>
          </a:p>
          <a:p>
            <a:pPr algn="l">
              <a:spcBef>
                <a:spcPts val="600"/>
              </a:spcBef>
              <a:defRPr sz="1200" b="1">
                <a:solidFill>
                  <a:srgbClr val="EF4444"/>
                </a:solidFill>
                <a:latin typeface="Calibri"/>
              </a:defRPr>
            </a:pPr>
            <a:r>
              <a:t>  Score ≥ 0.85:</a:t>
            </a:r>
          </a:p>
          <a:p>
            <a:pPr algn="l">
              <a:spcBef>
                <a:spcPts val="100"/>
              </a:spcBef>
              <a:defRPr sz="1100" b="0">
                <a:solidFill>
                  <a:srgbClr val="94A3B8"/>
                </a:solidFill>
                <a:latin typeface="Calibri"/>
              </a:defRPr>
            </a:pPr>
            <a:r>
              <a:t>    likely_non_mce3r_tetr flag — classical TetR palindrome</a:t>
            </a:r>
          </a:p>
          <a:p>
            <a:pPr algn="l">
              <a:spcBef>
                <a:spcPts val="600"/>
              </a:spcBef>
              <a:defRPr sz="1200" b="1">
                <a:solidFill>
                  <a:srgbClr val="94A3B8"/>
                </a:solidFill>
                <a:latin typeface="Calibri"/>
              </a:defRPr>
            </a:pPr>
            <a:r>
              <a:t>  Score 0.6–0.85:</a:t>
            </a:r>
          </a:p>
          <a:p>
            <a:pPr algn="l">
              <a:spcBef>
                <a:spcPts val="100"/>
              </a:spcBef>
              <a:defRPr sz="1100" b="0">
                <a:solidFill>
                  <a:srgbClr val="94A3B8"/>
                </a:solidFill>
                <a:latin typeface="Calibri"/>
              </a:defRPr>
            </a:pPr>
            <a:r>
              <a:t>    ambiguous — could be either model</a:t>
            </a:r>
          </a:p>
          <a:p>
            <a:pPr algn="l">
              <a:spcBef>
                <a:spcPts val="600"/>
              </a:spcBef>
              <a:defRPr sz="1200" b="1">
                <a:solidFill>
                  <a:srgbClr val="22C55E"/>
                </a:solidFill>
                <a:latin typeface="Calibri"/>
              </a:defRPr>
            </a:pPr>
            <a:r>
              <a:t>  Score 0.3–0.65:</a:t>
            </a:r>
          </a:p>
          <a:p>
            <a:pPr algn="l">
              <a:spcBef>
                <a:spcPts val="100"/>
              </a:spcBef>
              <a:defRPr sz="1100" b="0">
                <a:solidFill>
                  <a:srgbClr val="94A3B8"/>
                </a:solidFill>
                <a:latin typeface="Calibri"/>
              </a:defRPr>
            </a:pPr>
            <a:r>
              <a:t>    EXPECTED Mce3R range — asymmetric operator</a:t>
            </a:r>
          </a:p>
          <a:p>
            <a:pPr algn="l">
              <a:spcBef>
                <a:spcPts val="600"/>
              </a:spcBef>
              <a:defRPr sz="1200" b="1">
                <a:solidFill>
                  <a:srgbClr val="E2E8F0"/>
                </a:solidFill>
                <a:latin typeface="Calibri"/>
              </a:defRPr>
            </a:pPr>
            <a:r>
              <a:t>  Score &lt; 0.3:</a:t>
            </a:r>
          </a:p>
          <a:p>
            <a:pPr algn="l">
              <a:spcBef>
                <a:spcPts val="100"/>
              </a:spcBef>
              <a:defRPr sz="1100" b="0">
                <a:solidFill>
                  <a:srgbClr val="94A3B8"/>
                </a:solidFill>
                <a:latin typeface="Calibri"/>
              </a:defRPr>
            </a:pPr>
            <a:r>
              <a:t>    fully asymmetric — strong nonpalindromic signature</a:t>
            </a:r>
          </a:p>
        </p:txBody>
      </p:sp>
      <p:sp>
        <p:nvSpPr>
          <p:cNvPr id="6" name="TextBox 5"/>
          <p:cNvSpPr txBox="1"/>
          <p:nvPr/>
        </p:nvSpPr>
        <p:spPr>
          <a:xfrm>
            <a:off x="731520" y="5760720"/>
            <a:ext cx="5303520" cy="457200"/>
          </a:xfrm>
          <a:prstGeom prst="rect">
            <a:avLst/>
          </a:prstGeom>
          <a:noFill/>
        </p:spPr>
        <p:txBody>
          <a:bodyPr wrap="square">
            <a:spAutoFit/>
          </a:bodyPr>
          <a:lstStyle/>
          <a:p>
            <a:pPr algn="l">
              <a:defRPr sz="1200" b="1">
                <a:solidFill>
                  <a:srgbClr val="F59E0B"/>
                </a:solidFill>
                <a:latin typeface="Calibri"/>
              </a:defRPr>
            </a:pPr>
            <a:r>
              <a:t>KEY: Standard TetR pipelines REQUIRE high palindrome scores.</a:t>
            </a:r>
            <a:br/>
            <a:r>
              <a:t>Our pipeline PENALIZES them — the opposite approach.</a:t>
            </a:r>
          </a:p>
        </p:txBody>
      </p:sp>
      <p:sp>
        <p:nvSpPr>
          <p:cNvPr id="7" name="Rounded Rectangle 6"/>
          <p:cNvSpPr/>
          <p:nvPr/>
        </p:nvSpPr>
        <p:spPr>
          <a:xfrm>
            <a:off x="6400800" y="1188720"/>
            <a:ext cx="5303520" cy="201168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Script: analyze_results.py</a:t>
            </a:r>
          </a:p>
          <a:p>
            <a:pPr algn="l">
              <a:spcBef>
                <a:spcPts val="300"/>
              </a:spcBef>
              <a:defRPr sz="1000" b="0">
                <a:solidFill>
                  <a:srgbClr val="E2E8F0"/>
                </a:solidFill>
                <a:latin typeface="Calibri"/>
              </a:defRPr>
            </a:pPr>
            <a:r>
              <a:t>  Loads FIMO TSV via pd.read_csv(sep='\t', comment='#')</a:t>
            </a:r>
          </a:p>
          <a:p>
            <a:pPr algn="l">
              <a:spcBef>
                <a:spcPts val="200"/>
              </a:spcBef>
              <a:defRPr sz="1000" b="0">
                <a:solidFill>
                  <a:srgbClr val="E2E8F0"/>
                </a:solidFill>
                <a:latin typeface="Calibri"/>
              </a:defRPr>
            </a:pPr>
            <a:r>
              <a:t>  Splits matched_sequence at midpoint into halves</a:t>
            </a:r>
          </a:p>
          <a:p>
            <a:pPr algn="l">
              <a:spcBef>
                <a:spcPts val="200"/>
              </a:spcBef>
              <a:defRPr sz="1000" b="0">
                <a:solidFill>
                  <a:srgbClr val="E2E8F0"/>
                </a:solidFill>
                <a:latin typeface="Calibri"/>
              </a:defRPr>
            </a:pPr>
            <a:r>
              <a:t>  Uses utils.reverse_complement() on right half</a:t>
            </a:r>
          </a:p>
          <a:p>
            <a:pPr algn="l">
              <a:spcBef>
                <a:spcPts val="200"/>
              </a:spcBef>
              <a:defRPr sz="1000" b="0">
                <a:solidFill>
                  <a:srgbClr val="E2E8F0"/>
                </a:solidFill>
                <a:latin typeface="Calibri"/>
              </a:defRPr>
            </a:pPr>
            <a:r>
              <a:t>  Hamming distance → palindrome_score column</a:t>
            </a:r>
          </a:p>
          <a:p>
            <a:pPr algn="l">
              <a:spcBef>
                <a:spcPts val="200"/>
              </a:spcBef>
              <a:defRPr sz="1000" b="0">
                <a:solidFill>
                  <a:srgbClr val="E2E8F0"/>
                </a:solidFill>
                <a:latin typeface="Calibri"/>
              </a:defRPr>
            </a:pPr>
            <a:r>
              <a:t>  Flags likely_non_mce3r_tetr if score ≥ 0.85</a:t>
            </a:r>
          </a:p>
        </p:txBody>
      </p:sp>
      <p:pic>
        <p:nvPicPr>
          <p:cNvPr id="8" name="Picture 7" descr="palindrome_scores.png"/>
          <p:cNvPicPr>
            <a:picLocks noChangeAspect="1"/>
          </p:cNvPicPr>
          <p:nvPr/>
        </p:nvPicPr>
        <p:blipFill>
          <a:blip r:embed="rId2"/>
          <a:stretch>
            <a:fillRect/>
          </a:stretch>
        </p:blipFill>
        <p:spPr>
          <a:xfrm>
            <a:off x="6400800" y="3383280"/>
            <a:ext cx="5303520" cy="36864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2800" b="1">
                <a:solidFill>
                  <a:srgbClr val="FFFFFF"/>
                </a:solidFill>
                <a:latin typeface="Trebuchet MS"/>
              </a:defRPr>
            </a:pPr>
            <a:r>
              <a:t>Step 4b — Site Architecture Classification (Detail)</a:t>
            </a:r>
          </a:p>
        </p:txBody>
      </p:sp>
      <p:sp>
        <p:nvSpPr>
          <p:cNvPr id="3" name="Rectangle 2"/>
          <p:cNvSpPr/>
          <p:nvPr/>
        </p:nvSpPr>
        <p:spPr>
          <a:xfrm>
            <a:off x="731520" y="1005840"/>
            <a:ext cx="45720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5486400" cy="41148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Architecture Classification Rules</a:t>
            </a:r>
          </a:p>
          <a:p>
            <a:pPr algn="l">
              <a:spcBef>
                <a:spcPts val="500"/>
              </a:spcBef>
              <a:defRPr sz="1100" b="1">
                <a:solidFill>
                  <a:srgbClr val="F59E0B"/>
                </a:solidFill>
                <a:latin typeface="Calibri"/>
              </a:defRPr>
            </a:pPr>
            <a:r>
              <a:t>  validated_paired_asymmetric</a:t>
            </a:r>
          </a:p>
          <a:p>
            <a:pPr algn="l">
              <a:spcBef>
                <a:spcPts val="100"/>
              </a:spcBef>
              <a:defRPr sz="1000" b="0">
                <a:solidFill>
                  <a:srgbClr val="94A3B8"/>
                </a:solidFill>
                <a:latin typeface="Calibri"/>
              </a:defRPr>
            </a:pPr>
            <a:r>
              <a:t>    Same strand, 40–65 bp gap  →  Priority: HIGHEST</a:t>
            </a:r>
          </a:p>
          <a:p>
            <a:pPr algn="l">
              <a:spcBef>
                <a:spcPts val="500"/>
              </a:spcBef>
              <a:defRPr sz="1100" b="1">
                <a:solidFill>
                  <a:srgbClr val="22C55E"/>
                </a:solidFill>
                <a:latin typeface="Calibri"/>
              </a:defRPr>
            </a:pPr>
            <a:r>
              <a:t>  tandem_asymmetric</a:t>
            </a:r>
          </a:p>
          <a:p>
            <a:pPr algn="l">
              <a:spcBef>
                <a:spcPts val="100"/>
              </a:spcBef>
              <a:defRPr sz="1000" b="0">
                <a:solidFill>
                  <a:srgbClr val="94A3B8"/>
                </a:solidFill>
                <a:latin typeface="Calibri"/>
              </a:defRPr>
            </a:pPr>
            <a:r>
              <a:t>    Same strand, 0–39 bp gap  →  Priority: High</a:t>
            </a:r>
          </a:p>
          <a:p>
            <a:pPr algn="l">
              <a:spcBef>
                <a:spcPts val="500"/>
              </a:spcBef>
              <a:defRPr sz="1100" b="1">
                <a:solidFill>
                  <a:srgbClr val="E2E8F0"/>
                </a:solidFill>
                <a:latin typeface="Calibri"/>
              </a:defRPr>
            </a:pPr>
            <a:r>
              <a:t>  direct_repeat</a:t>
            </a:r>
          </a:p>
          <a:p>
            <a:pPr algn="l">
              <a:spcBef>
                <a:spcPts val="100"/>
              </a:spcBef>
              <a:defRPr sz="1000" b="0">
                <a:solidFill>
                  <a:srgbClr val="94A3B8"/>
                </a:solidFill>
                <a:latin typeface="Calibri"/>
              </a:defRPr>
            </a:pPr>
            <a:r>
              <a:t>    Same strand, &gt;65 bp gap  →  Priority: Moderate</a:t>
            </a:r>
          </a:p>
          <a:p>
            <a:pPr algn="l">
              <a:spcBef>
                <a:spcPts val="500"/>
              </a:spcBef>
              <a:defRPr sz="1100" b="1">
                <a:solidFill>
                  <a:srgbClr val="94A3B8"/>
                </a:solidFill>
                <a:latin typeface="Calibri"/>
              </a:defRPr>
            </a:pPr>
            <a:r>
              <a:t>  convergent</a:t>
            </a:r>
          </a:p>
          <a:p>
            <a:pPr algn="l">
              <a:spcBef>
                <a:spcPts val="100"/>
              </a:spcBef>
              <a:defRPr sz="1000" b="0">
                <a:solidFill>
                  <a:srgbClr val="94A3B8"/>
                </a:solidFill>
                <a:latin typeface="Calibri"/>
              </a:defRPr>
            </a:pPr>
            <a:r>
              <a:t>    Opposite strands, head-to-head (→ ←)  →  Priority: Low</a:t>
            </a:r>
          </a:p>
          <a:p>
            <a:pPr algn="l">
              <a:spcBef>
                <a:spcPts val="500"/>
              </a:spcBef>
              <a:defRPr sz="1100" b="1">
                <a:solidFill>
                  <a:srgbClr val="94A3B8"/>
                </a:solidFill>
                <a:latin typeface="Calibri"/>
              </a:defRPr>
            </a:pPr>
            <a:r>
              <a:t>  divergent</a:t>
            </a:r>
          </a:p>
          <a:p>
            <a:pPr algn="l">
              <a:spcBef>
                <a:spcPts val="100"/>
              </a:spcBef>
              <a:defRPr sz="1000" b="0">
                <a:solidFill>
                  <a:srgbClr val="94A3B8"/>
                </a:solidFill>
                <a:latin typeface="Calibri"/>
              </a:defRPr>
            </a:pPr>
            <a:r>
              <a:t>    Opposite strands, tail-to-tail (← →)  →  Priority: Low</a:t>
            </a:r>
          </a:p>
          <a:p>
            <a:pPr algn="l">
              <a:spcBef>
                <a:spcPts val="500"/>
              </a:spcBef>
              <a:defRPr sz="1100" b="1">
                <a:solidFill>
                  <a:srgbClr val="EF4444"/>
                </a:solidFill>
                <a:latin typeface="Calibri"/>
              </a:defRPr>
            </a:pPr>
            <a:r>
              <a:t>  inverted_repeat</a:t>
            </a:r>
          </a:p>
          <a:p>
            <a:pPr algn="l">
              <a:spcBef>
                <a:spcPts val="100"/>
              </a:spcBef>
              <a:defRPr sz="1000" b="0">
                <a:solidFill>
                  <a:srgbClr val="94A3B8"/>
                </a:solidFill>
                <a:latin typeface="Calibri"/>
              </a:defRPr>
            </a:pPr>
            <a:r>
              <a:t>    Classic palindromic TetR geometry  →  Priority: LOWEST</a:t>
            </a:r>
          </a:p>
          <a:p>
            <a:pPr algn="l">
              <a:spcBef>
                <a:spcPts val="500"/>
              </a:spcBef>
              <a:defRPr sz="1100" b="1">
                <a:solidFill>
                  <a:srgbClr val="94A3B8"/>
                </a:solidFill>
                <a:latin typeface="Calibri"/>
              </a:defRPr>
            </a:pPr>
            <a:r>
              <a:t>  isolated</a:t>
            </a:r>
          </a:p>
          <a:p>
            <a:pPr algn="l">
              <a:spcBef>
                <a:spcPts val="100"/>
              </a:spcBef>
              <a:defRPr sz="1000" b="0">
                <a:solidFill>
                  <a:srgbClr val="94A3B8"/>
                </a:solidFill>
                <a:latin typeface="Calibri"/>
              </a:defRPr>
            </a:pPr>
            <a:r>
              <a:t>    No nearby partner site detected  →  Priority: Low</a:t>
            </a:r>
          </a:p>
        </p:txBody>
      </p:sp>
      <p:sp>
        <p:nvSpPr>
          <p:cNvPr id="5" name="Rounded Rectangle 4"/>
          <p:cNvSpPr/>
          <p:nvPr/>
        </p:nvSpPr>
        <p:spPr>
          <a:xfrm>
            <a:off x="731520" y="5394960"/>
            <a:ext cx="5486400" cy="91440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Validated Spacing: 53 bp (Panagoda 2024)</a:t>
            </a:r>
          </a:p>
          <a:p>
            <a:pPr algn="l">
              <a:spcBef>
                <a:spcPts val="400"/>
              </a:spcBef>
              <a:defRPr sz="1100" b="0">
                <a:solidFill>
                  <a:srgbClr val="E2E8F0"/>
                </a:solidFill>
                <a:latin typeface="Calibri"/>
              </a:defRPr>
            </a:pPr>
            <a:r>
              <a:t>  matches_validated_spacing flag: 48–58 bp (±5 bp tolerance)</a:t>
            </a:r>
          </a:p>
          <a:p>
            <a:pPr algn="l">
              <a:spcBef>
                <a:spcPts val="200"/>
              </a:spcBef>
              <a:defRPr sz="1100" b="0">
                <a:solidFill>
                  <a:srgbClr val="94A3B8"/>
                </a:solidFill>
                <a:latin typeface="Calibri"/>
              </a:defRPr>
            </a:pPr>
            <a:r>
              <a:t>  Spacing = gap between stop of site 1 and start of site 2</a:t>
            </a:r>
          </a:p>
        </p:txBody>
      </p:sp>
      <p:sp>
        <p:nvSpPr>
          <p:cNvPr id="6" name="Rounded Rectangle 5"/>
          <p:cNvSpPr/>
          <p:nvPr/>
        </p:nvSpPr>
        <p:spPr>
          <a:xfrm>
            <a:off x="6400800" y="1188720"/>
            <a:ext cx="5303520" cy="228600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Script: motif_models.py</a:t>
            </a:r>
          </a:p>
          <a:p>
            <a:pPr algn="l">
              <a:spcBef>
                <a:spcPts val="300"/>
              </a:spcBef>
              <a:defRPr sz="1000" b="0">
                <a:solidFill>
                  <a:srgbClr val="E2E8F0"/>
                </a:solidFill>
                <a:latin typeface="Calibri"/>
              </a:defRPr>
            </a:pPr>
            <a:r>
              <a:t>  classify_site_pair_architecture() — determines strand/spacing relationship</a:t>
            </a:r>
          </a:p>
          <a:p>
            <a:pPr algn="l">
              <a:spcBef>
                <a:spcPts val="200"/>
              </a:spcBef>
              <a:defRPr sz="1000" b="0">
                <a:solidFill>
                  <a:srgbClr val="E2E8F0"/>
                </a:solidFill>
                <a:latin typeface="Calibri"/>
              </a:defRPr>
            </a:pPr>
            <a:r>
              <a:t>  classify_site_architectures() — identifies all paired sites within max_gap</a:t>
            </a:r>
          </a:p>
          <a:p>
            <a:pPr algn="l">
              <a:spcBef>
                <a:spcPts val="200"/>
              </a:spcBef>
              <a:defRPr sz="1000" b="0">
                <a:solidFill>
                  <a:srgbClr val="E2E8F0"/>
                </a:solidFill>
                <a:latin typeface="Calibri"/>
              </a:defRPr>
            </a:pPr>
            <a:r>
              <a:t>  compare_models() — palindromic vs asymmetric model fit per site</a:t>
            </a:r>
          </a:p>
          <a:p>
            <a:pPr algn="l">
              <a:spcBef>
                <a:spcPts val="200"/>
              </a:spcBef>
              <a:defRPr sz="1000" b="0">
                <a:solidFill>
                  <a:srgbClr val="E2E8F0"/>
                </a:solidFill>
                <a:latin typeface="Calibri"/>
              </a:defRPr>
            </a:pPr>
            <a:r>
              <a:t>  score_sequence_against_consensus() — consensus match scoring</a:t>
            </a:r>
          </a:p>
          <a:p>
            <a:pPr algn="l">
              <a:spcBef>
                <a:spcPts val="200"/>
              </a:spcBef>
              <a:defRPr sz="1000" b="0">
                <a:solidFill>
                  <a:srgbClr val="E2E8F0"/>
                </a:solidFill>
                <a:latin typeface="Calibri"/>
              </a:defRPr>
            </a:pPr>
            <a:r>
              <a:t>  generate_architecture_comparison_report() — compares to validated yrbE3A</a:t>
            </a:r>
          </a:p>
        </p:txBody>
      </p:sp>
      <p:pic>
        <p:nvPicPr>
          <p:cNvPr id="7" name="Picture 6" descr="spacing_histogram.png"/>
          <p:cNvPicPr>
            <a:picLocks noChangeAspect="1"/>
          </p:cNvPicPr>
          <p:nvPr/>
        </p:nvPicPr>
        <p:blipFill>
          <a:blip r:embed="rId2"/>
          <a:stretch>
            <a:fillRect/>
          </a:stretch>
        </p:blipFill>
        <p:spPr>
          <a:xfrm>
            <a:off x="6400800" y="3657600"/>
            <a:ext cx="2560320" cy="2286000"/>
          </a:xfrm>
          <a:prstGeom prst="rect">
            <a:avLst/>
          </a:prstGeom>
        </p:spPr>
      </p:pic>
      <p:pic>
        <p:nvPicPr>
          <p:cNvPr id="8" name="Picture 7" descr="site_architecture.png"/>
          <p:cNvPicPr>
            <a:picLocks noChangeAspect="1"/>
          </p:cNvPicPr>
          <p:nvPr/>
        </p:nvPicPr>
        <p:blipFill>
          <a:blip r:embed="rId3"/>
          <a:stretch>
            <a:fillRect/>
          </a:stretch>
        </p:blipFill>
        <p:spPr>
          <a:xfrm>
            <a:off x="9052560" y="3657600"/>
            <a:ext cx="2560320" cy="2286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2800" b="1">
                <a:solidFill>
                  <a:srgbClr val="FFFFFF"/>
                </a:solidFill>
                <a:latin typeface="Trebuchet MS"/>
              </a:defRPr>
            </a:pPr>
            <a:r>
              <a:t>Step 4c — Composite Score Formula (Detail)</a:t>
            </a:r>
          </a:p>
        </p:txBody>
      </p:sp>
      <p:sp>
        <p:nvSpPr>
          <p:cNvPr id="3" name="Rectangle 2"/>
          <p:cNvSpPr/>
          <p:nvPr/>
        </p:nvSpPr>
        <p:spPr>
          <a:xfrm>
            <a:off x="731520" y="1005840"/>
            <a:ext cx="45720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10515600" cy="73152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59E0B"/>
                </a:solidFill>
              </a:defRPr>
            </a:pPr>
            <a:r>
              <a:t>Score = 0.40 × fimo_norm + 0.25 × arch_bonus + 0.20 × asym_weight + 0.15 × tier_prior</a:t>
            </a:r>
          </a:p>
        </p:txBody>
      </p:sp>
      <p:sp>
        <p:nvSpPr>
          <p:cNvPr id="5" name="Rounded Rectangle 4"/>
          <p:cNvSpPr/>
          <p:nvPr/>
        </p:nvSpPr>
        <p:spPr>
          <a:xfrm>
            <a:off x="731520" y="2103120"/>
            <a:ext cx="5303520" cy="13716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59E0B"/>
                </a:solidFill>
              </a:defRPr>
            </a:pPr>
            <a:r>
              <a:t>40% — fimo_norm (Motif Match Quality)</a:t>
            </a:r>
          </a:p>
          <a:p>
            <a:pPr algn="l">
              <a:spcBef>
                <a:spcPts val="400"/>
              </a:spcBef>
              <a:defRPr sz="1100" b="0">
                <a:solidFill>
                  <a:srgbClr val="E2E8F0"/>
                </a:solidFill>
                <a:latin typeface="Calibri"/>
              </a:defRPr>
            </a:pPr>
            <a:r>
              <a:t>  fimo_norm = (score − min) / (max − min)</a:t>
            </a:r>
          </a:p>
          <a:p>
            <a:pPr algn="l">
              <a:spcBef>
                <a:spcPts val="200"/>
              </a:spcBef>
              <a:defRPr sz="1100" b="0">
                <a:solidFill>
                  <a:srgbClr val="94A3B8"/>
                </a:solidFill>
                <a:latin typeface="Calibri"/>
              </a:defRPr>
            </a:pPr>
            <a:r>
              <a:t>  Normalized to [0, 1] across all hits</a:t>
            </a:r>
          </a:p>
          <a:p>
            <a:pPr algn="l">
              <a:spcBef>
                <a:spcPts val="200"/>
              </a:spcBef>
              <a:defRPr sz="1100" b="0">
                <a:solidFill>
                  <a:srgbClr val="94A3B8"/>
                </a:solidFill>
                <a:latin typeface="Calibri"/>
              </a:defRPr>
            </a:pPr>
            <a:r>
              <a:t>  Based on raw FIMO log-odds from PWM scan</a:t>
            </a:r>
          </a:p>
        </p:txBody>
      </p:sp>
      <p:sp>
        <p:nvSpPr>
          <p:cNvPr id="6" name="Rounded Rectangle 5"/>
          <p:cNvSpPr/>
          <p:nvPr/>
        </p:nvSpPr>
        <p:spPr>
          <a:xfrm>
            <a:off x="6217920" y="2103120"/>
            <a:ext cx="5029200" cy="13716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14B8A6"/>
                </a:solidFill>
              </a:defRPr>
            </a:pPr>
            <a:r>
              <a:t>25% — arch_bonus (Operator Geometry)</a:t>
            </a:r>
          </a:p>
          <a:p>
            <a:pPr algn="l">
              <a:spcBef>
                <a:spcPts val="400"/>
              </a:spcBef>
              <a:defRPr sz="1100" b="0">
                <a:solidFill>
                  <a:srgbClr val="FFFFFF"/>
                </a:solidFill>
                <a:latin typeface="Calibri"/>
              </a:defRPr>
            </a:pPr>
            <a:r>
              <a:t>  validated_paired_asymmetric: 1.0</a:t>
            </a:r>
          </a:p>
          <a:p>
            <a:pPr algn="l">
              <a:spcBef>
                <a:spcPts val="200"/>
              </a:spcBef>
              <a:defRPr sz="1100" b="0">
                <a:solidFill>
                  <a:srgbClr val="94A3B8"/>
                </a:solidFill>
                <a:latin typeface="Calibri"/>
              </a:defRPr>
            </a:pPr>
            <a:r>
              <a:t>  tandem_asymmetric: 0.6  |  direct_repeat: 0.3</a:t>
            </a:r>
          </a:p>
          <a:p>
            <a:pPr algn="l">
              <a:spcBef>
                <a:spcPts val="200"/>
              </a:spcBef>
              <a:defRPr sz="1100" b="0">
                <a:solidFill>
                  <a:srgbClr val="94A3B8"/>
                </a:solidFill>
                <a:latin typeface="Calibri"/>
              </a:defRPr>
            </a:pPr>
            <a:r>
              <a:t>  convergent/divergent: 0.15  |  inverted_repeat: 0.05</a:t>
            </a:r>
          </a:p>
        </p:txBody>
      </p:sp>
      <p:sp>
        <p:nvSpPr>
          <p:cNvPr id="7" name="Rounded Rectangle 6"/>
          <p:cNvSpPr/>
          <p:nvPr/>
        </p:nvSpPr>
        <p:spPr>
          <a:xfrm>
            <a:off x="731520" y="3657600"/>
            <a:ext cx="5303520" cy="155448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22C55E"/>
                </a:solidFill>
              </a:defRPr>
            </a:pPr>
            <a:r>
              <a:t>20% — asym_weight (Triangular Function)</a:t>
            </a:r>
          </a:p>
          <a:p>
            <a:pPr algn="l">
              <a:spcBef>
                <a:spcPts val="400"/>
              </a:spcBef>
              <a:defRPr sz="1100" b="0">
                <a:solidFill>
                  <a:srgbClr val="FFFFFF"/>
                </a:solidFill>
                <a:latin typeface="Calibri"/>
              </a:defRPr>
            </a:pPr>
            <a:r>
              <a:t>  if 0.3 ≤ pal ≤ 0.65:  asym_weight = 1.0  (peak)</a:t>
            </a:r>
          </a:p>
          <a:p>
            <a:pPr algn="l">
              <a:spcBef>
                <a:spcPts val="200"/>
              </a:spcBef>
              <a:defRPr sz="1100" b="0">
                <a:solidFill>
                  <a:srgbClr val="94A3B8"/>
                </a:solidFill>
                <a:latin typeface="Calibri"/>
              </a:defRPr>
            </a:pPr>
            <a:r>
              <a:t>  if pal &lt; 0.3:  asym_weight = pal / 0.3  (linear ramp up)</a:t>
            </a:r>
          </a:p>
          <a:p>
            <a:pPr algn="l">
              <a:spcBef>
                <a:spcPts val="200"/>
              </a:spcBef>
              <a:defRPr sz="1100" b="0">
                <a:solidFill>
                  <a:srgbClr val="94A3B8"/>
                </a:solidFill>
                <a:latin typeface="Calibri"/>
              </a:defRPr>
            </a:pPr>
            <a:r>
              <a:t>  if 0.65 &lt; pal &lt; 0.85:  asym_weight = (0.85−pal) / 0.20  (decay)</a:t>
            </a:r>
          </a:p>
          <a:p>
            <a:pPr algn="l">
              <a:spcBef>
                <a:spcPts val="200"/>
              </a:spcBef>
              <a:defRPr sz="1100" b="0">
                <a:solidFill>
                  <a:srgbClr val="EF4444"/>
                </a:solidFill>
                <a:latin typeface="Calibri"/>
              </a:defRPr>
            </a:pPr>
            <a:r>
              <a:t>  if pal ≥ 0.85:  asym_weight = 0.0  (penalized — wrong TetR)</a:t>
            </a:r>
          </a:p>
        </p:txBody>
      </p:sp>
      <p:sp>
        <p:nvSpPr>
          <p:cNvPr id="8" name="Rounded Rectangle 7"/>
          <p:cNvSpPr/>
          <p:nvPr/>
        </p:nvSpPr>
        <p:spPr>
          <a:xfrm>
            <a:off x="6217920" y="3657600"/>
            <a:ext cx="5029200" cy="155448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94A3B8"/>
                </a:solidFill>
              </a:defRPr>
            </a:pPr>
            <a:r>
              <a:t>15% — tier_prior (Biological Knowledge)</a:t>
            </a:r>
          </a:p>
          <a:p>
            <a:pPr algn="l">
              <a:spcBef>
                <a:spcPts val="400"/>
              </a:spcBef>
              <a:defRPr sz="1100" b="0">
                <a:solidFill>
                  <a:srgbClr val="F59E0B"/>
                </a:solidFill>
                <a:latin typeface="Calibri"/>
              </a:defRPr>
            </a:pPr>
            <a:r>
              <a:t>  Tier 1 (known operator):  prior = 1.0</a:t>
            </a:r>
          </a:p>
          <a:p>
            <a:pPr algn="l">
              <a:spcBef>
                <a:spcPts val="200"/>
              </a:spcBef>
              <a:defRPr sz="1100" b="0">
                <a:solidFill>
                  <a:srgbClr val="22C55E"/>
                </a:solidFill>
                <a:latin typeface="Calibri"/>
              </a:defRPr>
            </a:pPr>
            <a:r>
              <a:t>  Tier 2 (lipid/cholesterol genes):  prior = 0.6</a:t>
            </a:r>
          </a:p>
          <a:p>
            <a:pPr algn="l">
              <a:spcBef>
                <a:spcPts val="200"/>
              </a:spcBef>
              <a:defRPr sz="1100" b="0">
                <a:solidFill>
                  <a:srgbClr val="94A3B8"/>
                </a:solidFill>
                <a:latin typeface="Calibri"/>
              </a:defRPr>
            </a:pPr>
            <a:r>
              <a:t>  Tier 3 (all other genes):  prior = 0.2</a:t>
            </a:r>
          </a:p>
          <a:p>
            <a:pPr algn="l">
              <a:spcBef>
                <a:spcPts val="400"/>
              </a:spcBef>
              <a:defRPr sz="1100" b="0">
                <a:solidFill>
                  <a:srgbClr val="E2E8F0"/>
                </a:solidFill>
                <a:latin typeface="Calibri"/>
              </a:defRPr>
            </a:pPr>
            <a:r>
              <a:t>  Assigned BEFORE composite score computation</a:t>
            </a:r>
          </a:p>
        </p:txBody>
      </p:sp>
      <p:sp>
        <p:nvSpPr>
          <p:cNvPr id="9" name="Rounded Rectangle 8"/>
          <p:cNvSpPr/>
          <p:nvPr/>
        </p:nvSpPr>
        <p:spPr>
          <a:xfrm>
            <a:off x="731520" y="5349240"/>
            <a:ext cx="5303520" cy="82296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F59E0B"/>
                </a:solidFill>
              </a:defRPr>
            </a:pPr>
            <a:r>
              <a:t>Script: motif_models.py → compute_composite_score()</a:t>
            </a:r>
          </a:p>
          <a:p>
            <a:pPr algn="l">
              <a:spcBef>
                <a:spcPts val="200"/>
              </a:spcBef>
              <a:defRPr sz="900" b="0">
                <a:solidFill>
                  <a:srgbClr val="E2E8F0"/>
                </a:solidFill>
                <a:latin typeface="Calibri"/>
              </a:defRPr>
            </a:pPr>
            <a:r>
              <a:t>  apply_model_comparison() adds all columns, then compute_composite_score()</a:t>
            </a:r>
          </a:p>
          <a:p>
            <a:pPr algn="l">
              <a:spcBef>
                <a:spcPts val="100"/>
              </a:spcBef>
              <a:defRPr sz="900" b="0">
                <a:solidFill>
                  <a:srgbClr val="E2E8F0"/>
                </a:solidFill>
                <a:latin typeface="Calibri"/>
              </a:defRPr>
            </a:pPr>
            <a:r>
              <a:t>  analyze_results.py orchestrates: load → palindrome → architecture → composite → rank</a:t>
            </a:r>
          </a:p>
        </p:txBody>
      </p:sp>
      <p:sp>
        <p:nvSpPr>
          <p:cNvPr id="10" name="Rounded Rectangle 9"/>
          <p:cNvSpPr/>
          <p:nvPr/>
        </p:nvSpPr>
        <p:spPr>
          <a:xfrm>
            <a:off x="731520" y="5394960"/>
            <a:ext cx="10515600" cy="82296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a:solidFill>
                  <a:srgbClr val="FFFFFF"/>
                </a:solidFill>
              </a:defRPr>
            </a:pPr>
            <a:r>
              <a:t>Result:   Tier 1: 33 sites (known)   •   Tier 2: 39 sites (plausible)   •   Tier 3: 631 sites (exploratory)</a:t>
            </a:r>
          </a:p>
          <a:p>
            <a:pPr algn="ctr">
              <a:spcBef>
                <a:spcPts val="400"/>
              </a:spcBef>
              <a:defRPr sz="1200" b="0">
                <a:solidFill>
                  <a:srgbClr val="F59E0B"/>
                </a:solidFill>
                <a:latin typeface="Calibri"/>
              </a:defRPr>
            </a:pPr>
            <a:r>
              <a:t>Total: 703 ranked predictions — top-ranked = the known validated operator (composite = 0.942)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Step 5 — Visualization (9 Figures)</a:t>
            </a:r>
          </a:p>
        </p:txBody>
      </p:sp>
      <p:sp>
        <p:nvSpPr>
          <p:cNvPr id="3" name="Rectangle 2"/>
          <p:cNvSpPr/>
          <p:nvPr/>
        </p:nvSpPr>
        <p:spPr>
          <a:xfrm>
            <a:off x="731520" y="1005840"/>
            <a:ext cx="36576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core_distribution.png"/>
          <p:cNvPicPr>
            <a:picLocks noChangeAspect="1"/>
          </p:cNvPicPr>
          <p:nvPr/>
        </p:nvPicPr>
        <p:blipFill>
          <a:blip r:embed="rId2"/>
          <a:stretch>
            <a:fillRect/>
          </a:stretch>
        </p:blipFill>
        <p:spPr>
          <a:xfrm>
            <a:off x="457200" y="1371600"/>
            <a:ext cx="3474720" cy="1371600"/>
          </a:xfrm>
          <a:prstGeom prst="rect">
            <a:avLst/>
          </a:prstGeom>
        </p:spPr>
      </p:pic>
      <p:sp>
        <p:nvSpPr>
          <p:cNvPr id="5" name="TextBox 4"/>
          <p:cNvSpPr txBox="1"/>
          <p:nvPr/>
        </p:nvSpPr>
        <p:spPr>
          <a:xfrm>
            <a:off x="457200" y="2743200"/>
            <a:ext cx="3474720" cy="274320"/>
          </a:xfrm>
          <a:prstGeom prst="rect">
            <a:avLst/>
          </a:prstGeom>
          <a:noFill/>
        </p:spPr>
        <p:txBody>
          <a:bodyPr wrap="square">
            <a:spAutoFit/>
          </a:bodyPr>
          <a:lstStyle/>
          <a:p>
            <a:pPr algn="ctr">
              <a:defRPr sz="1100" b="0">
                <a:solidFill>
                  <a:srgbClr val="94A3B8"/>
                </a:solidFill>
                <a:latin typeface="Calibri"/>
              </a:defRPr>
            </a:pPr>
            <a:r>
              <a:t>Score Distribution</a:t>
            </a:r>
          </a:p>
        </p:txBody>
      </p:sp>
      <p:pic>
        <p:nvPicPr>
          <p:cNvPr id="6" name="Picture 5" descr="motif_position_distribution.png"/>
          <p:cNvPicPr>
            <a:picLocks noChangeAspect="1"/>
          </p:cNvPicPr>
          <p:nvPr/>
        </p:nvPicPr>
        <p:blipFill>
          <a:blip r:embed="rId3"/>
          <a:stretch>
            <a:fillRect/>
          </a:stretch>
        </p:blipFill>
        <p:spPr>
          <a:xfrm>
            <a:off x="4297680" y="1371600"/>
            <a:ext cx="3474720" cy="1371600"/>
          </a:xfrm>
          <a:prstGeom prst="rect">
            <a:avLst/>
          </a:prstGeom>
        </p:spPr>
      </p:pic>
      <p:sp>
        <p:nvSpPr>
          <p:cNvPr id="7" name="TextBox 6"/>
          <p:cNvSpPr txBox="1"/>
          <p:nvPr/>
        </p:nvSpPr>
        <p:spPr>
          <a:xfrm>
            <a:off x="4297680" y="2743200"/>
            <a:ext cx="3474720" cy="274320"/>
          </a:xfrm>
          <a:prstGeom prst="rect">
            <a:avLst/>
          </a:prstGeom>
          <a:noFill/>
        </p:spPr>
        <p:txBody>
          <a:bodyPr wrap="square">
            <a:spAutoFit/>
          </a:bodyPr>
          <a:lstStyle/>
          <a:p>
            <a:pPr algn="ctr">
              <a:defRPr sz="1100" b="0">
                <a:solidFill>
                  <a:srgbClr val="94A3B8"/>
                </a:solidFill>
                <a:latin typeface="Calibri"/>
              </a:defRPr>
            </a:pPr>
            <a:r>
              <a:t>Motif Positions</a:t>
            </a:r>
          </a:p>
        </p:txBody>
      </p:sp>
      <p:pic>
        <p:nvPicPr>
          <p:cNvPr id="8" name="Picture 7" descr="spacing_histogram.png"/>
          <p:cNvPicPr>
            <a:picLocks noChangeAspect="1"/>
          </p:cNvPicPr>
          <p:nvPr/>
        </p:nvPicPr>
        <p:blipFill>
          <a:blip r:embed="rId4"/>
          <a:stretch>
            <a:fillRect/>
          </a:stretch>
        </p:blipFill>
        <p:spPr>
          <a:xfrm>
            <a:off x="8138160" y="1371600"/>
            <a:ext cx="3474720" cy="1371600"/>
          </a:xfrm>
          <a:prstGeom prst="rect">
            <a:avLst/>
          </a:prstGeom>
        </p:spPr>
      </p:pic>
      <p:sp>
        <p:nvSpPr>
          <p:cNvPr id="9" name="TextBox 8"/>
          <p:cNvSpPr txBox="1"/>
          <p:nvPr/>
        </p:nvSpPr>
        <p:spPr>
          <a:xfrm>
            <a:off x="8138160" y="2743200"/>
            <a:ext cx="3474720" cy="274320"/>
          </a:xfrm>
          <a:prstGeom prst="rect">
            <a:avLst/>
          </a:prstGeom>
          <a:noFill/>
        </p:spPr>
        <p:txBody>
          <a:bodyPr wrap="square">
            <a:spAutoFit/>
          </a:bodyPr>
          <a:lstStyle/>
          <a:p>
            <a:pPr algn="ctr">
              <a:defRPr sz="1100" b="0">
                <a:solidFill>
                  <a:srgbClr val="94A3B8"/>
                </a:solidFill>
                <a:latin typeface="Calibri"/>
              </a:defRPr>
            </a:pPr>
            <a:r>
              <a:t>Spacing Histogram</a:t>
            </a:r>
          </a:p>
        </p:txBody>
      </p:sp>
      <p:pic>
        <p:nvPicPr>
          <p:cNvPr id="10" name="Picture 9" descr="palindrome_scores.png"/>
          <p:cNvPicPr>
            <a:picLocks noChangeAspect="1"/>
          </p:cNvPicPr>
          <p:nvPr/>
        </p:nvPicPr>
        <p:blipFill>
          <a:blip r:embed="rId5"/>
          <a:stretch>
            <a:fillRect/>
          </a:stretch>
        </p:blipFill>
        <p:spPr>
          <a:xfrm>
            <a:off x="457200" y="3108960"/>
            <a:ext cx="3474720" cy="1371600"/>
          </a:xfrm>
          <a:prstGeom prst="rect">
            <a:avLst/>
          </a:prstGeom>
        </p:spPr>
      </p:pic>
      <p:sp>
        <p:nvSpPr>
          <p:cNvPr id="11" name="TextBox 10"/>
          <p:cNvSpPr txBox="1"/>
          <p:nvPr/>
        </p:nvSpPr>
        <p:spPr>
          <a:xfrm>
            <a:off x="457200" y="4480560"/>
            <a:ext cx="3474720" cy="274320"/>
          </a:xfrm>
          <a:prstGeom prst="rect">
            <a:avLst/>
          </a:prstGeom>
          <a:noFill/>
        </p:spPr>
        <p:txBody>
          <a:bodyPr wrap="square">
            <a:spAutoFit/>
          </a:bodyPr>
          <a:lstStyle/>
          <a:p>
            <a:pPr algn="ctr">
              <a:defRPr sz="1100" b="0">
                <a:solidFill>
                  <a:srgbClr val="94A3B8"/>
                </a:solidFill>
                <a:latin typeface="Calibri"/>
              </a:defRPr>
            </a:pPr>
            <a:r>
              <a:t>Palindrome Scores</a:t>
            </a:r>
          </a:p>
        </p:txBody>
      </p:sp>
      <p:pic>
        <p:nvPicPr>
          <p:cNvPr id="12" name="Picture 11" descr="gc_vs_hits.png"/>
          <p:cNvPicPr>
            <a:picLocks noChangeAspect="1"/>
          </p:cNvPicPr>
          <p:nvPr/>
        </p:nvPicPr>
        <p:blipFill>
          <a:blip r:embed="rId6"/>
          <a:stretch>
            <a:fillRect/>
          </a:stretch>
        </p:blipFill>
        <p:spPr>
          <a:xfrm>
            <a:off x="4297680" y="3108960"/>
            <a:ext cx="3474720" cy="1371600"/>
          </a:xfrm>
          <a:prstGeom prst="rect">
            <a:avLst/>
          </a:prstGeom>
        </p:spPr>
      </p:pic>
      <p:sp>
        <p:nvSpPr>
          <p:cNvPr id="13" name="TextBox 12"/>
          <p:cNvSpPr txBox="1"/>
          <p:nvPr/>
        </p:nvSpPr>
        <p:spPr>
          <a:xfrm>
            <a:off x="4297680" y="4480560"/>
            <a:ext cx="3474720" cy="274320"/>
          </a:xfrm>
          <a:prstGeom prst="rect">
            <a:avLst/>
          </a:prstGeom>
          <a:noFill/>
        </p:spPr>
        <p:txBody>
          <a:bodyPr wrap="square">
            <a:spAutoFit/>
          </a:bodyPr>
          <a:lstStyle/>
          <a:p>
            <a:pPr algn="ctr">
              <a:defRPr sz="1100" b="0">
                <a:solidFill>
                  <a:srgbClr val="94A3B8"/>
                </a:solidFill>
                <a:latin typeface="Calibri"/>
              </a:defRPr>
            </a:pPr>
            <a:r>
              <a:t>GC vs Hits</a:t>
            </a:r>
          </a:p>
        </p:txBody>
      </p:sp>
      <p:pic>
        <p:nvPicPr>
          <p:cNvPr id="14" name="Picture 13" descr="motif_logo.png"/>
          <p:cNvPicPr>
            <a:picLocks noChangeAspect="1"/>
          </p:cNvPicPr>
          <p:nvPr/>
        </p:nvPicPr>
        <p:blipFill>
          <a:blip r:embed="rId7"/>
          <a:stretch>
            <a:fillRect/>
          </a:stretch>
        </p:blipFill>
        <p:spPr>
          <a:xfrm>
            <a:off x="8138160" y="3108960"/>
            <a:ext cx="3474720" cy="1371600"/>
          </a:xfrm>
          <a:prstGeom prst="rect">
            <a:avLst/>
          </a:prstGeom>
        </p:spPr>
      </p:pic>
      <p:sp>
        <p:nvSpPr>
          <p:cNvPr id="15" name="TextBox 14"/>
          <p:cNvSpPr txBox="1"/>
          <p:nvPr/>
        </p:nvSpPr>
        <p:spPr>
          <a:xfrm>
            <a:off x="8138160" y="4480560"/>
            <a:ext cx="3474720" cy="274320"/>
          </a:xfrm>
          <a:prstGeom prst="rect">
            <a:avLst/>
          </a:prstGeom>
          <a:noFill/>
        </p:spPr>
        <p:txBody>
          <a:bodyPr wrap="square">
            <a:spAutoFit/>
          </a:bodyPr>
          <a:lstStyle/>
          <a:p>
            <a:pPr algn="ctr">
              <a:defRPr sz="1100" b="0">
                <a:solidFill>
                  <a:srgbClr val="94A3B8"/>
                </a:solidFill>
                <a:latin typeface="Calibri"/>
              </a:defRPr>
            </a:pPr>
            <a:r>
              <a:t>Motif Logo</a:t>
            </a:r>
          </a:p>
        </p:txBody>
      </p:sp>
      <p:pic>
        <p:nvPicPr>
          <p:cNvPr id="16" name="Picture 15" descr="model_comparison.png"/>
          <p:cNvPicPr>
            <a:picLocks noChangeAspect="1"/>
          </p:cNvPicPr>
          <p:nvPr/>
        </p:nvPicPr>
        <p:blipFill>
          <a:blip r:embed="rId8"/>
          <a:stretch>
            <a:fillRect/>
          </a:stretch>
        </p:blipFill>
        <p:spPr>
          <a:xfrm>
            <a:off x="457200" y="4846320"/>
            <a:ext cx="3474720" cy="1371600"/>
          </a:xfrm>
          <a:prstGeom prst="rect">
            <a:avLst/>
          </a:prstGeom>
        </p:spPr>
      </p:pic>
      <p:sp>
        <p:nvSpPr>
          <p:cNvPr id="17" name="TextBox 16"/>
          <p:cNvSpPr txBox="1"/>
          <p:nvPr/>
        </p:nvSpPr>
        <p:spPr>
          <a:xfrm>
            <a:off x="457200" y="6217920"/>
            <a:ext cx="3474720" cy="274320"/>
          </a:xfrm>
          <a:prstGeom prst="rect">
            <a:avLst/>
          </a:prstGeom>
          <a:noFill/>
        </p:spPr>
        <p:txBody>
          <a:bodyPr wrap="square">
            <a:spAutoFit/>
          </a:bodyPr>
          <a:lstStyle/>
          <a:p>
            <a:pPr algn="ctr">
              <a:defRPr sz="1100" b="0">
                <a:solidFill>
                  <a:srgbClr val="94A3B8"/>
                </a:solidFill>
                <a:latin typeface="Calibri"/>
              </a:defRPr>
            </a:pPr>
            <a:r>
              <a:t>Model Comparison</a:t>
            </a:r>
          </a:p>
        </p:txBody>
      </p:sp>
      <p:pic>
        <p:nvPicPr>
          <p:cNvPr id="18" name="Picture 17" descr="site_architecture.png"/>
          <p:cNvPicPr>
            <a:picLocks noChangeAspect="1"/>
          </p:cNvPicPr>
          <p:nvPr/>
        </p:nvPicPr>
        <p:blipFill>
          <a:blip r:embed="rId9"/>
          <a:stretch>
            <a:fillRect/>
          </a:stretch>
        </p:blipFill>
        <p:spPr>
          <a:xfrm>
            <a:off x="4297680" y="4846320"/>
            <a:ext cx="3474720" cy="1371600"/>
          </a:xfrm>
          <a:prstGeom prst="rect">
            <a:avLst/>
          </a:prstGeom>
        </p:spPr>
      </p:pic>
      <p:sp>
        <p:nvSpPr>
          <p:cNvPr id="19" name="TextBox 18"/>
          <p:cNvSpPr txBox="1"/>
          <p:nvPr/>
        </p:nvSpPr>
        <p:spPr>
          <a:xfrm>
            <a:off x="4297680" y="6217920"/>
            <a:ext cx="3474720" cy="274320"/>
          </a:xfrm>
          <a:prstGeom prst="rect">
            <a:avLst/>
          </a:prstGeom>
          <a:noFill/>
        </p:spPr>
        <p:txBody>
          <a:bodyPr wrap="square">
            <a:spAutoFit/>
          </a:bodyPr>
          <a:lstStyle/>
          <a:p>
            <a:pPr algn="ctr">
              <a:defRPr sz="1100" b="0">
                <a:solidFill>
                  <a:srgbClr val="94A3B8"/>
                </a:solidFill>
                <a:latin typeface="Calibri"/>
              </a:defRPr>
            </a:pPr>
            <a:r>
              <a:t>Site Architecture</a:t>
            </a:r>
          </a:p>
        </p:txBody>
      </p:sp>
      <p:pic>
        <p:nvPicPr>
          <p:cNvPr id="20" name="Picture 19" descr="operator_architecture_diagram.png"/>
          <p:cNvPicPr>
            <a:picLocks noChangeAspect="1"/>
          </p:cNvPicPr>
          <p:nvPr/>
        </p:nvPicPr>
        <p:blipFill>
          <a:blip r:embed="rId10"/>
          <a:stretch>
            <a:fillRect/>
          </a:stretch>
        </p:blipFill>
        <p:spPr>
          <a:xfrm>
            <a:off x="8138160" y="4846320"/>
            <a:ext cx="3474720" cy="1371600"/>
          </a:xfrm>
          <a:prstGeom prst="rect">
            <a:avLst/>
          </a:prstGeom>
        </p:spPr>
      </p:pic>
      <p:sp>
        <p:nvSpPr>
          <p:cNvPr id="21" name="TextBox 20"/>
          <p:cNvSpPr txBox="1"/>
          <p:nvPr/>
        </p:nvSpPr>
        <p:spPr>
          <a:xfrm>
            <a:off x="8138160" y="6217920"/>
            <a:ext cx="3474720" cy="274320"/>
          </a:xfrm>
          <a:prstGeom prst="rect">
            <a:avLst/>
          </a:prstGeom>
          <a:noFill/>
        </p:spPr>
        <p:txBody>
          <a:bodyPr wrap="square">
            <a:spAutoFit/>
          </a:bodyPr>
          <a:lstStyle/>
          <a:p>
            <a:pPr algn="ctr">
              <a:defRPr sz="1100" b="0">
                <a:solidFill>
                  <a:srgbClr val="94A3B8"/>
                </a:solidFill>
                <a:latin typeface="Calibri"/>
              </a:defRPr>
            </a:pPr>
            <a:r>
              <a:t>Operator Diagram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Results — Pipeline Validation</a:t>
            </a:r>
          </a:p>
        </p:txBody>
      </p:sp>
      <p:sp>
        <p:nvSpPr>
          <p:cNvPr id="3" name="Rectangle 2"/>
          <p:cNvSpPr/>
          <p:nvPr/>
        </p:nvSpPr>
        <p:spPr>
          <a:xfrm>
            <a:off x="731520" y="1005840"/>
            <a:ext cx="36576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5029200" cy="137160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2000" b="1">
                <a:solidFill>
                  <a:srgbClr val="F59E0B"/>
                </a:solidFill>
              </a:defRPr>
            </a:pPr>
            <a:r>
              <a:t>Top Hit: IGR_Rv1963c_Rv1964</a:t>
            </a:r>
          </a:p>
          <a:p>
            <a:pPr algn="ctr">
              <a:spcBef>
                <a:spcPts val="800"/>
              </a:spcBef>
              <a:defRPr sz="2800" b="1">
                <a:solidFill>
                  <a:srgbClr val="FFFFFF"/>
                </a:solidFill>
                <a:latin typeface="Calibri"/>
              </a:defRPr>
            </a:pPr>
            <a:r>
              <a:t>Composite Score: 0.942</a:t>
            </a:r>
          </a:p>
        </p:txBody>
      </p:sp>
      <p:sp>
        <p:nvSpPr>
          <p:cNvPr id="5" name="TextBox 4"/>
          <p:cNvSpPr txBox="1"/>
          <p:nvPr/>
        </p:nvSpPr>
        <p:spPr>
          <a:xfrm>
            <a:off x="731520" y="3017520"/>
            <a:ext cx="2743200" cy="320040"/>
          </a:xfrm>
          <a:prstGeom prst="rect">
            <a:avLst/>
          </a:prstGeom>
          <a:noFill/>
        </p:spPr>
        <p:txBody>
          <a:bodyPr wrap="square">
            <a:spAutoFit/>
          </a:bodyPr>
          <a:lstStyle/>
          <a:p>
            <a:pPr algn="l">
              <a:defRPr sz="1600" b="1">
                <a:solidFill>
                  <a:srgbClr val="F59E0B"/>
                </a:solidFill>
                <a:latin typeface="Calibri"/>
              </a:defRPr>
            </a:pPr>
            <a:r>
              <a:t>690/703 sites (98%)</a:t>
            </a:r>
          </a:p>
        </p:txBody>
      </p:sp>
      <p:sp>
        <p:nvSpPr>
          <p:cNvPr id="6" name="TextBox 5"/>
          <p:cNvSpPr txBox="1"/>
          <p:nvPr/>
        </p:nvSpPr>
        <p:spPr>
          <a:xfrm>
            <a:off x="3474720" y="3017520"/>
            <a:ext cx="2743200" cy="320040"/>
          </a:xfrm>
          <a:prstGeom prst="rect">
            <a:avLst/>
          </a:prstGeom>
          <a:noFill/>
        </p:spPr>
        <p:txBody>
          <a:bodyPr wrap="square">
            <a:spAutoFit/>
          </a:bodyPr>
          <a:lstStyle/>
          <a:p>
            <a:pPr algn="l">
              <a:defRPr sz="1400" b="0">
                <a:solidFill>
                  <a:srgbClr val="E2E8F0"/>
                </a:solidFill>
                <a:latin typeface="Calibri"/>
              </a:defRPr>
            </a:pPr>
            <a:r>
              <a:t>prefer the asymmetric model</a:t>
            </a:r>
          </a:p>
        </p:txBody>
      </p:sp>
      <p:sp>
        <p:nvSpPr>
          <p:cNvPr id="7" name="TextBox 6"/>
          <p:cNvSpPr txBox="1"/>
          <p:nvPr/>
        </p:nvSpPr>
        <p:spPr>
          <a:xfrm>
            <a:off x="731520" y="3520440"/>
            <a:ext cx="2743200" cy="320040"/>
          </a:xfrm>
          <a:prstGeom prst="rect">
            <a:avLst/>
          </a:prstGeom>
          <a:noFill/>
        </p:spPr>
        <p:txBody>
          <a:bodyPr wrap="square">
            <a:spAutoFit/>
          </a:bodyPr>
          <a:lstStyle/>
          <a:p>
            <a:pPr algn="l">
              <a:defRPr sz="1600" b="1">
                <a:solidFill>
                  <a:srgbClr val="F59E0B"/>
                </a:solidFill>
                <a:latin typeface="Calibri"/>
              </a:defRPr>
            </a:pPr>
            <a:r>
              <a:t>0 sites scored ≥ 0.8</a:t>
            </a:r>
          </a:p>
        </p:txBody>
      </p:sp>
      <p:sp>
        <p:nvSpPr>
          <p:cNvPr id="8" name="TextBox 7"/>
          <p:cNvSpPr txBox="1"/>
          <p:nvPr/>
        </p:nvSpPr>
        <p:spPr>
          <a:xfrm>
            <a:off x="3474720" y="3520440"/>
            <a:ext cx="2743200" cy="320040"/>
          </a:xfrm>
          <a:prstGeom prst="rect">
            <a:avLst/>
          </a:prstGeom>
          <a:noFill/>
        </p:spPr>
        <p:txBody>
          <a:bodyPr wrap="square">
            <a:spAutoFit/>
          </a:bodyPr>
          <a:lstStyle/>
          <a:p>
            <a:pPr algn="l">
              <a:defRPr sz="1400" b="0">
                <a:solidFill>
                  <a:srgbClr val="E2E8F0"/>
                </a:solidFill>
                <a:latin typeface="Calibri"/>
              </a:defRPr>
            </a:pPr>
            <a:r>
              <a:t>palindrome — confirming non-palindromic operator</a:t>
            </a:r>
          </a:p>
        </p:txBody>
      </p:sp>
      <p:sp>
        <p:nvSpPr>
          <p:cNvPr id="9" name="TextBox 8"/>
          <p:cNvSpPr txBox="1"/>
          <p:nvPr/>
        </p:nvSpPr>
        <p:spPr>
          <a:xfrm>
            <a:off x="731520" y="4023360"/>
            <a:ext cx="2743200" cy="320040"/>
          </a:xfrm>
          <a:prstGeom prst="rect">
            <a:avLst/>
          </a:prstGeom>
          <a:noFill/>
        </p:spPr>
        <p:txBody>
          <a:bodyPr wrap="square">
            <a:spAutoFit/>
          </a:bodyPr>
          <a:lstStyle/>
          <a:p>
            <a:pPr algn="l">
              <a:defRPr sz="1600" b="1">
                <a:solidFill>
                  <a:srgbClr val="F59E0B"/>
                </a:solidFill>
                <a:latin typeface="Calibri"/>
              </a:defRPr>
            </a:pPr>
            <a:r>
              <a:t>24 validated_paired_asymmetric</a:t>
            </a:r>
          </a:p>
        </p:txBody>
      </p:sp>
      <p:sp>
        <p:nvSpPr>
          <p:cNvPr id="10" name="TextBox 9"/>
          <p:cNvSpPr txBox="1"/>
          <p:nvPr/>
        </p:nvSpPr>
        <p:spPr>
          <a:xfrm>
            <a:off x="3474720" y="4023360"/>
            <a:ext cx="2743200" cy="320040"/>
          </a:xfrm>
          <a:prstGeom prst="rect">
            <a:avLst/>
          </a:prstGeom>
          <a:noFill/>
        </p:spPr>
        <p:txBody>
          <a:bodyPr wrap="square">
            <a:spAutoFit/>
          </a:bodyPr>
          <a:lstStyle/>
          <a:p>
            <a:pPr algn="l">
              <a:defRPr sz="1400" b="0">
                <a:solidFill>
                  <a:srgbClr val="E2E8F0"/>
                </a:solidFill>
                <a:latin typeface="Calibri"/>
              </a:defRPr>
            </a:pPr>
            <a:r>
              <a:t>sites match the 53 bp geometry</a:t>
            </a:r>
          </a:p>
        </p:txBody>
      </p:sp>
      <p:sp>
        <p:nvSpPr>
          <p:cNvPr id="11" name="TextBox 10"/>
          <p:cNvSpPr txBox="1"/>
          <p:nvPr/>
        </p:nvSpPr>
        <p:spPr>
          <a:xfrm>
            <a:off x="731520" y="4526280"/>
            <a:ext cx="2743200" cy="320040"/>
          </a:xfrm>
          <a:prstGeom prst="rect">
            <a:avLst/>
          </a:prstGeom>
          <a:noFill/>
        </p:spPr>
        <p:txBody>
          <a:bodyPr wrap="square">
            <a:spAutoFit/>
          </a:bodyPr>
          <a:lstStyle/>
          <a:p>
            <a:pPr algn="l">
              <a:defRPr sz="1600" b="1">
                <a:solidFill>
                  <a:srgbClr val="F59E0B"/>
                </a:solidFill>
                <a:latin typeface="Calibri"/>
              </a:defRPr>
            </a:pPr>
            <a:r>
              <a:t>#1 ranked = known operator</a:t>
            </a:r>
          </a:p>
        </p:txBody>
      </p:sp>
      <p:sp>
        <p:nvSpPr>
          <p:cNvPr id="12" name="TextBox 11"/>
          <p:cNvSpPr txBox="1"/>
          <p:nvPr/>
        </p:nvSpPr>
        <p:spPr>
          <a:xfrm>
            <a:off x="3474720" y="4526280"/>
            <a:ext cx="2743200" cy="320040"/>
          </a:xfrm>
          <a:prstGeom prst="rect">
            <a:avLst/>
          </a:prstGeom>
          <a:noFill/>
        </p:spPr>
        <p:txBody>
          <a:bodyPr wrap="square">
            <a:spAutoFit/>
          </a:bodyPr>
          <a:lstStyle/>
          <a:p>
            <a:pPr algn="l">
              <a:defRPr sz="1400" b="0">
                <a:solidFill>
                  <a:srgbClr val="E2E8F0"/>
                </a:solidFill>
                <a:latin typeface="Calibri"/>
              </a:defRPr>
            </a:pPr>
            <a:r>
              <a:t>pipeline correctly identifies the validated site</a:t>
            </a:r>
          </a:p>
        </p:txBody>
      </p:sp>
      <p:pic>
        <p:nvPicPr>
          <p:cNvPr id="13" name="Picture 12" descr="model_comparison.png"/>
          <p:cNvPicPr>
            <a:picLocks noChangeAspect="1"/>
          </p:cNvPicPr>
          <p:nvPr/>
        </p:nvPicPr>
        <p:blipFill>
          <a:blip r:embed="rId2"/>
          <a:stretch>
            <a:fillRect/>
          </a:stretch>
        </p:blipFill>
        <p:spPr>
          <a:xfrm>
            <a:off x="6400800" y="1188720"/>
            <a:ext cx="5303520" cy="411054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Results — Simulation vs. Real MEME</a:t>
            </a:r>
          </a:p>
        </p:txBody>
      </p:sp>
      <p:sp>
        <p:nvSpPr>
          <p:cNvPr id="3" name="Rectangle 2"/>
          <p:cNvSpPr/>
          <p:nvPr/>
        </p:nvSpPr>
        <p:spPr>
          <a:xfrm>
            <a:off x="731520" y="1005840"/>
            <a:ext cx="41148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3017520" cy="411480"/>
          </a:xfrm>
          <a:prstGeom prst="rect">
            <a:avLst/>
          </a:prstGeom>
          <a:noFill/>
        </p:spPr>
        <p:txBody>
          <a:bodyPr wrap="square">
            <a:spAutoFit/>
          </a:bodyPr>
          <a:lstStyle/>
          <a:p>
            <a:pPr algn="ctr">
              <a:defRPr sz="1600" b="1">
                <a:solidFill>
                  <a:srgbClr val="14B8A6"/>
                </a:solidFill>
                <a:latin typeface="Calibri"/>
              </a:defRPr>
            </a:pPr>
            <a:r>
              <a:t>Metric</a:t>
            </a:r>
          </a:p>
        </p:txBody>
      </p:sp>
      <p:sp>
        <p:nvSpPr>
          <p:cNvPr id="5" name="TextBox 4"/>
          <p:cNvSpPr txBox="1"/>
          <p:nvPr/>
        </p:nvSpPr>
        <p:spPr>
          <a:xfrm>
            <a:off x="4114800" y="1371600"/>
            <a:ext cx="3017520" cy="411480"/>
          </a:xfrm>
          <a:prstGeom prst="rect">
            <a:avLst/>
          </a:prstGeom>
          <a:noFill/>
        </p:spPr>
        <p:txBody>
          <a:bodyPr wrap="square">
            <a:spAutoFit/>
          </a:bodyPr>
          <a:lstStyle/>
          <a:p>
            <a:pPr algn="ctr">
              <a:defRPr sz="1600" b="1">
                <a:solidFill>
                  <a:srgbClr val="14B8A6"/>
                </a:solidFill>
                <a:latin typeface="Calibri"/>
              </a:defRPr>
            </a:pPr>
            <a:r>
              <a:t>Simulation</a:t>
            </a:r>
          </a:p>
        </p:txBody>
      </p:sp>
      <p:sp>
        <p:nvSpPr>
          <p:cNvPr id="6" name="TextBox 5"/>
          <p:cNvSpPr txBox="1"/>
          <p:nvPr/>
        </p:nvSpPr>
        <p:spPr>
          <a:xfrm>
            <a:off x="7315200" y="1371600"/>
            <a:ext cx="3017520" cy="411480"/>
          </a:xfrm>
          <a:prstGeom prst="rect">
            <a:avLst/>
          </a:prstGeom>
          <a:noFill/>
        </p:spPr>
        <p:txBody>
          <a:bodyPr wrap="square">
            <a:spAutoFit/>
          </a:bodyPr>
          <a:lstStyle/>
          <a:p>
            <a:pPr algn="ctr">
              <a:defRPr sz="1600" b="1">
                <a:solidFill>
                  <a:srgbClr val="14B8A6"/>
                </a:solidFill>
                <a:latin typeface="Calibri"/>
              </a:defRPr>
            </a:pPr>
            <a:r>
              <a:t>Real MEME</a:t>
            </a:r>
          </a:p>
        </p:txBody>
      </p:sp>
      <p:sp>
        <p:nvSpPr>
          <p:cNvPr id="7" name="Rectangle 6"/>
          <p:cNvSpPr/>
          <p:nvPr/>
        </p:nvSpPr>
        <p:spPr>
          <a:xfrm>
            <a:off x="914400" y="1783080"/>
            <a:ext cx="96012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920240"/>
            <a:ext cx="9601200" cy="50292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971040"/>
            <a:ext cx="3017520" cy="411480"/>
          </a:xfrm>
          <a:prstGeom prst="rect">
            <a:avLst/>
          </a:prstGeom>
          <a:noFill/>
        </p:spPr>
        <p:txBody>
          <a:bodyPr wrap="square">
            <a:spAutoFit/>
          </a:bodyPr>
          <a:lstStyle/>
          <a:p>
            <a:pPr algn="ctr">
              <a:defRPr sz="1500" b="0">
                <a:solidFill>
                  <a:srgbClr val="E2E8F0"/>
                </a:solidFill>
                <a:latin typeface="Calibri"/>
              </a:defRPr>
            </a:pPr>
            <a:r>
              <a:t>Total hits</a:t>
            </a:r>
          </a:p>
        </p:txBody>
      </p:sp>
      <p:sp>
        <p:nvSpPr>
          <p:cNvPr id="10" name="TextBox 9"/>
          <p:cNvSpPr txBox="1"/>
          <p:nvPr/>
        </p:nvSpPr>
        <p:spPr>
          <a:xfrm>
            <a:off x="4114800" y="1971040"/>
            <a:ext cx="3017520" cy="411480"/>
          </a:xfrm>
          <a:prstGeom prst="rect">
            <a:avLst/>
          </a:prstGeom>
          <a:noFill/>
        </p:spPr>
        <p:txBody>
          <a:bodyPr wrap="square">
            <a:spAutoFit/>
          </a:bodyPr>
          <a:lstStyle/>
          <a:p>
            <a:pPr algn="ctr">
              <a:defRPr sz="1500" b="0">
                <a:solidFill>
                  <a:srgbClr val="94A3B8"/>
                </a:solidFill>
                <a:latin typeface="Calibri"/>
              </a:defRPr>
            </a:pPr>
            <a:r>
              <a:t>152</a:t>
            </a:r>
          </a:p>
        </p:txBody>
      </p:sp>
      <p:sp>
        <p:nvSpPr>
          <p:cNvPr id="11" name="TextBox 10"/>
          <p:cNvSpPr txBox="1"/>
          <p:nvPr/>
        </p:nvSpPr>
        <p:spPr>
          <a:xfrm>
            <a:off x="7315200" y="1971040"/>
            <a:ext cx="3017520" cy="411480"/>
          </a:xfrm>
          <a:prstGeom prst="rect">
            <a:avLst/>
          </a:prstGeom>
          <a:noFill/>
        </p:spPr>
        <p:txBody>
          <a:bodyPr wrap="square">
            <a:spAutoFit/>
          </a:bodyPr>
          <a:lstStyle/>
          <a:p>
            <a:pPr algn="ctr">
              <a:defRPr sz="1500" b="1">
                <a:solidFill>
                  <a:srgbClr val="F59E0B"/>
                </a:solidFill>
                <a:latin typeface="Calibri"/>
              </a:defRPr>
            </a:pPr>
            <a:r>
              <a:t>703</a:t>
            </a:r>
          </a:p>
        </p:txBody>
      </p:sp>
      <p:sp>
        <p:nvSpPr>
          <p:cNvPr id="12" name="Rounded Rectangle 11"/>
          <p:cNvSpPr/>
          <p:nvPr/>
        </p:nvSpPr>
        <p:spPr>
          <a:xfrm>
            <a:off x="914400" y="2468880"/>
            <a:ext cx="960120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519680"/>
            <a:ext cx="3017520" cy="411480"/>
          </a:xfrm>
          <a:prstGeom prst="rect">
            <a:avLst/>
          </a:prstGeom>
          <a:noFill/>
        </p:spPr>
        <p:txBody>
          <a:bodyPr wrap="square">
            <a:spAutoFit/>
          </a:bodyPr>
          <a:lstStyle/>
          <a:p>
            <a:pPr algn="ctr">
              <a:defRPr sz="1500" b="0">
                <a:solidFill>
                  <a:srgbClr val="E2E8F0"/>
                </a:solidFill>
                <a:latin typeface="Calibri"/>
              </a:defRPr>
            </a:pPr>
            <a:r>
              <a:t>Tier 1 sites</a:t>
            </a:r>
          </a:p>
        </p:txBody>
      </p:sp>
      <p:sp>
        <p:nvSpPr>
          <p:cNvPr id="14" name="TextBox 13"/>
          <p:cNvSpPr txBox="1"/>
          <p:nvPr/>
        </p:nvSpPr>
        <p:spPr>
          <a:xfrm>
            <a:off x="4114800" y="2519680"/>
            <a:ext cx="3017520" cy="411480"/>
          </a:xfrm>
          <a:prstGeom prst="rect">
            <a:avLst/>
          </a:prstGeom>
          <a:noFill/>
        </p:spPr>
        <p:txBody>
          <a:bodyPr wrap="square">
            <a:spAutoFit/>
          </a:bodyPr>
          <a:lstStyle/>
          <a:p>
            <a:pPr algn="ctr">
              <a:defRPr sz="1500" b="0">
                <a:solidFill>
                  <a:srgbClr val="94A3B8"/>
                </a:solidFill>
                <a:latin typeface="Calibri"/>
              </a:defRPr>
            </a:pPr>
            <a:r>
              <a:t>4</a:t>
            </a:r>
          </a:p>
        </p:txBody>
      </p:sp>
      <p:sp>
        <p:nvSpPr>
          <p:cNvPr id="15" name="TextBox 14"/>
          <p:cNvSpPr txBox="1"/>
          <p:nvPr/>
        </p:nvSpPr>
        <p:spPr>
          <a:xfrm>
            <a:off x="7315200" y="2519680"/>
            <a:ext cx="3017520" cy="411480"/>
          </a:xfrm>
          <a:prstGeom prst="rect">
            <a:avLst/>
          </a:prstGeom>
          <a:noFill/>
        </p:spPr>
        <p:txBody>
          <a:bodyPr wrap="square">
            <a:spAutoFit/>
          </a:bodyPr>
          <a:lstStyle/>
          <a:p>
            <a:pPr algn="ctr">
              <a:defRPr sz="1500" b="1">
                <a:solidFill>
                  <a:srgbClr val="F59E0B"/>
                </a:solidFill>
                <a:latin typeface="Calibri"/>
              </a:defRPr>
            </a:pPr>
            <a:r>
              <a:t>33</a:t>
            </a:r>
          </a:p>
        </p:txBody>
      </p:sp>
      <p:sp>
        <p:nvSpPr>
          <p:cNvPr id="16" name="Rounded Rectangle 15"/>
          <p:cNvSpPr/>
          <p:nvPr/>
        </p:nvSpPr>
        <p:spPr>
          <a:xfrm>
            <a:off x="914400" y="3017520"/>
            <a:ext cx="9601200" cy="50292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3068320"/>
            <a:ext cx="3017520" cy="411480"/>
          </a:xfrm>
          <a:prstGeom prst="rect">
            <a:avLst/>
          </a:prstGeom>
          <a:noFill/>
        </p:spPr>
        <p:txBody>
          <a:bodyPr wrap="square">
            <a:spAutoFit/>
          </a:bodyPr>
          <a:lstStyle/>
          <a:p>
            <a:pPr algn="ctr">
              <a:defRPr sz="1500" b="0">
                <a:solidFill>
                  <a:srgbClr val="E2E8F0"/>
                </a:solidFill>
                <a:latin typeface="Calibri"/>
              </a:defRPr>
            </a:pPr>
            <a:r>
              <a:t>Tier 2 sites</a:t>
            </a:r>
          </a:p>
        </p:txBody>
      </p:sp>
      <p:sp>
        <p:nvSpPr>
          <p:cNvPr id="18" name="TextBox 17"/>
          <p:cNvSpPr txBox="1"/>
          <p:nvPr/>
        </p:nvSpPr>
        <p:spPr>
          <a:xfrm>
            <a:off x="4114800" y="3068320"/>
            <a:ext cx="3017520" cy="411480"/>
          </a:xfrm>
          <a:prstGeom prst="rect">
            <a:avLst/>
          </a:prstGeom>
          <a:noFill/>
        </p:spPr>
        <p:txBody>
          <a:bodyPr wrap="square">
            <a:spAutoFit/>
          </a:bodyPr>
          <a:lstStyle/>
          <a:p>
            <a:pPr algn="ctr">
              <a:defRPr sz="1500" b="0">
                <a:solidFill>
                  <a:srgbClr val="94A3B8"/>
                </a:solidFill>
                <a:latin typeface="Calibri"/>
              </a:defRPr>
            </a:pPr>
            <a:r>
              <a:t>5</a:t>
            </a:r>
          </a:p>
        </p:txBody>
      </p:sp>
      <p:sp>
        <p:nvSpPr>
          <p:cNvPr id="19" name="TextBox 18"/>
          <p:cNvSpPr txBox="1"/>
          <p:nvPr/>
        </p:nvSpPr>
        <p:spPr>
          <a:xfrm>
            <a:off x="7315200" y="3068320"/>
            <a:ext cx="3017520" cy="411480"/>
          </a:xfrm>
          <a:prstGeom prst="rect">
            <a:avLst/>
          </a:prstGeom>
          <a:noFill/>
        </p:spPr>
        <p:txBody>
          <a:bodyPr wrap="square">
            <a:spAutoFit/>
          </a:bodyPr>
          <a:lstStyle/>
          <a:p>
            <a:pPr algn="ctr">
              <a:defRPr sz="1500" b="1">
                <a:solidFill>
                  <a:srgbClr val="F59E0B"/>
                </a:solidFill>
                <a:latin typeface="Calibri"/>
              </a:defRPr>
            </a:pPr>
            <a:r>
              <a:t>39</a:t>
            </a:r>
          </a:p>
        </p:txBody>
      </p:sp>
      <p:sp>
        <p:nvSpPr>
          <p:cNvPr id="20" name="Rounded Rectangle 19"/>
          <p:cNvSpPr/>
          <p:nvPr/>
        </p:nvSpPr>
        <p:spPr>
          <a:xfrm>
            <a:off x="914400" y="3566160"/>
            <a:ext cx="9601200" cy="50292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616960"/>
            <a:ext cx="3017520" cy="411480"/>
          </a:xfrm>
          <a:prstGeom prst="rect">
            <a:avLst/>
          </a:prstGeom>
          <a:noFill/>
        </p:spPr>
        <p:txBody>
          <a:bodyPr wrap="square">
            <a:spAutoFit/>
          </a:bodyPr>
          <a:lstStyle/>
          <a:p>
            <a:pPr algn="ctr">
              <a:defRPr sz="1500" b="0">
                <a:solidFill>
                  <a:srgbClr val="E2E8F0"/>
                </a:solidFill>
                <a:latin typeface="Calibri"/>
              </a:defRPr>
            </a:pPr>
            <a:r>
              <a:t>Top composite score</a:t>
            </a:r>
          </a:p>
        </p:txBody>
      </p:sp>
      <p:sp>
        <p:nvSpPr>
          <p:cNvPr id="22" name="TextBox 21"/>
          <p:cNvSpPr txBox="1"/>
          <p:nvPr/>
        </p:nvSpPr>
        <p:spPr>
          <a:xfrm>
            <a:off x="4114800" y="3616960"/>
            <a:ext cx="3017520" cy="411480"/>
          </a:xfrm>
          <a:prstGeom prst="rect">
            <a:avLst/>
          </a:prstGeom>
          <a:noFill/>
        </p:spPr>
        <p:txBody>
          <a:bodyPr wrap="square">
            <a:spAutoFit/>
          </a:bodyPr>
          <a:lstStyle/>
          <a:p>
            <a:pPr algn="ctr">
              <a:defRPr sz="1500" b="0">
                <a:solidFill>
                  <a:srgbClr val="94A3B8"/>
                </a:solidFill>
                <a:latin typeface="Calibri"/>
              </a:defRPr>
            </a:pPr>
            <a:r>
              <a:t>0.365</a:t>
            </a:r>
          </a:p>
        </p:txBody>
      </p:sp>
      <p:sp>
        <p:nvSpPr>
          <p:cNvPr id="23" name="TextBox 22"/>
          <p:cNvSpPr txBox="1"/>
          <p:nvPr/>
        </p:nvSpPr>
        <p:spPr>
          <a:xfrm>
            <a:off x="7315200" y="3616960"/>
            <a:ext cx="3017520" cy="411480"/>
          </a:xfrm>
          <a:prstGeom prst="rect">
            <a:avLst/>
          </a:prstGeom>
          <a:noFill/>
        </p:spPr>
        <p:txBody>
          <a:bodyPr wrap="square">
            <a:spAutoFit/>
          </a:bodyPr>
          <a:lstStyle/>
          <a:p>
            <a:pPr algn="ctr">
              <a:defRPr sz="1500" b="1">
                <a:solidFill>
                  <a:srgbClr val="F59E0B"/>
                </a:solidFill>
                <a:latin typeface="Calibri"/>
              </a:defRPr>
            </a:pPr>
            <a:r>
              <a:t>0.942</a:t>
            </a:r>
          </a:p>
        </p:txBody>
      </p:sp>
      <p:sp>
        <p:nvSpPr>
          <p:cNvPr id="24" name="Rounded Rectangle 23"/>
          <p:cNvSpPr/>
          <p:nvPr/>
        </p:nvSpPr>
        <p:spPr>
          <a:xfrm>
            <a:off x="914400" y="4114800"/>
            <a:ext cx="9601200" cy="50292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4165600"/>
            <a:ext cx="3017520" cy="411480"/>
          </a:xfrm>
          <a:prstGeom prst="rect">
            <a:avLst/>
          </a:prstGeom>
          <a:noFill/>
        </p:spPr>
        <p:txBody>
          <a:bodyPr wrap="square">
            <a:spAutoFit/>
          </a:bodyPr>
          <a:lstStyle/>
          <a:p>
            <a:pPr algn="ctr">
              <a:defRPr sz="1500" b="0">
                <a:solidFill>
                  <a:srgbClr val="E2E8F0"/>
                </a:solidFill>
                <a:latin typeface="Calibri"/>
              </a:defRPr>
            </a:pPr>
            <a:r>
              <a:t>Validated paired sites</a:t>
            </a:r>
          </a:p>
        </p:txBody>
      </p:sp>
      <p:sp>
        <p:nvSpPr>
          <p:cNvPr id="26" name="TextBox 25"/>
          <p:cNvSpPr txBox="1"/>
          <p:nvPr/>
        </p:nvSpPr>
        <p:spPr>
          <a:xfrm>
            <a:off x="4114800" y="4165600"/>
            <a:ext cx="3017520" cy="411480"/>
          </a:xfrm>
          <a:prstGeom prst="rect">
            <a:avLst/>
          </a:prstGeom>
          <a:noFill/>
        </p:spPr>
        <p:txBody>
          <a:bodyPr wrap="square">
            <a:spAutoFit/>
          </a:bodyPr>
          <a:lstStyle/>
          <a:p>
            <a:pPr algn="ctr">
              <a:defRPr sz="1500" b="0">
                <a:solidFill>
                  <a:srgbClr val="94A3B8"/>
                </a:solidFill>
                <a:latin typeface="Calibri"/>
              </a:defRPr>
            </a:pPr>
            <a:r>
              <a:t>0</a:t>
            </a:r>
          </a:p>
        </p:txBody>
      </p:sp>
      <p:sp>
        <p:nvSpPr>
          <p:cNvPr id="27" name="TextBox 26"/>
          <p:cNvSpPr txBox="1"/>
          <p:nvPr/>
        </p:nvSpPr>
        <p:spPr>
          <a:xfrm>
            <a:off x="7315200" y="4165600"/>
            <a:ext cx="3017520" cy="411480"/>
          </a:xfrm>
          <a:prstGeom prst="rect">
            <a:avLst/>
          </a:prstGeom>
          <a:noFill/>
        </p:spPr>
        <p:txBody>
          <a:bodyPr wrap="square">
            <a:spAutoFit/>
          </a:bodyPr>
          <a:lstStyle/>
          <a:p>
            <a:pPr algn="ctr">
              <a:defRPr sz="1500" b="1">
                <a:solidFill>
                  <a:srgbClr val="F59E0B"/>
                </a:solidFill>
                <a:latin typeface="Calibri"/>
              </a:defRPr>
            </a:pPr>
            <a:r>
              <a:t>24</a:t>
            </a:r>
          </a:p>
        </p:txBody>
      </p:sp>
      <p:sp>
        <p:nvSpPr>
          <p:cNvPr id="28" name="Rounded Rectangle 27"/>
          <p:cNvSpPr/>
          <p:nvPr/>
        </p:nvSpPr>
        <p:spPr>
          <a:xfrm>
            <a:off x="1828800" y="5029200"/>
            <a:ext cx="8229600" cy="109728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800" b="1">
                <a:solidFill>
                  <a:srgbClr val="F59E0B"/>
                </a:solidFill>
              </a:defRPr>
            </a:pPr>
            <a:r>
              <a:t>Key Insight: Real motif discovery dramatically outperforms hardcoded consensus</a:t>
            </a:r>
          </a:p>
          <a:p>
            <a:pPr algn="ctr">
              <a:spcBef>
                <a:spcPts val="800"/>
              </a:spcBef>
              <a:defRPr sz="1400" b="0">
                <a:solidFill>
                  <a:srgbClr val="94A3B8"/>
                </a:solidFill>
                <a:latin typeface="Calibri"/>
              </a:defRPr>
            </a:pPr>
            <a:r>
              <a:t>De novo MEME discovery captures sequence features that a static consensus misses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The 24 High-Confidence Targets</a:t>
            </a:r>
          </a:p>
        </p:txBody>
      </p:sp>
      <p:sp>
        <p:nvSpPr>
          <p:cNvPr id="3" name="Rectangle 2"/>
          <p:cNvSpPr/>
          <p:nvPr/>
        </p:nvSpPr>
        <p:spPr>
          <a:xfrm>
            <a:off x="731520" y="1005840"/>
            <a:ext cx="36576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188720"/>
            <a:ext cx="5486400" cy="457200"/>
          </a:xfrm>
          <a:prstGeom prst="rect">
            <a:avLst/>
          </a:prstGeom>
          <a:noFill/>
        </p:spPr>
        <p:txBody>
          <a:bodyPr wrap="square">
            <a:spAutoFit/>
          </a:bodyPr>
          <a:lstStyle/>
          <a:p>
            <a:pPr algn="l">
              <a:defRPr sz="1400" b="0">
                <a:solidFill>
                  <a:srgbClr val="94A3B8"/>
                </a:solidFill>
                <a:latin typeface="Calibri"/>
              </a:defRPr>
            </a:pPr>
            <a:r>
              <a:t>Sites with validated_paired_asymmetric architecture (40–65 bp spacer)</a:t>
            </a:r>
          </a:p>
        </p:txBody>
      </p:sp>
      <p:sp>
        <p:nvSpPr>
          <p:cNvPr id="5" name="Rounded Rectangle 4"/>
          <p:cNvSpPr/>
          <p:nvPr/>
        </p:nvSpPr>
        <p:spPr>
          <a:xfrm>
            <a:off x="731520" y="1737360"/>
            <a:ext cx="36576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762760"/>
            <a:ext cx="320040" cy="320040"/>
          </a:xfrm>
          <a:prstGeom prst="rect">
            <a:avLst/>
          </a:prstGeom>
          <a:noFill/>
        </p:spPr>
        <p:txBody>
          <a:bodyPr wrap="square">
            <a:spAutoFit/>
          </a:bodyPr>
          <a:lstStyle/>
          <a:p>
            <a:pPr algn="ctr">
              <a:defRPr sz="1400" b="1">
                <a:solidFill>
                  <a:srgbClr val="0B1D3A"/>
                </a:solidFill>
                <a:latin typeface="Calibri"/>
              </a:defRPr>
            </a:pPr>
            <a:r>
              <a:t>1</a:t>
            </a:r>
          </a:p>
        </p:txBody>
      </p:sp>
      <p:sp>
        <p:nvSpPr>
          <p:cNvPr id="7" name="TextBox 6"/>
          <p:cNvSpPr txBox="1"/>
          <p:nvPr/>
        </p:nvSpPr>
        <p:spPr>
          <a:xfrm>
            <a:off x="1280160" y="1737360"/>
            <a:ext cx="2286000" cy="365760"/>
          </a:xfrm>
          <a:prstGeom prst="rect">
            <a:avLst/>
          </a:prstGeom>
          <a:noFill/>
        </p:spPr>
        <p:txBody>
          <a:bodyPr wrap="square">
            <a:spAutoFit/>
          </a:bodyPr>
          <a:lstStyle/>
          <a:p>
            <a:pPr algn="l">
              <a:defRPr sz="1500" b="1">
                <a:solidFill>
                  <a:srgbClr val="FFFFFF"/>
                </a:solidFill>
                <a:latin typeface="Calibri"/>
              </a:defRPr>
            </a:pPr>
            <a:r>
              <a:t>IGR_Rv1963c_Rv1964</a:t>
            </a:r>
          </a:p>
        </p:txBody>
      </p:sp>
      <p:sp>
        <p:nvSpPr>
          <p:cNvPr id="8" name="TextBox 7"/>
          <p:cNvSpPr txBox="1"/>
          <p:nvPr/>
        </p:nvSpPr>
        <p:spPr>
          <a:xfrm>
            <a:off x="3657600" y="1737360"/>
            <a:ext cx="2560320" cy="365760"/>
          </a:xfrm>
          <a:prstGeom prst="rect">
            <a:avLst/>
          </a:prstGeom>
          <a:noFill/>
        </p:spPr>
        <p:txBody>
          <a:bodyPr wrap="square">
            <a:spAutoFit/>
          </a:bodyPr>
          <a:lstStyle/>
          <a:p>
            <a:pPr algn="l">
              <a:defRPr sz="1300" b="0">
                <a:solidFill>
                  <a:srgbClr val="94A3B8"/>
                </a:solidFill>
                <a:latin typeface="Calibri"/>
              </a:defRPr>
            </a:pPr>
            <a:r>
              <a:t>Known operator (validation)</a:t>
            </a:r>
          </a:p>
        </p:txBody>
      </p:sp>
      <p:sp>
        <p:nvSpPr>
          <p:cNvPr id="9" name="TextBox 8"/>
          <p:cNvSpPr txBox="1"/>
          <p:nvPr/>
        </p:nvSpPr>
        <p:spPr>
          <a:xfrm>
            <a:off x="5303520" y="1750060"/>
            <a:ext cx="914400" cy="320040"/>
          </a:xfrm>
          <a:prstGeom prst="rect">
            <a:avLst/>
          </a:prstGeom>
          <a:noFill/>
        </p:spPr>
        <p:txBody>
          <a:bodyPr wrap="square">
            <a:spAutoFit/>
          </a:bodyPr>
          <a:lstStyle/>
          <a:p>
            <a:pPr algn="r">
              <a:defRPr sz="1400" b="1">
                <a:solidFill>
                  <a:srgbClr val="F59E0B"/>
                </a:solidFill>
                <a:latin typeface="Calibri"/>
              </a:defRPr>
            </a:pPr>
            <a:r>
              <a:t>0.942</a:t>
            </a:r>
          </a:p>
        </p:txBody>
      </p:sp>
      <p:sp>
        <p:nvSpPr>
          <p:cNvPr id="10" name="Rounded Rectangle 9"/>
          <p:cNvSpPr/>
          <p:nvPr/>
        </p:nvSpPr>
        <p:spPr>
          <a:xfrm>
            <a:off x="731520" y="2240280"/>
            <a:ext cx="365760" cy="36576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265680"/>
            <a:ext cx="320040" cy="320040"/>
          </a:xfrm>
          <a:prstGeom prst="rect">
            <a:avLst/>
          </a:prstGeom>
          <a:noFill/>
        </p:spPr>
        <p:txBody>
          <a:bodyPr wrap="square">
            <a:spAutoFit/>
          </a:bodyPr>
          <a:lstStyle/>
          <a:p>
            <a:pPr algn="ctr">
              <a:defRPr sz="1400" b="1">
                <a:solidFill>
                  <a:srgbClr val="0B1D3A"/>
                </a:solidFill>
                <a:latin typeface="Calibri"/>
              </a:defRPr>
            </a:pPr>
            <a:r>
              <a:t>2</a:t>
            </a:r>
          </a:p>
        </p:txBody>
      </p:sp>
      <p:sp>
        <p:nvSpPr>
          <p:cNvPr id="12" name="TextBox 11"/>
          <p:cNvSpPr txBox="1"/>
          <p:nvPr/>
        </p:nvSpPr>
        <p:spPr>
          <a:xfrm>
            <a:off x="1280160" y="2240280"/>
            <a:ext cx="2286000" cy="365760"/>
          </a:xfrm>
          <a:prstGeom prst="rect">
            <a:avLst/>
          </a:prstGeom>
          <a:noFill/>
        </p:spPr>
        <p:txBody>
          <a:bodyPr wrap="square">
            <a:spAutoFit/>
          </a:bodyPr>
          <a:lstStyle/>
          <a:p>
            <a:pPr algn="l">
              <a:defRPr sz="1500" b="1">
                <a:solidFill>
                  <a:srgbClr val="FFFFFF"/>
                </a:solidFill>
                <a:latin typeface="Calibri"/>
              </a:defRPr>
            </a:pPr>
            <a:r>
              <a:t>Rv1964 / yrbE3A</a:t>
            </a:r>
          </a:p>
        </p:txBody>
      </p:sp>
      <p:sp>
        <p:nvSpPr>
          <p:cNvPr id="13" name="TextBox 12"/>
          <p:cNvSpPr txBox="1"/>
          <p:nvPr/>
        </p:nvSpPr>
        <p:spPr>
          <a:xfrm>
            <a:off x="3657600" y="2240280"/>
            <a:ext cx="2560320" cy="365760"/>
          </a:xfrm>
          <a:prstGeom prst="rect">
            <a:avLst/>
          </a:prstGeom>
          <a:noFill/>
        </p:spPr>
        <p:txBody>
          <a:bodyPr wrap="square">
            <a:spAutoFit/>
          </a:bodyPr>
          <a:lstStyle/>
          <a:p>
            <a:pPr algn="l">
              <a:defRPr sz="1300" b="0">
                <a:solidFill>
                  <a:srgbClr val="94A3B8"/>
                </a:solidFill>
                <a:latin typeface="Calibri"/>
              </a:defRPr>
            </a:pPr>
            <a:r>
              <a:t>mce3 operon integral membrane</a:t>
            </a:r>
          </a:p>
        </p:txBody>
      </p:sp>
      <p:sp>
        <p:nvSpPr>
          <p:cNvPr id="14" name="TextBox 13"/>
          <p:cNvSpPr txBox="1"/>
          <p:nvPr/>
        </p:nvSpPr>
        <p:spPr>
          <a:xfrm>
            <a:off x="5303520" y="2252980"/>
            <a:ext cx="914400" cy="320040"/>
          </a:xfrm>
          <a:prstGeom prst="rect">
            <a:avLst/>
          </a:prstGeom>
          <a:noFill/>
        </p:spPr>
        <p:txBody>
          <a:bodyPr wrap="square">
            <a:spAutoFit/>
          </a:bodyPr>
          <a:lstStyle/>
          <a:p>
            <a:pPr algn="r">
              <a:defRPr sz="1400" b="1">
                <a:solidFill>
                  <a:srgbClr val="F59E0B"/>
                </a:solidFill>
                <a:latin typeface="Calibri"/>
              </a:defRPr>
            </a:pPr>
            <a:r>
              <a:t>0.895</a:t>
            </a:r>
          </a:p>
        </p:txBody>
      </p:sp>
      <p:sp>
        <p:nvSpPr>
          <p:cNvPr id="15" name="Rounded Rectangle 14"/>
          <p:cNvSpPr/>
          <p:nvPr/>
        </p:nvSpPr>
        <p:spPr>
          <a:xfrm>
            <a:off x="731520" y="2743200"/>
            <a:ext cx="36576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68600"/>
            <a:ext cx="320040" cy="320040"/>
          </a:xfrm>
          <a:prstGeom prst="rect">
            <a:avLst/>
          </a:prstGeom>
          <a:noFill/>
        </p:spPr>
        <p:txBody>
          <a:bodyPr wrap="square">
            <a:spAutoFit/>
          </a:bodyPr>
          <a:lstStyle/>
          <a:p>
            <a:pPr algn="ctr">
              <a:defRPr sz="1400" b="1">
                <a:solidFill>
                  <a:srgbClr val="0B1D3A"/>
                </a:solidFill>
                <a:latin typeface="Calibri"/>
              </a:defRPr>
            </a:pPr>
            <a:r>
              <a:t>3</a:t>
            </a:r>
          </a:p>
        </p:txBody>
      </p:sp>
      <p:sp>
        <p:nvSpPr>
          <p:cNvPr id="17" name="TextBox 16"/>
          <p:cNvSpPr txBox="1"/>
          <p:nvPr/>
        </p:nvSpPr>
        <p:spPr>
          <a:xfrm>
            <a:off x="1280160" y="2743200"/>
            <a:ext cx="2286000" cy="365760"/>
          </a:xfrm>
          <a:prstGeom prst="rect">
            <a:avLst/>
          </a:prstGeom>
          <a:noFill/>
        </p:spPr>
        <p:txBody>
          <a:bodyPr wrap="square">
            <a:spAutoFit/>
          </a:bodyPr>
          <a:lstStyle/>
          <a:p>
            <a:pPr algn="l">
              <a:defRPr sz="1500" b="1">
                <a:solidFill>
                  <a:srgbClr val="FFFFFF"/>
                </a:solidFill>
                <a:latin typeface="Calibri"/>
              </a:defRPr>
            </a:pPr>
            <a:r>
              <a:t>Rv1176c</a:t>
            </a:r>
          </a:p>
        </p:txBody>
      </p:sp>
      <p:sp>
        <p:nvSpPr>
          <p:cNvPr id="18" name="TextBox 17"/>
          <p:cNvSpPr txBox="1"/>
          <p:nvPr/>
        </p:nvSpPr>
        <p:spPr>
          <a:xfrm>
            <a:off x="3657600" y="2743200"/>
            <a:ext cx="2560320" cy="365760"/>
          </a:xfrm>
          <a:prstGeom prst="rect">
            <a:avLst/>
          </a:prstGeom>
          <a:noFill/>
        </p:spPr>
        <p:txBody>
          <a:bodyPr wrap="square">
            <a:spAutoFit/>
          </a:bodyPr>
          <a:lstStyle/>
          <a:p>
            <a:pPr algn="l">
              <a:defRPr sz="1300" b="0">
                <a:solidFill>
                  <a:srgbClr val="94A3B8"/>
                </a:solidFill>
                <a:latin typeface="Calibri"/>
              </a:defRPr>
            </a:pPr>
            <a:r>
              <a:t>Hypothetical (54 bp spacer)</a:t>
            </a:r>
          </a:p>
        </p:txBody>
      </p:sp>
      <p:sp>
        <p:nvSpPr>
          <p:cNvPr id="19" name="TextBox 18"/>
          <p:cNvSpPr txBox="1"/>
          <p:nvPr/>
        </p:nvSpPr>
        <p:spPr>
          <a:xfrm>
            <a:off x="5303520" y="2755900"/>
            <a:ext cx="914400" cy="320040"/>
          </a:xfrm>
          <a:prstGeom prst="rect">
            <a:avLst/>
          </a:prstGeom>
          <a:noFill/>
        </p:spPr>
        <p:txBody>
          <a:bodyPr wrap="square">
            <a:spAutoFit/>
          </a:bodyPr>
          <a:lstStyle/>
          <a:p>
            <a:pPr algn="r">
              <a:defRPr sz="1400" b="1">
                <a:solidFill>
                  <a:srgbClr val="14B8A6"/>
                </a:solidFill>
                <a:latin typeface="Calibri"/>
              </a:defRPr>
            </a:pPr>
            <a:r>
              <a:t>0.857</a:t>
            </a:r>
          </a:p>
        </p:txBody>
      </p:sp>
      <p:sp>
        <p:nvSpPr>
          <p:cNvPr id="20" name="Rounded Rectangle 19"/>
          <p:cNvSpPr/>
          <p:nvPr/>
        </p:nvSpPr>
        <p:spPr>
          <a:xfrm>
            <a:off x="731520" y="3246120"/>
            <a:ext cx="36576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7240" y="3271520"/>
            <a:ext cx="320040" cy="320040"/>
          </a:xfrm>
          <a:prstGeom prst="rect">
            <a:avLst/>
          </a:prstGeom>
          <a:noFill/>
        </p:spPr>
        <p:txBody>
          <a:bodyPr wrap="square">
            <a:spAutoFit/>
          </a:bodyPr>
          <a:lstStyle/>
          <a:p>
            <a:pPr algn="ctr">
              <a:defRPr sz="1400" b="1">
                <a:solidFill>
                  <a:srgbClr val="0B1D3A"/>
                </a:solidFill>
                <a:latin typeface="Calibri"/>
              </a:defRPr>
            </a:pPr>
            <a:r>
              <a:t>4</a:t>
            </a:r>
          </a:p>
        </p:txBody>
      </p:sp>
      <p:sp>
        <p:nvSpPr>
          <p:cNvPr id="22" name="TextBox 21"/>
          <p:cNvSpPr txBox="1"/>
          <p:nvPr/>
        </p:nvSpPr>
        <p:spPr>
          <a:xfrm>
            <a:off x="1280160" y="3246120"/>
            <a:ext cx="2286000" cy="365760"/>
          </a:xfrm>
          <a:prstGeom prst="rect">
            <a:avLst/>
          </a:prstGeom>
          <a:noFill/>
        </p:spPr>
        <p:txBody>
          <a:bodyPr wrap="square">
            <a:spAutoFit/>
          </a:bodyPr>
          <a:lstStyle/>
          <a:p>
            <a:pPr algn="l">
              <a:defRPr sz="1500" b="1">
                <a:solidFill>
                  <a:srgbClr val="FFFFFF"/>
                </a:solidFill>
                <a:latin typeface="Calibri"/>
              </a:defRPr>
            </a:pPr>
            <a:r>
              <a:t>Rv3545c / cyp125</a:t>
            </a:r>
          </a:p>
        </p:txBody>
      </p:sp>
      <p:sp>
        <p:nvSpPr>
          <p:cNvPr id="23" name="TextBox 22"/>
          <p:cNvSpPr txBox="1"/>
          <p:nvPr/>
        </p:nvSpPr>
        <p:spPr>
          <a:xfrm>
            <a:off x="3657600" y="3246120"/>
            <a:ext cx="2560320" cy="365760"/>
          </a:xfrm>
          <a:prstGeom prst="rect">
            <a:avLst/>
          </a:prstGeom>
          <a:noFill/>
        </p:spPr>
        <p:txBody>
          <a:bodyPr wrap="square">
            <a:spAutoFit/>
          </a:bodyPr>
          <a:lstStyle/>
          <a:p>
            <a:pPr algn="l">
              <a:defRPr sz="1300" b="0">
                <a:solidFill>
                  <a:srgbClr val="94A3B8"/>
                </a:solidFill>
                <a:latin typeface="Calibri"/>
              </a:defRPr>
            </a:pPr>
            <a:r>
              <a:t>Steroid C26-monooxygenase</a:t>
            </a:r>
          </a:p>
        </p:txBody>
      </p:sp>
      <p:sp>
        <p:nvSpPr>
          <p:cNvPr id="24" name="TextBox 23"/>
          <p:cNvSpPr txBox="1"/>
          <p:nvPr/>
        </p:nvSpPr>
        <p:spPr>
          <a:xfrm>
            <a:off x="5303520" y="3258820"/>
            <a:ext cx="914400" cy="320040"/>
          </a:xfrm>
          <a:prstGeom prst="rect">
            <a:avLst/>
          </a:prstGeom>
          <a:noFill/>
        </p:spPr>
        <p:txBody>
          <a:bodyPr wrap="square">
            <a:spAutoFit/>
          </a:bodyPr>
          <a:lstStyle/>
          <a:p>
            <a:pPr algn="r">
              <a:defRPr sz="1400" b="1">
                <a:solidFill>
                  <a:srgbClr val="14B8A6"/>
                </a:solidFill>
                <a:latin typeface="Calibri"/>
              </a:defRPr>
            </a:pPr>
            <a:r>
              <a:t>0.815</a:t>
            </a:r>
          </a:p>
        </p:txBody>
      </p:sp>
      <p:sp>
        <p:nvSpPr>
          <p:cNvPr id="25" name="Rounded Rectangle 24"/>
          <p:cNvSpPr/>
          <p:nvPr/>
        </p:nvSpPr>
        <p:spPr>
          <a:xfrm>
            <a:off x="731520" y="3749040"/>
            <a:ext cx="365760" cy="36576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 y="3774440"/>
            <a:ext cx="320040" cy="320040"/>
          </a:xfrm>
          <a:prstGeom prst="rect">
            <a:avLst/>
          </a:prstGeom>
          <a:noFill/>
        </p:spPr>
        <p:txBody>
          <a:bodyPr wrap="square">
            <a:spAutoFit/>
          </a:bodyPr>
          <a:lstStyle/>
          <a:p>
            <a:pPr algn="ctr">
              <a:defRPr sz="1400" b="1">
                <a:solidFill>
                  <a:srgbClr val="0B1D3A"/>
                </a:solidFill>
                <a:latin typeface="Calibri"/>
              </a:defRPr>
            </a:pPr>
            <a:r>
              <a:t>5</a:t>
            </a:r>
          </a:p>
        </p:txBody>
      </p:sp>
      <p:sp>
        <p:nvSpPr>
          <p:cNvPr id="27" name="TextBox 26"/>
          <p:cNvSpPr txBox="1"/>
          <p:nvPr/>
        </p:nvSpPr>
        <p:spPr>
          <a:xfrm>
            <a:off x="1280160" y="3749040"/>
            <a:ext cx="2286000" cy="365760"/>
          </a:xfrm>
          <a:prstGeom prst="rect">
            <a:avLst/>
          </a:prstGeom>
          <a:noFill/>
        </p:spPr>
        <p:txBody>
          <a:bodyPr wrap="square">
            <a:spAutoFit/>
          </a:bodyPr>
          <a:lstStyle/>
          <a:p>
            <a:pPr algn="l">
              <a:defRPr sz="1500" b="1">
                <a:solidFill>
                  <a:srgbClr val="FFFFFF"/>
                </a:solidFill>
                <a:latin typeface="Calibri"/>
              </a:defRPr>
            </a:pPr>
            <a:r>
              <a:t>Rv3575c / Rv3576</a:t>
            </a:r>
          </a:p>
        </p:txBody>
      </p:sp>
      <p:sp>
        <p:nvSpPr>
          <p:cNvPr id="28" name="TextBox 27"/>
          <p:cNvSpPr txBox="1"/>
          <p:nvPr/>
        </p:nvSpPr>
        <p:spPr>
          <a:xfrm>
            <a:off x="3657600" y="3749040"/>
            <a:ext cx="2560320" cy="365760"/>
          </a:xfrm>
          <a:prstGeom prst="rect">
            <a:avLst/>
          </a:prstGeom>
          <a:noFill/>
        </p:spPr>
        <p:txBody>
          <a:bodyPr wrap="square">
            <a:spAutoFit/>
          </a:bodyPr>
          <a:lstStyle/>
          <a:p>
            <a:pPr algn="l">
              <a:defRPr sz="1300" b="0">
                <a:solidFill>
                  <a:srgbClr val="94A3B8"/>
                </a:solidFill>
                <a:latin typeface="Calibri"/>
              </a:defRPr>
            </a:pPr>
            <a:r>
              <a:t>LacI regulator / lppH (53 bp spacer)</a:t>
            </a:r>
          </a:p>
        </p:txBody>
      </p:sp>
      <p:sp>
        <p:nvSpPr>
          <p:cNvPr id="29" name="TextBox 28"/>
          <p:cNvSpPr txBox="1"/>
          <p:nvPr/>
        </p:nvSpPr>
        <p:spPr>
          <a:xfrm>
            <a:off x="5303520" y="3761740"/>
            <a:ext cx="914400" cy="320040"/>
          </a:xfrm>
          <a:prstGeom prst="rect">
            <a:avLst/>
          </a:prstGeom>
          <a:noFill/>
        </p:spPr>
        <p:txBody>
          <a:bodyPr wrap="square">
            <a:spAutoFit/>
          </a:bodyPr>
          <a:lstStyle/>
          <a:p>
            <a:pPr algn="r">
              <a:defRPr sz="1400" b="1">
                <a:solidFill>
                  <a:srgbClr val="14B8A6"/>
                </a:solidFill>
                <a:latin typeface="Calibri"/>
              </a:defRPr>
            </a:pPr>
            <a:r>
              <a:t>0.755</a:t>
            </a:r>
          </a:p>
        </p:txBody>
      </p:sp>
      <p:pic>
        <p:nvPicPr>
          <p:cNvPr id="30" name="Picture 29" descr="operator_architecture_diagram.png"/>
          <p:cNvPicPr>
            <a:picLocks noChangeAspect="1"/>
          </p:cNvPicPr>
          <p:nvPr/>
        </p:nvPicPr>
        <p:blipFill>
          <a:blip r:embed="rId2"/>
          <a:stretch>
            <a:fillRect/>
          </a:stretch>
        </p:blipFill>
        <p:spPr>
          <a:xfrm>
            <a:off x="6400800" y="1188720"/>
            <a:ext cx="5303520" cy="349117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Biological Coherence</a:t>
            </a:r>
          </a:p>
        </p:txBody>
      </p:sp>
      <p:sp>
        <p:nvSpPr>
          <p:cNvPr id="3" name="Rectangle 2"/>
          <p:cNvSpPr/>
          <p:nvPr/>
        </p:nvSpPr>
        <p:spPr>
          <a:xfrm>
            <a:off x="731520" y="1005840"/>
            <a:ext cx="32004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5486400" cy="457200"/>
          </a:xfrm>
          <a:prstGeom prst="rect">
            <a:avLst/>
          </a:prstGeom>
          <a:noFill/>
        </p:spPr>
        <p:txBody>
          <a:bodyPr wrap="square">
            <a:spAutoFit/>
          </a:bodyPr>
          <a:lstStyle/>
          <a:p>
            <a:pPr algn="l">
              <a:defRPr sz="1600" b="1">
                <a:solidFill>
                  <a:srgbClr val="F59E0B"/>
                </a:solidFill>
                <a:latin typeface="Calibri"/>
              </a:defRPr>
            </a:pPr>
            <a:r>
              <a:t>Tier 2 targets cluster in cholesterol/lipid metabolism — not random</a:t>
            </a:r>
          </a:p>
        </p:txBody>
      </p:sp>
      <p:sp>
        <p:nvSpPr>
          <p:cNvPr id="5" name="TextBox 4"/>
          <p:cNvSpPr txBox="1"/>
          <p:nvPr/>
        </p:nvSpPr>
        <p:spPr>
          <a:xfrm>
            <a:off x="731520" y="2011680"/>
            <a:ext cx="2286000" cy="365760"/>
          </a:xfrm>
          <a:prstGeom prst="rect">
            <a:avLst/>
          </a:prstGeom>
          <a:noFill/>
        </p:spPr>
        <p:txBody>
          <a:bodyPr wrap="square">
            <a:spAutoFit/>
          </a:bodyPr>
          <a:lstStyle/>
          <a:p>
            <a:pPr algn="l">
              <a:defRPr sz="1500" b="1">
                <a:solidFill>
                  <a:srgbClr val="14B8A6"/>
                </a:solidFill>
                <a:latin typeface="Calibri"/>
              </a:defRPr>
            </a:pPr>
            <a:r>
              <a:t>Cholesterol import</a:t>
            </a:r>
          </a:p>
        </p:txBody>
      </p:sp>
      <p:sp>
        <p:nvSpPr>
          <p:cNvPr id="6" name="TextBox 5"/>
          <p:cNvSpPr txBox="1"/>
          <p:nvPr/>
        </p:nvSpPr>
        <p:spPr>
          <a:xfrm>
            <a:off x="3017520" y="2011680"/>
            <a:ext cx="3200400" cy="365760"/>
          </a:xfrm>
          <a:prstGeom prst="rect">
            <a:avLst/>
          </a:prstGeom>
          <a:noFill/>
        </p:spPr>
        <p:txBody>
          <a:bodyPr wrap="square">
            <a:spAutoFit/>
          </a:bodyPr>
          <a:lstStyle/>
          <a:p>
            <a:pPr algn="l">
              <a:defRPr sz="1300" b="0">
                <a:solidFill>
                  <a:srgbClr val="94A3B8"/>
                </a:solidFill>
                <a:latin typeface="Calibri"/>
              </a:defRPr>
            </a:pPr>
            <a:r>
              <a:t>mce3 operon (Rv1964–Rv1977)</a:t>
            </a:r>
          </a:p>
        </p:txBody>
      </p:sp>
      <p:sp>
        <p:nvSpPr>
          <p:cNvPr id="7" name="TextBox 6"/>
          <p:cNvSpPr txBox="1"/>
          <p:nvPr/>
        </p:nvSpPr>
        <p:spPr>
          <a:xfrm>
            <a:off x="1371600" y="2331720"/>
            <a:ext cx="914400" cy="274320"/>
          </a:xfrm>
          <a:prstGeom prst="rect">
            <a:avLst/>
          </a:prstGeom>
          <a:noFill/>
        </p:spPr>
        <p:txBody>
          <a:bodyPr wrap="square">
            <a:spAutoFit/>
          </a:bodyPr>
          <a:lstStyle/>
          <a:p>
            <a:pPr algn="l">
              <a:defRPr sz="1400" b="0">
                <a:solidFill>
                  <a:srgbClr val="94A3B8"/>
                </a:solidFill>
                <a:latin typeface="Calibri"/>
              </a:defRPr>
            </a:pPr>
            <a:r>
              <a:t>        ↓</a:t>
            </a:r>
          </a:p>
        </p:txBody>
      </p:sp>
      <p:sp>
        <p:nvSpPr>
          <p:cNvPr id="8" name="TextBox 7"/>
          <p:cNvSpPr txBox="1"/>
          <p:nvPr/>
        </p:nvSpPr>
        <p:spPr>
          <a:xfrm>
            <a:off x="731520" y="2560320"/>
            <a:ext cx="2286000" cy="365760"/>
          </a:xfrm>
          <a:prstGeom prst="rect">
            <a:avLst/>
          </a:prstGeom>
          <a:noFill/>
        </p:spPr>
        <p:txBody>
          <a:bodyPr wrap="square">
            <a:spAutoFit/>
          </a:bodyPr>
          <a:lstStyle/>
          <a:p>
            <a:pPr algn="l">
              <a:defRPr sz="1500" b="1">
                <a:solidFill>
                  <a:srgbClr val="E2E8F0"/>
                </a:solidFill>
                <a:latin typeface="Calibri"/>
              </a:defRPr>
            </a:pPr>
            <a:r>
              <a:t>Side-chain oxidation</a:t>
            </a:r>
          </a:p>
        </p:txBody>
      </p:sp>
      <p:sp>
        <p:nvSpPr>
          <p:cNvPr id="9" name="TextBox 8"/>
          <p:cNvSpPr txBox="1"/>
          <p:nvPr/>
        </p:nvSpPr>
        <p:spPr>
          <a:xfrm>
            <a:off x="3017520" y="2560320"/>
            <a:ext cx="3200400" cy="365760"/>
          </a:xfrm>
          <a:prstGeom prst="rect">
            <a:avLst/>
          </a:prstGeom>
          <a:noFill/>
        </p:spPr>
        <p:txBody>
          <a:bodyPr wrap="square">
            <a:spAutoFit/>
          </a:bodyPr>
          <a:lstStyle/>
          <a:p>
            <a:pPr algn="l">
              <a:defRPr sz="1300" b="0">
                <a:solidFill>
                  <a:srgbClr val="94A3B8"/>
                </a:solidFill>
                <a:latin typeface="Calibri"/>
              </a:defRPr>
            </a:pPr>
            <a:r>
              <a:t>cyp125 (Rv3545c) — steroid C26-monooxygenase</a:t>
            </a:r>
          </a:p>
        </p:txBody>
      </p:sp>
      <p:sp>
        <p:nvSpPr>
          <p:cNvPr id="10" name="TextBox 9"/>
          <p:cNvSpPr txBox="1"/>
          <p:nvPr/>
        </p:nvSpPr>
        <p:spPr>
          <a:xfrm>
            <a:off x="1371600" y="2880360"/>
            <a:ext cx="914400" cy="274320"/>
          </a:xfrm>
          <a:prstGeom prst="rect">
            <a:avLst/>
          </a:prstGeom>
          <a:noFill/>
        </p:spPr>
        <p:txBody>
          <a:bodyPr wrap="square">
            <a:spAutoFit/>
          </a:bodyPr>
          <a:lstStyle/>
          <a:p>
            <a:pPr algn="l">
              <a:defRPr sz="1400" b="0">
                <a:solidFill>
                  <a:srgbClr val="94A3B8"/>
                </a:solidFill>
                <a:latin typeface="Calibri"/>
              </a:defRPr>
            </a:pPr>
            <a:r>
              <a:t>        ↓</a:t>
            </a:r>
          </a:p>
        </p:txBody>
      </p:sp>
      <p:sp>
        <p:nvSpPr>
          <p:cNvPr id="11" name="TextBox 10"/>
          <p:cNvSpPr txBox="1"/>
          <p:nvPr/>
        </p:nvSpPr>
        <p:spPr>
          <a:xfrm>
            <a:off x="731520" y="3108960"/>
            <a:ext cx="2286000" cy="365760"/>
          </a:xfrm>
          <a:prstGeom prst="rect">
            <a:avLst/>
          </a:prstGeom>
          <a:noFill/>
        </p:spPr>
        <p:txBody>
          <a:bodyPr wrap="square">
            <a:spAutoFit/>
          </a:bodyPr>
          <a:lstStyle/>
          <a:p>
            <a:pPr algn="l">
              <a:defRPr sz="1500" b="1">
                <a:solidFill>
                  <a:srgbClr val="E2E8F0"/>
                </a:solidFill>
                <a:latin typeface="Calibri"/>
              </a:defRPr>
            </a:pPr>
            <a:r>
              <a:t>Ring degradation</a:t>
            </a:r>
          </a:p>
        </p:txBody>
      </p:sp>
      <p:sp>
        <p:nvSpPr>
          <p:cNvPr id="12" name="TextBox 11"/>
          <p:cNvSpPr txBox="1"/>
          <p:nvPr/>
        </p:nvSpPr>
        <p:spPr>
          <a:xfrm>
            <a:off x="3017520" y="3108960"/>
            <a:ext cx="3200400" cy="365760"/>
          </a:xfrm>
          <a:prstGeom prst="rect">
            <a:avLst/>
          </a:prstGeom>
          <a:noFill/>
        </p:spPr>
        <p:txBody>
          <a:bodyPr wrap="square">
            <a:spAutoFit/>
          </a:bodyPr>
          <a:lstStyle/>
          <a:p>
            <a:pPr algn="l">
              <a:defRPr sz="1300" b="0">
                <a:solidFill>
                  <a:srgbClr val="94A3B8"/>
                </a:solidFill>
                <a:latin typeface="Calibri"/>
              </a:defRPr>
            </a:pPr>
            <a:r>
              <a:t>hsaE, kstD (Rv3536c–Rv3537) — steroid catabolism</a:t>
            </a:r>
          </a:p>
        </p:txBody>
      </p:sp>
      <p:sp>
        <p:nvSpPr>
          <p:cNvPr id="13" name="TextBox 12"/>
          <p:cNvSpPr txBox="1"/>
          <p:nvPr/>
        </p:nvSpPr>
        <p:spPr>
          <a:xfrm>
            <a:off x="1371600" y="3429000"/>
            <a:ext cx="914400" cy="274320"/>
          </a:xfrm>
          <a:prstGeom prst="rect">
            <a:avLst/>
          </a:prstGeom>
          <a:noFill/>
        </p:spPr>
        <p:txBody>
          <a:bodyPr wrap="square">
            <a:spAutoFit/>
          </a:bodyPr>
          <a:lstStyle/>
          <a:p>
            <a:pPr algn="l">
              <a:defRPr sz="1400" b="0">
                <a:solidFill>
                  <a:srgbClr val="94A3B8"/>
                </a:solidFill>
                <a:latin typeface="Calibri"/>
              </a:defRPr>
            </a:pPr>
            <a:r>
              <a:t>        ↓</a:t>
            </a:r>
          </a:p>
        </p:txBody>
      </p:sp>
      <p:sp>
        <p:nvSpPr>
          <p:cNvPr id="14" name="TextBox 13"/>
          <p:cNvSpPr txBox="1"/>
          <p:nvPr/>
        </p:nvSpPr>
        <p:spPr>
          <a:xfrm>
            <a:off x="731520" y="3657600"/>
            <a:ext cx="2286000" cy="365760"/>
          </a:xfrm>
          <a:prstGeom prst="rect">
            <a:avLst/>
          </a:prstGeom>
          <a:noFill/>
        </p:spPr>
        <p:txBody>
          <a:bodyPr wrap="square">
            <a:spAutoFit/>
          </a:bodyPr>
          <a:lstStyle/>
          <a:p>
            <a:pPr algn="l">
              <a:defRPr sz="1500" b="1">
                <a:solidFill>
                  <a:srgbClr val="E2E8F0"/>
                </a:solidFill>
                <a:latin typeface="Calibri"/>
              </a:defRPr>
            </a:pPr>
            <a:r>
              <a:t>Beta-oxidation</a:t>
            </a:r>
          </a:p>
        </p:txBody>
      </p:sp>
      <p:sp>
        <p:nvSpPr>
          <p:cNvPr id="15" name="TextBox 14"/>
          <p:cNvSpPr txBox="1"/>
          <p:nvPr/>
        </p:nvSpPr>
        <p:spPr>
          <a:xfrm>
            <a:off x="3017520" y="3657600"/>
            <a:ext cx="3200400" cy="365760"/>
          </a:xfrm>
          <a:prstGeom prst="rect">
            <a:avLst/>
          </a:prstGeom>
          <a:noFill/>
        </p:spPr>
        <p:txBody>
          <a:bodyPr wrap="square">
            <a:spAutoFit/>
          </a:bodyPr>
          <a:lstStyle/>
          <a:p>
            <a:pPr algn="l">
              <a:defRPr sz="1300" b="0">
                <a:solidFill>
                  <a:srgbClr val="94A3B8"/>
                </a:solidFill>
                <a:latin typeface="Calibri"/>
              </a:defRPr>
            </a:pPr>
            <a:r>
              <a:t>fadE22, fadA5, fadD11 — fatty acid processing</a:t>
            </a:r>
          </a:p>
        </p:txBody>
      </p:sp>
      <p:sp>
        <p:nvSpPr>
          <p:cNvPr id="16" name="TextBox 15"/>
          <p:cNvSpPr txBox="1"/>
          <p:nvPr/>
        </p:nvSpPr>
        <p:spPr>
          <a:xfrm>
            <a:off x="1371600" y="3977640"/>
            <a:ext cx="914400" cy="274320"/>
          </a:xfrm>
          <a:prstGeom prst="rect">
            <a:avLst/>
          </a:prstGeom>
          <a:noFill/>
        </p:spPr>
        <p:txBody>
          <a:bodyPr wrap="square">
            <a:spAutoFit/>
          </a:bodyPr>
          <a:lstStyle/>
          <a:p>
            <a:pPr algn="l">
              <a:defRPr sz="1400" b="0">
                <a:solidFill>
                  <a:srgbClr val="94A3B8"/>
                </a:solidFill>
                <a:latin typeface="Calibri"/>
              </a:defRPr>
            </a:pPr>
            <a:r>
              <a:t>        ↓</a:t>
            </a:r>
          </a:p>
        </p:txBody>
      </p:sp>
      <p:sp>
        <p:nvSpPr>
          <p:cNvPr id="17" name="TextBox 16"/>
          <p:cNvSpPr txBox="1"/>
          <p:nvPr/>
        </p:nvSpPr>
        <p:spPr>
          <a:xfrm>
            <a:off x="731520" y="4206240"/>
            <a:ext cx="2286000" cy="365760"/>
          </a:xfrm>
          <a:prstGeom prst="rect">
            <a:avLst/>
          </a:prstGeom>
          <a:noFill/>
        </p:spPr>
        <p:txBody>
          <a:bodyPr wrap="square">
            <a:spAutoFit/>
          </a:bodyPr>
          <a:lstStyle/>
          <a:p>
            <a:pPr algn="l">
              <a:defRPr sz="1500" b="1">
                <a:solidFill>
                  <a:srgbClr val="E2E8F0"/>
                </a:solidFill>
                <a:latin typeface="Calibri"/>
              </a:defRPr>
            </a:pPr>
            <a:r>
              <a:t>Carbon metabolism</a:t>
            </a:r>
          </a:p>
        </p:txBody>
      </p:sp>
      <p:sp>
        <p:nvSpPr>
          <p:cNvPr id="18" name="TextBox 17"/>
          <p:cNvSpPr txBox="1"/>
          <p:nvPr/>
        </p:nvSpPr>
        <p:spPr>
          <a:xfrm>
            <a:off x="3017520" y="4206240"/>
            <a:ext cx="3200400" cy="365760"/>
          </a:xfrm>
          <a:prstGeom prst="rect">
            <a:avLst/>
          </a:prstGeom>
          <a:noFill/>
        </p:spPr>
        <p:txBody>
          <a:bodyPr wrap="square">
            <a:spAutoFit/>
          </a:bodyPr>
          <a:lstStyle/>
          <a:p>
            <a:pPr algn="l">
              <a:defRPr sz="1300" b="0">
                <a:solidFill>
                  <a:srgbClr val="94A3B8"/>
                </a:solidFill>
                <a:latin typeface="Calibri"/>
              </a:defRPr>
            </a:pPr>
            <a:r>
              <a:t>icl1 (Rv3053c) — glyoxylate shunt</a:t>
            </a:r>
          </a:p>
        </p:txBody>
      </p:sp>
      <p:pic>
        <p:nvPicPr>
          <p:cNvPr id="19" name="Picture 18" descr="gc_vs_hits.png"/>
          <p:cNvPicPr>
            <a:picLocks noChangeAspect="1"/>
          </p:cNvPicPr>
          <p:nvPr/>
        </p:nvPicPr>
        <p:blipFill>
          <a:blip r:embed="rId2"/>
          <a:stretch>
            <a:fillRect/>
          </a:stretch>
        </p:blipFill>
        <p:spPr>
          <a:xfrm>
            <a:off x="6400800" y="1188720"/>
            <a:ext cx="5303520" cy="4166875"/>
          </a:xfrm>
          <a:prstGeom prst="rect">
            <a:avLst/>
          </a:prstGeom>
        </p:spPr>
      </p:pic>
      <p:sp>
        <p:nvSpPr>
          <p:cNvPr id="20" name="TextBox 19"/>
          <p:cNvSpPr txBox="1"/>
          <p:nvPr/>
        </p:nvSpPr>
        <p:spPr>
          <a:xfrm>
            <a:off x="6400800" y="5029200"/>
            <a:ext cx="5029200" cy="457200"/>
          </a:xfrm>
          <a:prstGeom prst="rect">
            <a:avLst/>
          </a:prstGeom>
          <a:noFill/>
        </p:spPr>
        <p:txBody>
          <a:bodyPr wrap="square">
            <a:spAutoFit/>
          </a:bodyPr>
          <a:lstStyle/>
          <a:p>
            <a:pPr algn="ctr">
              <a:defRPr sz="1200" b="0">
                <a:solidFill>
                  <a:srgbClr val="94A3B8"/>
                </a:solidFill>
                <a:latin typeface="Calibri"/>
              </a:defRPr>
            </a:pPr>
            <a:r>
              <a:t>GC content plot confirms hits are NOT artifacts of GC bias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Negative Controls Pass</a:t>
            </a:r>
          </a:p>
        </p:txBody>
      </p:sp>
      <p:sp>
        <p:nvSpPr>
          <p:cNvPr id="3" name="Rectangle 2"/>
          <p:cNvSpPr/>
          <p:nvPr/>
        </p:nvSpPr>
        <p:spPr>
          <a:xfrm>
            <a:off x="731520" y="1005840"/>
            <a:ext cx="3200400" cy="3810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371600"/>
            <a:ext cx="10058400" cy="548640"/>
          </a:xfrm>
          <a:prstGeom prst="rect">
            <a:avLst/>
          </a:prstGeom>
          <a:noFill/>
        </p:spPr>
        <p:txBody>
          <a:bodyPr wrap="square">
            <a:spAutoFit/>
          </a:bodyPr>
          <a:lstStyle/>
          <a:p>
            <a:pPr algn="l">
              <a:defRPr sz="1800" b="1">
                <a:solidFill>
                  <a:srgbClr val="FFFFFF"/>
                </a:solidFill>
                <a:latin typeface="Calibri"/>
              </a:defRPr>
            </a:pPr>
            <a:r>
              <a:t>Mce3R does NOT regulate mce1, mce2, or mce4 operons (Santangelo 2008)</a:t>
            </a:r>
          </a:p>
        </p:txBody>
      </p:sp>
      <p:sp>
        <p:nvSpPr>
          <p:cNvPr id="5" name="Rounded Rectangle 4"/>
          <p:cNvSpPr/>
          <p:nvPr/>
        </p:nvSpPr>
        <p:spPr>
          <a:xfrm>
            <a:off x="1371600" y="2286000"/>
            <a:ext cx="9144000" cy="731520"/>
          </a:xfrm>
          <a:prstGeom prst="roundRect">
            <a:avLst/>
          </a:prstGeom>
          <a:solidFill>
            <a:srgbClr val="10274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2362200"/>
            <a:ext cx="3200400" cy="320040"/>
          </a:xfrm>
          <a:prstGeom prst="rect">
            <a:avLst/>
          </a:prstGeom>
          <a:noFill/>
        </p:spPr>
        <p:txBody>
          <a:bodyPr wrap="square">
            <a:spAutoFit/>
          </a:bodyPr>
          <a:lstStyle/>
          <a:p>
            <a:pPr algn="l">
              <a:defRPr sz="1600" b="0">
                <a:solidFill>
                  <a:srgbClr val="E2E8F0"/>
                </a:solidFill>
                <a:latin typeface="Calibri"/>
              </a:defRPr>
            </a:pPr>
            <a:r>
              <a:t>mce1 operon (Rv0169–Rv0178)</a:t>
            </a:r>
          </a:p>
        </p:txBody>
      </p:sp>
      <p:sp>
        <p:nvSpPr>
          <p:cNvPr id="7" name="TextBox 6"/>
          <p:cNvSpPr txBox="1"/>
          <p:nvPr/>
        </p:nvSpPr>
        <p:spPr>
          <a:xfrm>
            <a:off x="5029200" y="2362200"/>
            <a:ext cx="2743200" cy="320040"/>
          </a:xfrm>
          <a:prstGeom prst="rect">
            <a:avLst/>
          </a:prstGeom>
          <a:noFill/>
        </p:spPr>
        <p:txBody>
          <a:bodyPr wrap="square">
            <a:spAutoFit/>
          </a:bodyPr>
          <a:lstStyle/>
          <a:p>
            <a:pPr algn="l">
              <a:defRPr sz="1400" b="0">
                <a:solidFill>
                  <a:srgbClr val="94A3B8"/>
                </a:solidFill>
                <a:latin typeface="Calibri"/>
              </a:defRPr>
            </a:pPr>
            <a:r>
              <a:t>No high-confidence hits</a:t>
            </a:r>
          </a:p>
        </p:txBody>
      </p:sp>
      <p:sp>
        <p:nvSpPr>
          <p:cNvPr id="8" name="TextBox 7"/>
          <p:cNvSpPr txBox="1"/>
          <p:nvPr/>
        </p:nvSpPr>
        <p:spPr>
          <a:xfrm>
            <a:off x="8229600" y="2362200"/>
            <a:ext cx="1828800" cy="320040"/>
          </a:xfrm>
          <a:prstGeom prst="rect">
            <a:avLst/>
          </a:prstGeom>
          <a:noFill/>
        </p:spPr>
        <p:txBody>
          <a:bodyPr wrap="square">
            <a:spAutoFit/>
          </a:bodyPr>
          <a:lstStyle/>
          <a:p>
            <a:pPr algn="ctr">
              <a:defRPr sz="1600" b="1">
                <a:solidFill>
                  <a:srgbClr val="22C55E"/>
                </a:solidFill>
                <a:latin typeface="Calibri"/>
              </a:defRPr>
            </a:pPr>
            <a:r>
              <a:t>✓ PASS</a:t>
            </a:r>
          </a:p>
        </p:txBody>
      </p:sp>
      <p:sp>
        <p:nvSpPr>
          <p:cNvPr id="9" name="Rounded Rectangle 8"/>
          <p:cNvSpPr/>
          <p:nvPr/>
        </p:nvSpPr>
        <p:spPr>
          <a:xfrm>
            <a:off x="1371600" y="3291840"/>
            <a:ext cx="9144000" cy="731520"/>
          </a:xfrm>
          <a:prstGeom prst="roundRect">
            <a:avLst/>
          </a:prstGeom>
          <a:solidFill>
            <a:srgbClr val="10274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45920" y="3368040"/>
            <a:ext cx="3200400" cy="320040"/>
          </a:xfrm>
          <a:prstGeom prst="rect">
            <a:avLst/>
          </a:prstGeom>
          <a:noFill/>
        </p:spPr>
        <p:txBody>
          <a:bodyPr wrap="square">
            <a:spAutoFit/>
          </a:bodyPr>
          <a:lstStyle/>
          <a:p>
            <a:pPr algn="l">
              <a:defRPr sz="1600" b="0">
                <a:solidFill>
                  <a:srgbClr val="E2E8F0"/>
                </a:solidFill>
                <a:latin typeface="Calibri"/>
              </a:defRPr>
            </a:pPr>
            <a:r>
              <a:t>mce2 operon (Rv0586–Rv0594)</a:t>
            </a:r>
          </a:p>
        </p:txBody>
      </p:sp>
      <p:sp>
        <p:nvSpPr>
          <p:cNvPr id="11" name="TextBox 10"/>
          <p:cNvSpPr txBox="1"/>
          <p:nvPr/>
        </p:nvSpPr>
        <p:spPr>
          <a:xfrm>
            <a:off x="5029200" y="3368040"/>
            <a:ext cx="2743200" cy="320040"/>
          </a:xfrm>
          <a:prstGeom prst="rect">
            <a:avLst/>
          </a:prstGeom>
          <a:noFill/>
        </p:spPr>
        <p:txBody>
          <a:bodyPr wrap="square">
            <a:spAutoFit/>
          </a:bodyPr>
          <a:lstStyle/>
          <a:p>
            <a:pPr algn="l">
              <a:defRPr sz="1400" b="0">
                <a:solidFill>
                  <a:srgbClr val="94A3B8"/>
                </a:solidFill>
                <a:latin typeface="Calibri"/>
              </a:defRPr>
            </a:pPr>
            <a:r>
              <a:t>No high-confidence hits</a:t>
            </a:r>
          </a:p>
        </p:txBody>
      </p:sp>
      <p:sp>
        <p:nvSpPr>
          <p:cNvPr id="12" name="TextBox 11"/>
          <p:cNvSpPr txBox="1"/>
          <p:nvPr/>
        </p:nvSpPr>
        <p:spPr>
          <a:xfrm>
            <a:off x="8229600" y="3368040"/>
            <a:ext cx="1828800" cy="320040"/>
          </a:xfrm>
          <a:prstGeom prst="rect">
            <a:avLst/>
          </a:prstGeom>
          <a:noFill/>
        </p:spPr>
        <p:txBody>
          <a:bodyPr wrap="square">
            <a:spAutoFit/>
          </a:bodyPr>
          <a:lstStyle/>
          <a:p>
            <a:pPr algn="ctr">
              <a:defRPr sz="1600" b="1">
                <a:solidFill>
                  <a:srgbClr val="22C55E"/>
                </a:solidFill>
                <a:latin typeface="Calibri"/>
              </a:defRPr>
            </a:pPr>
            <a:r>
              <a:t>✓ PASS</a:t>
            </a:r>
          </a:p>
        </p:txBody>
      </p:sp>
      <p:sp>
        <p:nvSpPr>
          <p:cNvPr id="13" name="Rounded Rectangle 12"/>
          <p:cNvSpPr/>
          <p:nvPr/>
        </p:nvSpPr>
        <p:spPr>
          <a:xfrm>
            <a:off x="1371600" y="4297680"/>
            <a:ext cx="9144000" cy="731520"/>
          </a:xfrm>
          <a:prstGeom prst="roundRect">
            <a:avLst/>
          </a:prstGeom>
          <a:solidFill>
            <a:srgbClr val="10274A"/>
          </a:solidFill>
          <a:ln w="19050">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645920" y="4373880"/>
            <a:ext cx="3200400" cy="320040"/>
          </a:xfrm>
          <a:prstGeom prst="rect">
            <a:avLst/>
          </a:prstGeom>
          <a:noFill/>
        </p:spPr>
        <p:txBody>
          <a:bodyPr wrap="square">
            <a:spAutoFit/>
          </a:bodyPr>
          <a:lstStyle/>
          <a:p>
            <a:pPr algn="l">
              <a:defRPr sz="1600" b="0">
                <a:solidFill>
                  <a:srgbClr val="E2E8F0"/>
                </a:solidFill>
                <a:latin typeface="Calibri"/>
              </a:defRPr>
            </a:pPr>
            <a:r>
              <a:t>mce4 operon (Rv3499c–Rv3513c)</a:t>
            </a:r>
          </a:p>
        </p:txBody>
      </p:sp>
      <p:sp>
        <p:nvSpPr>
          <p:cNvPr id="15" name="TextBox 14"/>
          <p:cNvSpPr txBox="1"/>
          <p:nvPr/>
        </p:nvSpPr>
        <p:spPr>
          <a:xfrm>
            <a:off x="5029200" y="4373880"/>
            <a:ext cx="2743200" cy="320040"/>
          </a:xfrm>
          <a:prstGeom prst="rect">
            <a:avLst/>
          </a:prstGeom>
          <a:noFill/>
        </p:spPr>
        <p:txBody>
          <a:bodyPr wrap="square">
            <a:spAutoFit/>
          </a:bodyPr>
          <a:lstStyle/>
          <a:p>
            <a:pPr algn="l">
              <a:defRPr sz="1400" b="0">
                <a:solidFill>
                  <a:srgbClr val="94A3B8"/>
                </a:solidFill>
                <a:latin typeface="Calibri"/>
              </a:defRPr>
            </a:pPr>
            <a:r>
              <a:t>No high-confidence hits</a:t>
            </a:r>
          </a:p>
        </p:txBody>
      </p:sp>
      <p:sp>
        <p:nvSpPr>
          <p:cNvPr id="16" name="TextBox 15"/>
          <p:cNvSpPr txBox="1"/>
          <p:nvPr/>
        </p:nvSpPr>
        <p:spPr>
          <a:xfrm>
            <a:off x="8229600" y="4373880"/>
            <a:ext cx="1828800" cy="320040"/>
          </a:xfrm>
          <a:prstGeom prst="rect">
            <a:avLst/>
          </a:prstGeom>
          <a:noFill/>
        </p:spPr>
        <p:txBody>
          <a:bodyPr wrap="square">
            <a:spAutoFit/>
          </a:bodyPr>
          <a:lstStyle/>
          <a:p>
            <a:pPr algn="ctr">
              <a:defRPr sz="1600" b="1">
                <a:solidFill>
                  <a:srgbClr val="22C55E"/>
                </a:solidFill>
                <a:latin typeface="Calibri"/>
              </a:defRPr>
            </a:pPr>
            <a:r>
              <a:t>✓ PASS</a:t>
            </a:r>
          </a:p>
        </p:txBody>
      </p:sp>
      <p:sp>
        <p:nvSpPr>
          <p:cNvPr id="17" name="Rounded Rectangle 16"/>
          <p:cNvSpPr/>
          <p:nvPr/>
        </p:nvSpPr>
        <p:spPr>
          <a:xfrm>
            <a:off x="2286000" y="5303520"/>
            <a:ext cx="7315200" cy="9144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a:solidFill>
                  <a:srgbClr val="14B8A6"/>
                </a:solidFill>
              </a:defRPr>
            </a:pPr>
            <a:r>
              <a:t>Pipeline specificity validated — not just finding random TetR sites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Computational Validation Approaches</a:t>
            </a:r>
          </a:p>
        </p:txBody>
      </p:sp>
      <p:sp>
        <p:nvSpPr>
          <p:cNvPr id="3" name="Rectangle 2"/>
          <p:cNvSpPr/>
          <p:nvPr/>
        </p:nvSpPr>
        <p:spPr>
          <a:xfrm>
            <a:off x="731520" y="1005840"/>
            <a:ext cx="45720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37160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1</a:t>
            </a:r>
          </a:p>
        </p:txBody>
      </p:sp>
      <p:sp>
        <p:nvSpPr>
          <p:cNvPr id="5" name="TextBox 4"/>
          <p:cNvSpPr txBox="1"/>
          <p:nvPr/>
        </p:nvSpPr>
        <p:spPr>
          <a:xfrm>
            <a:off x="1463040" y="1346200"/>
            <a:ext cx="4572000" cy="320040"/>
          </a:xfrm>
          <a:prstGeom prst="rect">
            <a:avLst/>
          </a:prstGeom>
          <a:noFill/>
        </p:spPr>
        <p:txBody>
          <a:bodyPr wrap="square">
            <a:spAutoFit/>
          </a:bodyPr>
          <a:lstStyle/>
          <a:p>
            <a:pPr algn="l">
              <a:defRPr sz="1700" b="1">
                <a:solidFill>
                  <a:srgbClr val="14B8A6"/>
                </a:solidFill>
                <a:latin typeface="Calibri"/>
              </a:defRPr>
            </a:pPr>
            <a:r>
              <a:t>Cross-species conservation</a:t>
            </a:r>
          </a:p>
        </p:txBody>
      </p:sp>
      <p:sp>
        <p:nvSpPr>
          <p:cNvPr id="6" name="TextBox 5"/>
          <p:cNvSpPr txBox="1"/>
          <p:nvPr/>
        </p:nvSpPr>
        <p:spPr>
          <a:xfrm>
            <a:off x="1463040" y="1645920"/>
            <a:ext cx="5029200" cy="320040"/>
          </a:xfrm>
          <a:prstGeom prst="rect">
            <a:avLst/>
          </a:prstGeom>
          <a:noFill/>
        </p:spPr>
        <p:txBody>
          <a:bodyPr wrap="square">
            <a:spAutoFit/>
          </a:bodyPr>
          <a:lstStyle/>
          <a:p>
            <a:pPr algn="l">
              <a:defRPr sz="1400" b="0">
                <a:solidFill>
                  <a:srgbClr val="94A3B8"/>
                </a:solidFill>
                <a:latin typeface="Calibri"/>
              </a:defRPr>
            </a:pPr>
            <a:r>
              <a:t>Are sites conserved in M. bovis / M. marinum?</a:t>
            </a:r>
          </a:p>
        </p:txBody>
      </p:sp>
      <p:sp>
        <p:nvSpPr>
          <p:cNvPr id="7" name="Oval 6"/>
          <p:cNvSpPr/>
          <p:nvPr/>
        </p:nvSpPr>
        <p:spPr>
          <a:xfrm>
            <a:off x="731520" y="214884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2</a:t>
            </a:r>
          </a:p>
        </p:txBody>
      </p:sp>
      <p:sp>
        <p:nvSpPr>
          <p:cNvPr id="8" name="TextBox 7"/>
          <p:cNvSpPr txBox="1"/>
          <p:nvPr/>
        </p:nvSpPr>
        <p:spPr>
          <a:xfrm>
            <a:off x="1463040" y="2123440"/>
            <a:ext cx="4572000" cy="320040"/>
          </a:xfrm>
          <a:prstGeom prst="rect">
            <a:avLst/>
          </a:prstGeom>
          <a:noFill/>
        </p:spPr>
        <p:txBody>
          <a:bodyPr wrap="square">
            <a:spAutoFit/>
          </a:bodyPr>
          <a:lstStyle/>
          <a:p>
            <a:pPr algn="l">
              <a:defRPr sz="1700" b="1">
                <a:solidFill>
                  <a:srgbClr val="14B8A6"/>
                </a:solidFill>
                <a:latin typeface="Calibri"/>
              </a:defRPr>
            </a:pPr>
            <a:r>
              <a:t>Expression data overlap</a:t>
            </a:r>
          </a:p>
        </p:txBody>
      </p:sp>
      <p:sp>
        <p:nvSpPr>
          <p:cNvPr id="9" name="TextBox 8"/>
          <p:cNvSpPr txBox="1"/>
          <p:nvPr/>
        </p:nvSpPr>
        <p:spPr>
          <a:xfrm>
            <a:off x="1463040" y="2423160"/>
            <a:ext cx="5029200" cy="320040"/>
          </a:xfrm>
          <a:prstGeom prst="rect">
            <a:avLst/>
          </a:prstGeom>
          <a:noFill/>
        </p:spPr>
        <p:txBody>
          <a:bodyPr wrap="square">
            <a:spAutoFit/>
          </a:bodyPr>
          <a:lstStyle/>
          <a:p>
            <a:pPr algn="l">
              <a:defRPr sz="1400" b="0">
                <a:solidFill>
                  <a:srgbClr val="94A3B8"/>
                </a:solidFill>
                <a:latin typeface="Calibri"/>
              </a:defRPr>
            </a:pPr>
            <a:r>
              <a:t>Match predicted targets to Δmce3R microarray data</a:t>
            </a:r>
          </a:p>
        </p:txBody>
      </p:sp>
      <p:sp>
        <p:nvSpPr>
          <p:cNvPr id="10" name="Oval 9"/>
          <p:cNvSpPr/>
          <p:nvPr/>
        </p:nvSpPr>
        <p:spPr>
          <a:xfrm>
            <a:off x="731520" y="292608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3</a:t>
            </a:r>
          </a:p>
        </p:txBody>
      </p:sp>
      <p:sp>
        <p:nvSpPr>
          <p:cNvPr id="11" name="TextBox 10"/>
          <p:cNvSpPr txBox="1"/>
          <p:nvPr/>
        </p:nvSpPr>
        <p:spPr>
          <a:xfrm>
            <a:off x="1463040" y="2900680"/>
            <a:ext cx="4572000" cy="320040"/>
          </a:xfrm>
          <a:prstGeom prst="rect">
            <a:avLst/>
          </a:prstGeom>
          <a:noFill/>
        </p:spPr>
        <p:txBody>
          <a:bodyPr wrap="square">
            <a:spAutoFit/>
          </a:bodyPr>
          <a:lstStyle/>
          <a:p>
            <a:pPr algn="l">
              <a:defRPr sz="1700" b="1">
                <a:solidFill>
                  <a:srgbClr val="14B8A6"/>
                </a:solidFill>
                <a:latin typeface="Calibri"/>
              </a:defRPr>
            </a:pPr>
            <a:r>
              <a:t>Functional enrichment</a:t>
            </a:r>
          </a:p>
        </p:txBody>
      </p:sp>
      <p:sp>
        <p:nvSpPr>
          <p:cNvPr id="12" name="TextBox 11"/>
          <p:cNvSpPr txBox="1"/>
          <p:nvPr/>
        </p:nvSpPr>
        <p:spPr>
          <a:xfrm>
            <a:off x="1463040" y="3200400"/>
            <a:ext cx="5029200" cy="320040"/>
          </a:xfrm>
          <a:prstGeom prst="rect">
            <a:avLst/>
          </a:prstGeom>
          <a:noFill/>
        </p:spPr>
        <p:txBody>
          <a:bodyPr wrap="square">
            <a:spAutoFit/>
          </a:bodyPr>
          <a:lstStyle/>
          <a:p>
            <a:pPr algn="l">
              <a:defRPr sz="1400" b="0">
                <a:solidFill>
                  <a:srgbClr val="94A3B8"/>
                </a:solidFill>
                <a:latin typeface="Calibri"/>
              </a:defRPr>
            </a:pPr>
            <a:r>
              <a:t>Are lipid/cholesterol genes overrepresented? (Fisher's exact test)</a:t>
            </a:r>
          </a:p>
        </p:txBody>
      </p:sp>
      <p:sp>
        <p:nvSpPr>
          <p:cNvPr id="13" name="Oval 12"/>
          <p:cNvSpPr/>
          <p:nvPr/>
        </p:nvSpPr>
        <p:spPr>
          <a:xfrm>
            <a:off x="731520" y="37033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4</a:t>
            </a:r>
          </a:p>
        </p:txBody>
      </p:sp>
      <p:sp>
        <p:nvSpPr>
          <p:cNvPr id="14" name="TextBox 13"/>
          <p:cNvSpPr txBox="1"/>
          <p:nvPr/>
        </p:nvSpPr>
        <p:spPr>
          <a:xfrm>
            <a:off x="1463040" y="3677920"/>
            <a:ext cx="4572000" cy="320040"/>
          </a:xfrm>
          <a:prstGeom prst="rect">
            <a:avLst/>
          </a:prstGeom>
          <a:noFill/>
        </p:spPr>
        <p:txBody>
          <a:bodyPr wrap="square">
            <a:spAutoFit/>
          </a:bodyPr>
          <a:lstStyle/>
          <a:p>
            <a:pPr algn="l">
              <a:defRPr sz="1700" b="1">
                <a:solidFill>
                  <a:srgbClr val="14B8A6"/>
                </a:solidFill>
                <a:latin typeface="Calibri"/>
              </a:defRPr>
            </a:pPr>
            <a:r>
              <a:t>Motif vs. structure</a:t>
            </a:r>
          </a:p>
        </p:txBody>
      </p:sp>
      <p:sp>
        <p:nvSpPr>
          <p:cNvPr id="15" name="TextBox 14"/>
          <p:cNvSpPr txBox="1"/>
          <p:nvPr/>
        </p:nvSpPr>
        <p:spPr>
          <a:xfrm>
            <a:off x="1463040" y="3977640"/>
            <a:ext cx="5029200" cy="320040"/>
          </a:xfrm>
          <a:prstGeom prst="rect">
            <a:avLst/>
          </a:prstGeom>
          <a:noFill/>
        </p:spPr>
        <p:txBody>
          <a:bodyPr wrap="square">
            <a:spAutoFit/>
          </a:bodyPr>
          <a:lstStyle/>
          <a:p>
            <a:pPr algn="l">
              <a:defRPr sz="1400" b="0">
                <a:solidFill>
                  <a:srgbClr val="94A3B8"/>
                </a:solidFill>
                <a:latin typeface="Calibri"/>
              </a:defRPr>
            </a:pPr>
            <a:r>
              <a:t>Do conserved PWM positions match Arg53/Lys262 DNA contacts?</a:t>
            </a:r>
          </a:p>
        </p:txBody>
      </p:sp>
      <p:sp>
        <p:nvSpPr>
          <p:cNvPr id="16" name="Oval 15"/>
          <p:cNvSpPr/>
          <p:nvPr/>
        </p:nvSpPr>
        <p:spPr>
          <a:xfrm>
            <a:off x="731520" y="448056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5</a:t>
            </a:r>
          </a:p>
        </p:txBody>
      </p:sp>
      <p:sp>
        <p:nvSpPr>
          <p:cNvPr id="17" name="TextBox 16"/>
          <p:cNvSpPr txBox="1"/>
          <p:nvPr/>
        </p:nvSpPr>
        <p:spPr>
          <a:xfrm>
            <a:off x="1463040" y="4455160"/>
            <a:ext cx="4572000" cy="320040"/>
          </a:xfrm>
          <a:prstGeom prst="rect">
            <a:avLst/>
          </a:prstGeom>
          <a:noFill/>
        </p:spPr>
        <p:txBody>
          <a:bodyPr wrap="square">
            <a:spAutoFit/>
          </a:bodyPr>
          <a:lstStyle/>
          <a:p>
            <a:pPr algn="l">
              <a:defRPr sz="1700" b="1">
                <a:solidFill>
                  <a:srgbClr val="14B8A6"/>
                </a:solidFill>
                <a:latin typeface="Calibri"/>
              </a:defRPr>
            </a:pPr>
            <a:r>
              <a:t>Shuffle test</a:t>
            </a:r>
          </a:p>
        </p:txBody>
      </p:sp>
      <p:sp>
        <p:nvSpPr>
          <p:cNvPr id="18" name="TextBox 17"/>
          <p:cNvSpPr txBox="1"/>
          <p:nvPr/>
        </p:nvSpPr>
        <p:spPr>
          <a:xfrm>
            <a:off x="1463040" y="4754880"/>
            <a:ext cx="5029200" cy="320040"/>
          </a:xfrm>
          <a:prstGeom prst="rect">
            <a:avLst/>
          </a:prstGeom>
          <a:noFill/>
        </p:spPr>
        <p:txBody>
          <a:bodyPr wrap="square">
            <a:spAutoFit/>
          </a:bodyPr>
          <a:lstStyle/>
          <a:p>
            <a:pPr algn="l">
              <a:defRPr sz="1400" b="0">
                <a:solidFill>
                  <a:srgbClr val="94A3B8"/>
                </a:solidFill>
                <a:latin typeface="Calibri"/>
              </a:defRPr>
            </a:pPr>
            <a:r>
              <a:t>Do real motifs outscore shuffled sequences? (controls for GC bias)</a:t>
            </a:r>
          </a:p>
        </p:txBody>
      </p:sp>
      <p:pic>
        <p:nvPicPr>
          <p:cNvPr id="19" name="Picture 18" descr="motif_position_distribution.png"/>
          <p:cNvPicPr>
            <a:picLocks noChangeAspect="1"/>
          </p:cNvPicPr>
          <p:nvPr/>
        </p:nvPicPr>
        <p:blipFill>
          <a:blip r:embed="rId2"/>
          <a:stretch>
            <a:fillRect/>
          </a:stretch>
        </p:blipFill>
        <p:spPr>
          <a:xfrm>
            <a:off x="6400800" y="1188720"/>
            <a:ext cx="5303520" cy="82282766"/>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Implications — Why This Matters</a:t>
            </a:r>
          </a:p>
        </p:txBody>
      </p:sp>
      <p:sp>
        <p:nvSpPr>
          <p:cNvPr id="3" name="Rectangle 2"/>
          <p:cNvSpPr/>
          <p:nvPr/>
        </p:nvSpPr>
        <p:spPr>
          <a:xfrm>
            <a:off x="731520" y="1005840"/>
            <a:ext cx="365760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64008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371600"/>
            <a:ext cx="137160" cy="6400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1447800"/>
            <a:ext cx="10058400" cy="502920"/>
          </a:xfrm>
          <a:prstGeom prst="rect">
            <a:avLst/>
          </a:prstGeom>
          <a:noFill/>
        </p:spPr>
        <p:txBody>
          <a:bodyPr wrap="square">
            <a:spAutoFit/>
          </a:bodyPr>
          <a:lstStyle/>
          <a:p>
            <a:pPr algn="l">
              <a:defRPr sz="1600" b="0">
                <a:solidFill>
                  <a:srgbClr val="F59E0B"/>
                </a:solidFill>
                <a:latin typeface="Calibri"/>
              </a:defRPr>
            </a:pPr>
            <a:r>
              <a:t>First genome-wide map of predicted Mce3R binding sites using the asymmetric model</a:t>
            </a:r>
          </a:p>
        </p:txBody>
      </p:sp>
      <p:sp>
        <p:nvSpPr>
          <p:cNvPr id="7" name="Rounded Rectangle 6"/>
          <p:cNvSpPr/>
          <p:nvPr/>
        </p:nvSpPr>
        <p:spPr>
          <a:xfrm>
            <a:off x="731520" y="2194560"/>
            <a:ext cx="10515600" cy="64008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2194560"/>
            <a:ext cx="137160" cy="6400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2270760"/>
            <a:ext cx="10058400" cy="502920"/>
          </a:xfrm>
          <a:prstGeom prst="rect">
            <a:avLst/>
          </a:prstGeom>
          <a:noFill/>
        </p:spPr>
        <p:txBody>
          <a:bodyPr wrap="square">
            <a:spAutoFit/>
          </a:bodyPr>
          <a:lstStyle/>
          <a:p>
            <a:pPr algn="l">
              <a:defRPr sz="1600" b="0">
                <a:solidFill>
                  <a:srgbClr val="E2E8F0"/>
                </a:solidFill>
                <a:latin typeface="Calibri"/>
              </a:defRPr>
            </a:pPr>
            <a:r>
              <a:t>Identifies 24 high-confidence new regulatory targets</a:t>
            </a:r>
          </a:p>
        </p:txBody>
      </p:sp>
      <p:sp>
        <p:nvSpPr>
          <p:cNvPr id="10" name="Rounded Rectangle 9"/>
          <p:cNvSpPr/>
          <p:nvPr/>
        </p:nvSpPr>
        <p:spPr>
          <a:xfrm>
            <a:off x="731520" y="3017520"/>
            <a:ext cx="10515600" cy="64008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3017520"/>
            <a:ext cx="137160" cy="6400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3093720"/>
            <a:ext cx="10058400" cy="502920"/>
          </a:xfrm>
          <a:prstGeom prst="rect">
            <a:avLst/>
          </a:prstGeom>
          <a:noFill/>
        </p:spPr>
        <p:txBody>
          <a:bodyPr wrap="square">
            <a:spAutoFit/>
          </a:bodyPr>
          <a:lstStyle/>
          <a:p>
            <a:pPr algn="l">
              <a:defRPr sz="1600" b="0">
                <a:solidFill>
                  <a:srgbClr val="E2E8F0"/>
                </a:solidFill>
                <a:latin typeface="Calibri"/>
              </a:defRPr>
            </a:pPr>
            <a:r>
              <a:t>Suggests Mce3R controls a broader metabolic network than previously known</a:t>
            </a:r>
          </a:p>
        </p:txBody>
      </p:sp>
      <p:sp>
        <p:nvSpPr>
          <p:cNvPr id="13" name="Rounded Rectangle 12"/>
          <p:cNvSpPr/>
          <p:nvPr/>
        </p:nvSpPr>
        <p:spPr>
          <a:xfrm>
            <a:off x="731520" y="3840480"/>
            <a:ext cx="10515600" cy="64008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3840480"/>
            <a:ext cx="137160" cy="6400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3916680"/>
            <a:ext cx="10058400" cy="502920"/>
          </a:xfrm>
          <a:prstGeom prst="rect">
            <a:avLst/>
          </a:prstGeom>
          <a:noFill/>
        </p:spPr>
        <p:txBody>
          <a:bodyPr wrap="square">
            <a:spAutoFit/>
          </a:bodyPr>
          <a:lstStyle/>
          <a:p>
            <a:pPr algn="l">
              <a:defRPr sz="1600" b="0">
                <a:solidFill>
                  <a:srgbClr val="E2E8F0"/>
                </a:solidFill>
                <a:latin typeface="Calibri"/>
              </a:defRPr>
            </a:pPr>
            <a:r>
              <a:t>Connects cholesterol import → catabolism → carbon metabolism under one regulator</a:t>
            </a:r>
          </a:p>
        </p:txBody>
      </p:sp>
      <p:sp>
        <p:nvSpPr>
          <p:cNvPr id="16" name="Rounded Rectangle 15"/>
          <p:cNvSpPr/>
          <p:nvPr/>
        </p:nvSpPr>
        <p:spPr>
          <a:xfrm>
            <a:off x="731520" y="4663440"/>
            <a:ext cx="10515600" cy="64008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4663440"/>
            <a:ext cx="137160" cy="640080"/>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97280" y="4739640"/>
            <a:ext cx="10058400" cy="502920"/>
          </a:xfrm>
          <a:prstGeom prst="rect">
            <a:avLst/>
          </a:prstGeom>
          <a:noFill/>
        </p:spPr>
        <p:txBody>
          <a:bodyPr wrap="square">
            <a:spAutoFit/>
          </a:bodyPr>
          <a:lstStyle/>
          <a:p>
            <a:pPr algn="l">
              <a:defRPr sz="1600" b="0">
                <a:solidFill>
                  <a:srgbClr val="F59E0B"/>
                </a:solidFill>
                <a:latin typeface="Calibri"/>
              </a:defRPr>
            </a:pPr>
            <a:r>
              <a:t>Therapeutic relevance: targeting the Mce3R regulon could address antibiotic persistence</a:t>
            </a:r>
          </a:p>
        </p:txBody>
      </p:sp>
      <p:sp>
        <p:nvSpPr>
          <p:cNvPr id="19" name="TextBox 18"/>
          <p:cNvSpPr txBox="1"/>
          <p:nvPr/>
        </p:nvSpPr>
        <p:spPr>
          <a:xfrm>
            <a:off x="914400" y="5669280"/>
            <a:ext cx="10058400" cy="457200"/>
          </a:xfrm>
          <a:prstGeom prst="rect">
            <a:avLst/>
          </a:prstGeom>
          <a:noFill/>
        </p:spPr>
        <p:txBody>
          <a:bodyPr wrap="square">
            <a:spAutoFit/>
          </a:bodyPr>
          <a:lstStyle/>
          <a:p>
            <a:pPr algn="ctr">
              <a:defRPr sz="1500" b="0">
                <a:solidFill>
                  <a:srgbClr val="94A3B8"/>
                </a:solidFill>
                <a:latin typeface="Calibri"/>
              </a:defRPr>
            </a:pPr>
            <a:r>
              <a:t>This changes our understanding of Mce3R from a single-operon repressor to a global metabolic coordinator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Future Directions</a:t>
            </a:r>
          </a:p>
        </p:txBody>
      </p:sp>
      <p:sp>
        <p:nvSpPr>
          <p:cNvPr id="3" name="Rectangle 2"/>
          <p:cNvSpPr/>
          <p:nvPr/>
        </p:nvSpPr>
        <p:spPr>
          <a:xfrm>
            <a:off x="731520" y="1005840"/>
            <a:ext cx="27432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 y="137160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1</a:t>
            </a:r>
          </a:p>
        </p:txBody>
      </p:sp>
      <p:sp>
        <p:nvSpPr>
          <p:cNvPr id="5" name="Rounded Rectangle 4"/>
          <p:cNvSpPr/>
          <p:nvPr/>
        </p:nvSpPr>
        <p:spPr>
          <a:xfrm>
            <a:off x="1463040" y="1320800"/>
            <a:ext cx="9601200" cy="100584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Experimental Validation</a:t>
            </a:r>
          </a:p>
          <a:p>
            <a:pPr algn="l">
              <a:spcBef>
                <a:spcPts val="600"/>
              </a:spcBef>
              <a:defRPr sz="1300" b="0">
                <a:solidFill>
                  <a:srgbClr val="94A3B8"/>
                </a:solidFill>
                <a:latin typeface="Calibri"/>
              </a:defRPr>
            </a:pPr>
            <a:r>
              <a:t>EMSA on top Tier 2 targets in M. smegmatis (BSL-1 safe surrogate)</a:t>
            </a:r>
          </a:p>
        </p:txBody>
      </p:sp>
      <p:sp>
        <p:nvSpPr>
          <p:cNvPr id="6" name="Oval 5"/>
          <p:cNvSpPr/>
          <p:nvPr/>
        </p:nvSpPr>
        <p:spPr>
          <a:xfrm>
            <a:off x="731520" y="256032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2</a:t>
            </a:r>
          </a:p>
        </p:txBody>
      </p:sp>
      <p:sp>
        <p:nvSpPr>
          <p:cNvPr id="7" name="Rounded Rectangle 6"/>
          <p:cNvSpPr/>
          <p:nvPr/>
        </p:nvSpPr>
        <p:spPr>
          <a:xfrm>
            <a:off x="1463040" y="2509520"/>
            <a:ext cx="9601200" cy="100584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Stochastic Modeling</a:t>
            </a:r>
          </a:p>
          <a:p>
            <a:pPr algn="l">
              <a:spcBef>
                <a:spcPts val="600"/>
              </a:spcBef>
              <a:defRPr sz="1300" b="0">
                <a:solidFill>
                  <a:srgbClr val="94A3B8"/>
                </a:solidFill>
                <a:latin typeface="Calibri"/>
              </a:defRPr>
            </a:pPr>
            <a:r>
              <a:t>How does asymmetric operator architecture drive gene expression noise and persister formation?</a:t>
            </a:r>
          </a:p>
        </p:txBody>
      </p:sp>
      <p:sp>
        <p:nvSpPr>
          <p:cNvPr id="8" name="Oval 7"/>
          <p:cNvSpPr/>
          <p:nvPr/>
        </p:nvSpPr>
        <p:spPr>
          <a:xfrm>
            <a:off x="731520" y="374904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3</a:t>
            </a:r>
          </a:p>
        </p:txBody>
      </p:sp>
      <p:sp>
        <p:nvSpPr>
          <p:cNvPr id="9" name="Rounded Rectangle 8"/>
          <p:cNvSpPr/>
          <p:nvPr/>
        </p:nvSpPr>
        <p:spPr>
          <a:xfrm>
            <a:off x="1463040" y="3698240"/>
            <a:ext cx="9601200" cy="100584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Comparative Genomics</a:t>
            </a:r>
          </a:p>
          <a:p>
            <a:pPr algn="l">
              <a:spcBef>
                <a:spcPts val="600"/>
              </a:spcBef>
              <a:defRPr sz="1300" b="0">
                <a:solidFill>
                  <a:srgbClr val="94A3B8"/>
                </a:solidFill>
                <a:latin typeface="Calibri"/>
              </a:defRPr>
            </a:pPr>
            <a:r>
              <a:t>Extend to drug-resistant TB clinical isolates — do operator mutations correlate with resistance?</a:t>
            </a:r>
          </a:p>
        </p:txBody>
      </p:sp>
      <p:sp>
        <p:nvSpPr>
          <p:cNvPr id="10" name="Oval 9"/>
          <p:cNvSpPr/>
          <p:nvPr/>
        </p:nvSpPr>
        <p:spPr>
          <a:xfrm>
            <a:off x="731520" y="4937760"/>
            <a:ext cx="502920" cy="502920"/>
          </a:xfrm>
          <a:prstGeom prst="ellipse">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wrap="none" tIns="50800"/>
          <a:lstStyle/>
          <a:p>
            <a:pPr algn="ctr">
              <a:spcBef>
                <a:spcPts val="0"/>
              </a:spcBef>
              <a:defRPr sz="2000" b="1">
                <a:solidFill>
                  <a:srgbClr val="FFFFFF"/>
                </a:solidFill>
              </a:defRPr>
            </a:pPr>
            <a:r>
              <a:t>4</a:t>
            </a:r>
          </a:p>
        </p:txBody>
      </p:sp>
      <p:sp>
        <p:nvSpPr>
          <p:cNvPr id="11" name="Rounded Rectangle 10"/>
          <p:cNvSpPr/>
          <p:nvPr/>
        </p:nvSpPr>
        <p:spPr>
          <a:xfrm>
            <a:off x="1463040" y="4886960"/>
            <a:ext cx="9601200" cy="100584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14B8A6"/>
                </a:solidFill>
              </a:defRPr>
            </a:pPr>
            <a:r>
              <a:t>Structural Biology</a:t>
            </a:r>
          </a:p>
          <a:p>
            <a:pPr algn="l">
              <a:spcBef>
                <a:spcPts val="600"/>
              </a:spcBef>
              <a:defRPr sz="1300" b="0">
                <a:solidFill>
                  <a:srgbClr val="94A3B8"/>
                </a:solidFill>
                <a:latin typeface="Calibri"/>
              </a:defRPr>
            </a:pPr>
            <a:r>
              <a:t>Predict Mce3R-DNA contacts for novel targets using AlphaFold / molecular dynamics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2800" b="1">
                <a:solidFill>
                  <a:srgbClr val="FFFFFF"/>
                </a:solidFill>
                <a:latin typeface="Trebuchet MS"/>
              </a:defRPr>
            </a:pPr>
            <a:r>
              <a:t>Methods Summary — Code Architecture</a:t>
            </a:r>
          </a:p>
        </p:txBody>
      </p:sp>
      <p:sp>
        <p:nvSpPr>
          <p:cNvPr id="3" name="Rectangle 2"/>
          <p:cNvSpPr/>
          <p:nvPr/>
        </p:nvSpPr>
        <p:spPr>
          <a:xfrm>
            <a:off x="731520" y="1005840"/>
            <a:ext cx="41148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188720"/>
            <a:ext cx="5303520" cy="50292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Pipeline Scripts (10 Python modules)</a:t>
            </a:r>
          </a:p>
          <a:p>
            <a:pPr algn="l">
              <a:spcBef>
                <a:spcPts val="500"/>
              </a:spcBef>
              <a:defRPr sz="1100" b="1">
                <a:solidFill>
                  <a:srgbClr val="F59E0B"/>
                </a:solidFill>
                <a:latin typeface="Calibri"/>
              </a:defRPr>
            </a:pPr>
            <a:r>
              <a:t>  main.py</a:t>
            </a:r>
          </a:p>
          <a:p>
            <a:pPr algn="l">
              <a:spcBef>
                <a:spcPts val="100"/>
              </a:spcBef>
              <a:defRPr sz="1000" b="0">
                <a:solidFill>
                  <a:srgbClr val="94A3B8"/>
                </a:solidFill>
                <a:latin typeface="Calibri"/>
              </a:defRPr>
            </a:pPr>
            <a:r>
              <a:t>    Orchestrator — argparse --steps/--simulate/--skip-existing flags</a:t>
            </a:r>
          </a:p>
          <a:p>
            <a:pPr algn="l">
              <a:spcBef>
                <a:spcPts val="500"/>
              </a:spcBef>
              <a:defRPr sz="1100" b="1">
                <a:solidFill>
                  <a:srgbClr val="F59E0B"/>
                </a:solidFill>
                <a:latin typeface="Calibri"/>
              </a:defRPr>
            </a:pPr>
            <a:r>
              <a:t>  download_genome.py</a:t>
            </a:r>
          </a:p>
          <a:p>
            <a:pPr algn="l">
              <a:spcBef>
                <a:spcPts val="100"/>
              </a:spcBef>
              <a:defRPr sz="1000" b="0">
                <a:solidFill>
                  <a:srgbClr val="94A3B8"/>
                </a:solidFill>
                <a:latin typeface="Calibri"/>
              </a:defRPr>
            </a:pPr>
            <a:r>
              <a:t>    NCBI Entrez → H37Rv GenBank, validates &gt;4 Mb / &gt;3K CDS</a:t>
            </a:r>
          </a:p>
          <a:p>
            <a:pPr algn="l">
              <a:spcBef>
                <a:spcPts val="500"/>
              </a:spcBef>
              <a:defRPr sz="1100" b="1">
                <a:solidFill>
                  <a:srgbClr val="F59E0B"/>
                </a:solidFill>
                <a:latin typeface="Calibri"/>
              </a:defRPr>
            </a:pPr>
            <a:r>
              <a:t>  extract_promoters.py</a:t>
            </a:r>
          </a:p>
          <a:p>
            <a:pPr algn="l">
              <a:spcBef>
                <a:spcPts val="100"/>
              </a:spcBef>
              <a:defRPr sz="1000" b="0">
                <a:solidFill>
                  <a:srgbClr val="94A3B8"/>
                </a:solidFill>
                <a:latin typeface="Calibri"/>
              </a:defRPr>
            </a:pPr>
            <a:r>
              <a:t>    CDS interval tree, 300 bp upstream trim, divergent IGR extraction</a:t>
            </a:r>
          </a:p>
          <a:p>
            <a:pPr algn="l">
              <a:spcBef>
                <a:spcPts val="500"/>
              </a:spcBef>
              <a:defRPr sz="1100" b="1">
                <a:solidFill>
                  <a:srgbClr val="F59E0B"/>
                </a:solidFill>
                <a:latin typeface="Calibri"/>
              </a:defRPr>
            </a:pPr>
            <a:r>
              <a:t>  fetch_sequences.py</a:t>
            </a:r>
          </a:p>
          <a:p>
            <a:pPr algn="l">
              <a:spcBef>
                <a:spcPts val="100"/>
              </a:spcBef>
              <a:defRPr sz="1000" b="0">
                <a:solidFill>
                  <a:srgbClr val="94A3B8"/>
                </a:solidFill>
                <a:latin typeface="Calibri"/>
              </a:defRPr>
            </a:pPr>
            <a:r>
              <a:t>    Downloads orthologs (Mtb/bovis/marinum) + tier-specific promoters</a:t>
            </a:r>
          </a:p>
          <a:p>
            <a:pPr algn="l">
              <a:spcBef>
                <a:spcPts val="500"/>
              </a:spcBef>
              <a:defRPr sz="1100" b="1">
                <a:solidFill>
                  <a:srgbClr val="F59E0B"/>
                </a:solidFill>
                <a:latin typeface="Calibri"/>
              </a:defRPr>
            </a:pPr>
            <a:r>
              <a:t>  run_meme.py</a:t>
            </a:r>
          </a:p>
          <a:p>
            <a:pPr algn="l">
              <a:spcBef>
                <a:spcPts val="100"/>
              </a:spcBef>
              <a:defRPr sz="1000" b="0">
                <a:solidFill>
                  <a:srgbClr val="94A3B8"/>
                </a:solidFill>
                <a:latin typeface="Calibri"/>
              </a:defRPr>
            </a:pPr>
            <a:r>
              <a:t>    MEME subprocess or simulation fallback, dual-motif PWM output</a:t>
            </a:r>
          </a:p>
          <a:p>
            <a:pPr algn="l">
              <a:spcBef>
                <a:spcPts val="500"/>
              </a:spcBef>
              <a:defRPr sz="1100" b="1">
                <a:solidFill>
                  <a:srgbClr val="F59E0B"/>
                </a:solidFill>
                <a:latin typeface="Calibri"/>
              </a:defRPr>
            </a:pPr>
            <a:r>
              <a:t>  run_fimo.py</a:t>
            </a:r>
          </a:p>
          <a:p>
            <a:pPr algn="l">
              <a:spcBef>
                <a:spcPts val="100"/>
              </a:spcBef>
              <a:defRPr sz="1000" b="0">
                <a:solidFill>
                  <a:srgbClr val="94A3B8"/>
                </a:solidFill>
                <a:latin typeface="Calibri"/>
              </a:defRPr>
            </a:pPr>
            <a:r>
              <a:t>    Log-odds scanner, empirical p-values, both strands, fimo.tsv output</a:t>
            </a:r>
          </a:p>
          <a:p>
            <a:pPr algn="l">
              <a:spcBef>
                <a:spcPts val="500"/>
              </a:spcBef>
              <a:defRPr sz="1100" b="1">
                <a:solidFill>
                  <a:srgbClr val="F59E0B"/>
                </a:solidFill>
                <a:latin typeface="Calibri"/>
              </a:defRPr>
            </a:pPr>
            <a:r>
              <a:t>  analyze_results.py</a:t>
            </a:r>
          </a:p>
          <a:p>
            <a:pPr algn="l">
              <a:spcBef>
                <a:spcPts val="100"/>
              </a:spcBef>
              <a:defRPr sz="1000" b="0">
                <a:solidFill>
                  <a:srgbClr val="94A3B8"/>
                </a:solidFill>
                <a:latin typeface="Calibri"/>
              </a:defRPr>
            </a:pPr>
            <a:r>
              <a:t>    Palindrome scoring, spacing analysis, tier assignment, ranking</a:t>
            </a:r>
          </a:p>
          <a:p>
            <a:pPr algn="l">
              <a:spcBef>
                <a:spcPts val="500"/>
              </a:spcBef>
              <a:defRPr sz="1100" b="1">
                <a:solidFill>
                  <a:srgbClr val="F59E0B"/>
                </a:solidFill>
                <a:latin typeface="Calibri"/>
              </a:defRPr>
            </a:pPr>
            <a:r>
              <a:t>  motif_models.py</a:t>
            </a:r>
          </a:p>
          <a:p>
            <a:pPr algn="l">
              <a:spcBef>
                <a:spcPts val="100"/>
              </a:spcBef>
              <a:defRPr sz="1000" b="0">
                <a:solidFill>
                  <a:srgbClr val="94A3B8"/>
                </a:solidFill>
                <a:latin typeface="Calibri"/>
              </a:defRPr>
            </a:pPr>
            <a:r>
              <a:t>    Composite score, architecture classification, model comparison</a:t>
            </a:r>
          </a:p>
          <a:p>
            <a:pPr algn="l">
              <a:spcBef>
                <a:spcPts val="500"/>
              </a:spcBef>
              <a:defRPr sz="1100" b="1">
                <a:solidFill>
                  <a:srgbClr val="F59E0B"/>
                </a:solidFill>
                <a:latin typeface="Calibri"/>
              </a:defRPr>
            </a:pPr>
            <a:r>
              <a:t>  visualize.py</a:t>
            </a:r>
          </a:p>
          <a:p>
            <a:pPr algn="l">
              <a:spcBef>
                <a:spcPts val="100"/>
              </a:spcBef>
              <a:defRPr sz="1000" b="0">
                <a:solidFill>
                  <a:srgbClr val="94A3B8"/>
                </a:solidFill>
                <a:latin typeface="Calibri"/>
              </a:defRPr>
            </a:pPr>
            <a:r>
              <a:t>    9 figures (PNG 300 DPI + SVG): score dist, logo, architecture, etc.</a:t>
            </a:r>
          </a:p>
          <a:p>
            <a:pPr algn="l">
              <a:spcBef>
                <a:spcPts val="500"/>
              </a:spcBef>
              <a:defRPr sz="1100" b="1">
                <a:solidFill>
                  <a:srgbClr val="F59E0B"/>
                </a:solidFill>
                <a:latin typeface="Calibri"/>
              </a:defRPr>
            </a:pPr>
            <a:r>
              <a:t>  utils.py</a:t>
            </a:r>
          </a:p>
          <a:p>
            <a:pPr algn="l">
              <a:spcBef>
                <a:spcPts val="100"/>
              </a:spcBef>
              <a:defRPr sz="1000" b="0">
                <a:solidFill>
                  <a:srgbClr val="94A3B8"/>
                </a:solidFill>
                <a:latin typeface="Calibri"/>
              </a:defRPr>
            </a:pPr>
            <a:r>
              <a:t>    Shared: logging, path setup, GC content, FASTA loader, reverse_complement</a:t>
            </a:r>
          </a:p>
        </p:txBody>
      </p:sp>
      <p:sp>
        <p:nvSpPr>
          <p:cNvPr id="5" name="Rounded Rectangle 4"/>
          <p:cNvSpPr/>
          <p:nvPr/>
        </p:nvSpPr>
        <p:spPr>
          <a:xfrm>
            <a:off x="6217920" y="1188720"/>
            <a:ext cx="5029200" cy="2286000"/>
          </a:xfrm>
          <a:prstGeom prst="roundRect">
            <a:avLst/>
          </a:prstGeom>
          <a:solidFill>
            <a:srgbClr val="10274A"/>
          </a:solidFill>
          <a:ln w="1905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14B8A6"/>
                </a:solidFill>
              </a:defRPr>
            </a:pPr>
            <a:r>
              <a:t>Environment &amp; Dependencies</a:t>
            </a:r>
          </a:p>
          <a:p>
            <a:pPr algn="l">
              <a:spcBef>
                <a:spcPts val="400"/>
              </a:spcBef>
              <a:defRPr sz="1100" b="0">
                <a:solidFill>
                  <a:srgbClr val="E2E8F0"/>
                </a:solidFill>
                <a:latin typeface="Calibri"/>
              </a:defRPr>
            </a:pPr>
            <a:r>
              <a:t>  Python 3.10 (Miniconda conda environment)</a:t>
            </a:r>
          </a:p>
          <a:p>
            <a:pPr algn="l">
              <a:spcBef>
                <a:spcPts val="400"/>
              </a:spcBef>
              <a:defRPr sz="1100" b="0">
                <a:solidFill>
                  <a:srgbClr val="E2E8F0"/>
                </a:solidFill>
                <a:latin typeface="Calibri"/>
              </a:defRPr>
            </a:pPr>
            <a:r>
              <a:t>  MEME Suite 5.5.9 (bioconda channel)</a:t>
            </a:r>
          </a:p>
          <a:p>
            <a:pPr algn="l">
              <a:spcBef>
                <a:spcPts val="400"/>
              </a:spcBef>
              <a:defRPr sz="1100" b="0">
                <a:solidFill>
                  <a:srgbClr val="E2E8F0"/>
                </a:solidFill>
                <a:latin typeface="Calibri"/>
              </a:defRPr>
            </a:pPr>
            <a:r>
              <a:t>  BioPython 1.86 — GenBank parsing, NCBI Entrez</a:t>
            </a:r>
          </a:p>
          <a:p>
            <a:pPr algn="l">
              <a:spcBef>
                <a:spcPts val="400"/>
              </a:spcBef>
              <a:defRPr sz="1100" b="0">
                <a:solidFill>
                  <a:srgbClr val="E2E8F0"/>
                </a:solidFill>
                <a:latin typeface="Calibri"/>
              </a:defRPr>
            </a:pPr>
            <a:r>
              <a:t>  pandas 2.x / NumPy 2.x — data manipulation</a:t>
            </a:r>
          </a:p>
          <a:p>
            <a:pPr algn="l">
              <a:spcBef>
                <a:spcPts val="400"/>
              </a:spcBef>
              <a:defRPr sz="1100" b="0">
                <a:solidFill>
                  <a:srgbClr val="E2E8F0"/>
                </a:solidFill>
                <a:latin typeface="Calibri"/>
              </a:defRPr>
            </a:pPr>
            <a:r>
              <a:t>  matplotlib 3.10 / seaborn 0.13 — visualization</a:t>
            </a:r>
          </a:p>
        </p:txBody>
      </p:sp>
      <p:sp>
        <p:nvSpPr>
          <p:cNvPr id="6" name="Rounded Rectangle 5"/>
          <p:cNvSpPr/>
          <p:nvPr/>
        </p:nvSpPr>
        <p:spPr>
          <a:xfrm>
            <a:off x="6217920" y="3657600"/>
            <a:ext cx="5029200" cy="2560320"/>
          </a:xfrm>
          <a:prstGeom prst="roundRect">
            <a:avLst/>
          </a:prstGeom>
          <a:solidFill>
            <a:srgbClr val="10274A"/>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F59E0B"/>
                </a:solidFill>
              </a:defRPr>
            </a:pPr>
            <a:r>
              <a:t>Key Parameters</a:t>
            </a:r>
          </a:p>
          <a:p>
            <a:pPr algn="l">
              <a:spcBef>
                <a:spcPts val="300"/>
              </a:spcBef>
              <a:defRPr sz="1000" b="0">
                <a:solidFill>
                  <a:srgbClr val="E2E8F0"/>
                </a:solidFill>
                <a:latin typeface="Calibri"/>
              </a:defRPr>
            </a:pPr>
            <a:r>
              <a:t>  Promoter length: 300 bp upstream (trimmed at adjacent CDS)</a:t>
            </a:r>
          </a:p>
          <a:p>
            <a:pPr algn="l">
              <a:spcBef>
                <a:spcPts val="300"/>
              </a:spcBef>
              <a:defRPr sz="1000" b="0">
                <a:solidFill>
                  <a:srgbClr val="E2E8F0"/>
                </a:solidFill>
                <a:latin typeface="Calibri"/>
              </a:defRPr>
            </a:pPr>
            <a:r>
              <a:t>  MEME width: -minw 20 -maxw 30 (match ~25 bp half-site)</a:t>
            </a:r>
          </a:p>
          <a:p>
            <a:pPr algn="l">
              <a:spcBef>
                <a:spcPts val="300"/>
              </a:spcBef>
              <a:defRPr sz="1000" b="0">
                <a:solidFill>
                  <a:srgbClr val="E2E8F0"/>
                </a:solidFill>
                <a:latin typeface="Calibri"/>
              </a:defRPr>
            </a:pPr>
            <a:r>
              <a:t>  MEME modes: -mod zoops, then -mod anr</a:t>
            </a:r>
          </a:p>
          <a:p>
            <a:pPr algn="l">
              <a:spcBef>
                <a:spcPts val="300"/>
              </a:spcBef>
              <a:defRPr sz="1000" b="0">
                <a:solidFill>
                  <a:srgbClr val="E2E8F0"/>
                </a:solidFill>
                <a:latin typeface="Calibri"/>
              </a:defRPr>
            </a:pPr>
            <a:r>
              <a:t>  FIMO p-value: &lt; 0.0001 (1 in 10,000)</a:t>
            </a:r>
          </a:p>
          <a:p>
            <a:pPr algn="l">
              <a:spcBef>
                <a:spcPts val="300"/>
              </a:spcBef>
              <a:defRPr sz="1000" b="0">
                <a:solidFill>
                  <a:srgbClr val="E2E8F0"/>
                </a:solidFill>
                <a:latin typeface="Calibri"/>
              </a:defRPr>
            </a:pPr>
            <a:r>
              <a:t>  Max gap: 80 bp (site-pairing search window)</a:t>
            </a:r>
          </a:p>
          <a:p>
            <a:pPr algn="l">
              <a:spcBef>
                <a:spcPts val="300"/>
              </a:spcBef>
              <a:defRPr sz="1000" b="0">
                <a:solidFill>
                  <a:srgbClr val="E2E8F0"/>
                </a:solidFill>
                <a:latin typeface="Calibri"/>
              </a:defRPr>
            </a:pPr>
            <a:r>
              <a:t>  Validated spacing: 48–58 bp (±5 bp around 53 bp reference)</a:t>
            </a:r>
          </a:p>
          <a:p>
            <a:pPr algn="l">
              <a:spcBef>
                <a:spcPts val="300"/>
              </a:spcBef>
              <a:defRPr sz="1000" b="0">
                <a:solidFill>
                  <a:srgbClr val="E2E8F0"/>
                </a:solidFill>
                <a:latin typeface="Calibri"/>
              </a:defRPr>
            </a:pPr>
            <a:r>
              <a:t>  Composite weights: 40% FIMO / 25% arch / 20% asym / 15% tier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Key Literature</a:t>
            </a:r>
          </a:p>
        </p:txBody>
      </p:sp>
      <p:sp>
        <p:nvSpPr>
          <p:cNvPr id="3" name="Rectangle 2"/>
          <p:cNvSpPr/>
          <p:nvPr/>
        </p:nvSpPr>
        <p:spPr>
          <a:xfrm>
            <a:off x="731520" y="1005840"/>
            <a:ext cx="27432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371600"/>
            <a:ext cx="10515600" cy="77724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22400"/>
            <a:ext cx="9601200" cy="320040"/>
          </a:xfrm>
          <a:prstGeom prst="rect">
            <a:avLst/>
          </a:prstGeom>
          <a:noFill/>
        </p:spPr>
        <p:txBody>
          <a:bodyPr wrap="square">
            <a:spAutoFit/>
          </a:bodyPr>
          <a:lstStyle/>
          <a:p>
            <a:pPr algn="l">
              <a:defRPr sz="1500" b="1">
                <a:solidFill>
                  <a:srgbClr val="14B8A6"/>
                </a:solidFill>
                <a:latin typeface="Calibri"/>
              </a:defRPr>
            </a:pPr>
            <a:r>
              <a:t>Panagoda, Balázsi &amp; Sampson (2024)</a:t>
            </a:r>
          </a:p>
        </p:txBody>
      </p:sp>
      <p:sp>
        <p:nvSpPr>
          <p:cNvPr id="6" name="TextBox 5"/>
          <p:cNvSpPr txBox="1"/>
          <p:nvPr/>
        </p:nvSpPr>
        <p:spPr>
          <a:xfrm>
            <a:off x="914400" y="1691640"/>
            <a:ext cx="9601200" cy="365760"/>
          </a:xfrm>
          <a:prstGeom prst="rect">
            <a:avLst/>
          </a:prstGeom>
          <a:noFill/>
        </p:spPr>
        <p:txBody>
          <a:bodyPr wrap="square">
            <a:spAutoFit/>
          </a:bodyPr>
          <a:lstStyle/>
          <a:p>
            <a:pPr algn="l">
              <a:defRPr sz="1300" b="0">
                <a:solidFill>
                  <a:srgbClr val="94A3B8"/>
                </a:solidFill>
                <a:latin typeface="Calibri"/>
              </a:defRPr>
            </a:pPr>
            <a:r>
              <a:t>ACS Chemical Biology — Cryo-EM structure of Mce3R, asymmetric operator discovery</a:t>
            </a:r>
          </a:p>
        </p:txBody>
      </p:sp>
      <p:sp>
        <p:nvSpPr>
          <p:cNvPr id="7" name="Rounded Rectangle 6"/>
          <p:cNvSpPr/>
          <p:nvPr/>
        </p:nvSpPr>
        <p:spPr>
          <a:xfrm>
            <a:off x="731520" y="2240280"/>
            <a:ext cx="10515600" cy="77724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291080"/>
            <a:ext cx="9601200" cy="320040"/>
          </a:xfrm>
          <a:prstGeom prst="rect">
            <a:avLst/>
          </a:prstGeom>
          <a:noFill/>
        </p:spPr>
        <p:txBody>
          <a:bodyPr wrap="square">
            <a:spAutoFit/>
          </a:bodyPr>
          <a:lstStyle/>
          <a:p>
            <a:pPr algn="l">
              <a:defRPr sz="1500" b="1">
                <a:solidFill>
                  <a:srgbClr val="14B8A6"/>
                </a:solidFill>
                <a:latin typeface="Calibri"/>
              </a:defRPr>
            </a:pPr>
            <a:r>
              <a:t>Santangelo et al. (2009)</a:t>
            </a:r>
          </a:p>
        </p:txBody>
      </p:sp>
      <p:sp>
        <p:nvSpPr>
          <p:cNvPr id="9" name="TextBox 8"/>
          <p:cNvSpPr txBox="1"/>
          <p:nvPr/>
        </p:nvSpPr>
        <p:spPr>
          <a:xfrm>
            <a:off x="914400" y="2560320"/>
            <a:ext cx="9601200" cy="365760"/>
          </a:xfrm>
          <a:prstGeom prst="rect">
            <a:avLst/>
          </a:prstGeom>
          <a:noFill/>
        </p:spPr>
        <p:txBody>
          <a:bodyPr wrap="square">
            <a:spAutoFit/>
          </a:bodyPr>
          <a:lstStyle/>
          <a:p>
            <a:pPr algn="l">
              <a:defRPr sz="1300" b="0">
                <a:solidFill>
                  <a:srgbClr val="94A3B8"/>
                </a:solidFill>
                <a:latin typeface="Calibri"/>
              </a:defRPr>
            </a:pPr>
            <a:r>
              <a:t>Microbiology 155:2245 — Mce3R regulon characterization, second regulatory region</a:t>
            </a:r>
          </a:p>
        </p:txBody>
      </p:sp>
      <p:sp>
        <p:nvSpPr>
          <p:cNvPr id="10" name="Rounded Rectangle 9"/>
          <p:cNvSpPr/>
          <p:nvPr/>
        </p:nvSpPr>
        <p:spPr>
          <a:xfrm>
            <a:off x="731520" y="3108960"/>
            <a:ext cx="10515600" cy="77724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159760"/>
            <a:ext cx="9601200" cy="320040"/>
          </a:xfrm>
          <a:prstGeom prst="rect">
            <a:avLst/>
          </a:prstGeom>
          <a:noFill/>
        </p:spPr>
        <p:txBody>
          <a:bodyPr wrap="square">
            <a:spAutoFit/>
          </a:bodyPr>
          <a:lstStyle/>
          <a:p>
            <a:pPr algn="l">
              <a:defRPr sz="1500" b="1">
                <a:solidFill>
                  <a:srgbClr val="14B8A6"/>
                </a:solidFill>
                <a:latin typeface="Calibri"/>
              </a:defRPr>
            </a:pPr>
            <a:r>
              <a:t>Santangelo, Blanco et al. (2008)</a:t>
            </a:r>
          </a:p>
        </p:txBody>
      </p:sp>
      <p:sp>
        <p:nvSpPr>
          <p:cNvPr id="12" name="TextBox 11"/>
          <p:cNvSpPr txBox="1"/>
          <p:nvPr/>
        </p:nvSpPr>
        <p:spPr>
          <a:xfrm>
            <a:off x="914400" y="3429000"/>
            <a:ext cx="9601200" cy="365760"/>
          </a:xfrm>
          <a:prstGeom prst="rect">
            <a:avLst/>
          </a:prstGeom>
          <a:noFill/>
        </p:spPr>
        <p:txBody>
          <a:bodyPr wrap="square">
            <a:spAutoFit/>
          </a:bodyPr>
          <a:lstStyle/>
          <a:p>
            <a:pPr algn="l">
              <a:defRPr sz="1300" b="0">
                <a:solidFill>
                  <a:srgbClr val="94A3B8"/>
                </a:solidFill>
                <a:latin typeface="Calibri"/>
              </a:defRPr>
            </a:pPr>
            <a:r>
              <a:t>BMC Microbiology 8:38 — Genetic characterization, mce1/2/4 not Mce3R-regulated</a:t>
            </a:r>
          </a:p>
        </p:txBody>
      </p:sp>
      <p:sp>
        <p:nvSpPr>
          <p:cNvPr id="13" name="Rounded Rectangle 12"/>
          <p:cNvSpPr/>
          <p:nvPr/>
        </p:nvSpPr>
        <p:spPr>
          <a:xfrm>
            <a:off x="731520" y="3977640"/>
            <a:ext cx="10515600" cy="77724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4028440"/>
            <a:ext cx="9601200" cy="320040"/>
          </a:xfrm>
          <a:prstGeom prst="rect">
            <a:avLst/>
          </a:prstGeom>
          <a:noFill/>
        </p:spPr>
        <p:txBody>
          <a:bodyPr wrap="square">
            <a:spAutoFit/>
          </a:bodyPr>
          <a:lstStyle/>
          <a:p>
            <a:pPr algn="l">
              <a:defRPr sz="1500" b="1">
                <a:solidFill>
                  <a:srgbClr val="14B8A6"/>
                </a:solidFill>
                <a:latin typeface="Calibri"/>
              </a:defRPr>
            </a:pPr>
            <a:r>
              <a:t>Bailey et al. (2015)</a:t>
            </a:r>
          </a:p>
        </p:txBody>
      </p:sp>
      <p:sp>
        <p:nvSpPr>
          <p:cNvPr id="15" name="TextBox 14"/>
          <p:cNvSpPr txBox="1"/>
          <p:nvPr/>
        </p:nvSpPr>
        <p:spPr>
          <a:xfrm>
            <a:off x="914400" y="4297680"/>
            <a:ext cx="9601200" cy="365760"/>
          </a:xfrm>
          <a:prstGeom prst="rect">
            <a:avLst/>
          </a:prstGeom>
          <a:noFill/>
        </p:spPr>
        <p:txBody>
          <a:bodyPr wrap="square">
            <a:spAutoFit/>
          </a:bodyPr>
          <a:lstStyle/>
          <a:p>
            <a:pPr algn="l">
              <a:defRPr sz="1300" b="0">
                <a:solidFill>
                  <a:srgbClr val="94A3B8"/>
                </a:solidFill>
                <a:latin typeface="Calibri"/>
              </a:defRPr>
            </a:pPr>
            <a:r>
              <a:t>Nucleic Acids Research — MEME Suite: tools for motif discovery and searching</a:t>
            </a:r>
          </a:p>
        </p:txBody>
      </p:sp>
      <p:sp>
        <p:nvSpPr>
          <p:cNvPr id="16" name="Rounded Rectangle 15"/>
          <p:cNvSpPr/>
          <p:nvPr/>
        </p:nvSpPr>
        <p:spPr>
          <a:xfrm>
            <a:off x="731520" y="4846320"/>
            <a:ext cx="10515600" cy="777240"/>
          </a:xfrm>
          <a:prstGeom prst="roundRect">
            <a:avLst/>
          </a:prstGeom>
          <a:solidFill>
            <a:srgbClr val="1027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897120"/>
            <a:ext cx="9601200" cy="320040"/>
          </a:xfrm>
          <a:prstGeom prst="rect">
            <a:avLst/>
          </a:prstGeom>
          <a:noFill/>
        </p:spPr>
        <p:txBody>
          <a:bodyPr wrap="square">
            <a:spAutoFit/>
          </a:bodyPr>
          <a:lstStyle/>
          <a:p>
            <a:pPr algn="l">
              <a:defRPr sz="1500" b="1">
                <a:solidFill>
                  <a:srgbClr val="14B8A6"/>
                </a:solidFill>
                <a:latin typeface="Calibri"/>
              </a:defRPr>
            </a:pPr>
            <a:r>
              <a:t>Grant, Bailey &amp; Noble (2011)</a:t>
            </a:r>
          </a:p>
        </p:txBody>
      </p:sp>
      <p:sp>
        <p:nvSpPr>
          <p:cNvPr id="18" name="TextBox 17"/>
          <p:cNvSpPr txBox="1"/>
          <p:nvPr/>
        </p:nvSpPr>
        <p:spPr>
          <a:xfrm>
            <a:off x="914400" y="5166360"/>
            <a:ext cx="9601200" cy="365760"/>
          </a:xfrm>
          <a:prstGeom prst="rect">
            <a:avLst/>
          </a:prstGeom>
          <a:noFill/>
        </p:spPr>
        <p:txBody>
          <a:bodyPr wrap="square">
            <a:spAutoFit/>
          </a:bodyPr>
          <a:lstStyle/>
          <a:p>
            <a:pPr algn="l">
              <a:defRPr sz="1300" b="0">
                <a:solidFill>
                  <a:srgbClr val="94A3B8"/>
                </a:solidFill>
                <a:latin typeface="Calibri"/>
              </a:defRPr>
            </a:pPr>
            <a:r>
              <a:t>Bioinformatics — FIMO: scanning for occurrences of a given motif</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TextBox 1"/>
          <p:cNvSpPr txBox="1"/>
          <p:nvPr/>
        </p:nvSpPr>
        <p:spPr>
          <a:xfrm>
            <a:off x="731520" y="365760"/>
            <a:ext cx="10058400" cy="640080"/>
          </a:xfrm>
          <a:prstGeom prst="rect">
            <a:avLst/>
          </a:prstGeom>
          <a:noFill/>
        </p:spPr>
        <p:txBody>
          <a:bodyPr wrap="square">
            <a:spAutoFit/>
          </a:bodyPr>
          <a:lstStyle/>
          <a:p>
            <a:pPr algn="l">
              <a:defRPr sz="3000" b="1">
                <a:solidFill>
                  <a:srgbClr val="FFFFFF"/>
                </a:solidFill>
                <a:latin typeface="Trebuchet MS"/>
              </a:defRPr>
            </a:pPr>
            <a:r>
              <a:t>Acknowledgments</a:t>
            </a:r>
          </a:p>
        </p:txBody>
      </p:sp>
      <p:sp>
        <p:nvSpPr>
          <p:cNvPr id="3" name="Rectangle 2"/>
          <p:cNvSpPr/>
          <p:nvPr/>
        </p:nvSpPr>
        <p:spPr>
          <a:xfrm>
            <a:off x="731520" y="1005840"/>
            <a:ext cx="274320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43200" y="1892300"/>
            <a:ext cx="109728" cy="10972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108960" y="1828800"/>
            <a:ext cx="6400800" cy="365760"/>
          </a:xfrm>
          <a:prstGeom prst="rect">
            <a:avLst/>
          </a:prstGeom>
          <a:noFill/>
        </p:spPr>
        <p:txBody>
          <a:bodyPr wrap="square">
            <a:spAutoFit/>
          </a:bodyPr>
          <a:lstStyle/>
          <a:p>
            <a:pPr algn="l">
              <a:defRPr sz="1700" b="0">
                <a:solidFill>
                  <a:srgbClr val="E2E8F0"/>
                </a:solidFill>
                <a:latin typeface="Calibri"/>
              </a:defRPr>
            </a:pPr>
            <a:r>
              <a:t>Dr. Gábor Balázsi — Stony Brook University, Mce3R structural work</a:t>
            </a:r>
          </a:p>
        </p:txBody>
      </p:sp>
      <p:sp>
        <p:nvSpPr>
          <p:cNvPr id="6" name="Rounded Rectangle 5"/>
          <p:cNvSpPr/>
          <p:nvPr/>
        </p:nvSpPr>
        <p:spPr>
          <a:xfrm>
            <a:off x="2743200" y="2532380"/>
            <a:ext cx="109728" cy="109728"/>
          </a:xfrm>
          <a:prstGeom prst="round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0" y="2468880"/>
            <a:ext cx="6400800" cy="365760"/>
          </a:xfrm>
          <a:prstGeom prst="rect">
            <a:avLst/>
          </a:prstGeom>
          <a:noFill/>
        </p:spPr>
        <p:txBody>
          <a:bodyPr wrap="square">
            <a:spAutoFit/>
          </a:bodyPr>
          <a:lstStyle/>
          <a:p>
            <a:pPr algn="l">
              <a:defRPr sz="1700" b="0">
                <a:solidFill>
                  <a:srgbClr val="E2E8F0"/>
                </a:solidFill>
                <a:latin typeface="Calibri"/>
              </a:defRPr>
            </a:pPr>
            <a:r>
              <a:t>Dr. Nicole Sampson — Stony Brook / University of Rochester, Mce3R biochemistry</a:t>
            </a:r>
          </a:p>
        </p:txBody>
      </p:sp>
      <p:sp>
        <p:nvSpPr>
          <p:cNvPr id="8" name="TextBox 7"/>
          <p:cNvSpPr txBox="1"/>
          <p:nvPr/>
        </p:nvSpPr>
        <p:spPr>
          <a:xfrm>
            <a:off x="2743200" y="4114800"/>
            <a:ext cx="6400800" cy="457200"/>
          </a:xfrm>
          <a:prstGeom prst="rect">
            <a:avLst/>
          </a:prstGeom>
          <a:noFill/>
        </p:spPr>
        <p:txBody>
          <a:bodyPr wrap="square">
            <a:spAutoFit/>
          </a:bodyPr>
          <a:lstStyle/>
          <a:p>
            <a:pPr algn="ctr">
              <a:defRPr sz="2000" b="1">
                <a:solidFill>
                  <a:srgbClr val="94A3B8"/>
                </a:solidFill>
                <a:latin typeface="Calibri"/>
              </a:defRPr>
            </a:pPr>
            <a:r>
              <a:t>Great Neck South High School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D3A"/>
        </a:solidFill>
        <a:effectLst/>
      </p:bgPr>
    </p:bg>
    <p:spTree>
      <p:nvGrpSpPr>
        <p:cNvPr id="1" name=""/>
        <p:cNvGrpSpPr/>
        <p:nvPr/>
      </p:nvGrpSpPr>
      <p:grpSpPr/>
      <p:sp>
        <p:nvSpPr>
          <p:cNvPr id="2" name="Rectangle 1"/>
          <p:cNvSpPr/>
          <p:nvPr/>
        </p:nvSpPr>
        <p:spPr>
          <a:xfrm>
            <a:off x="3657600" y="2286000"/>
            <a:ext cx="4846320" cy="381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560320"/>
            <a:ext cx="10332720" cy="1097280"/>
          </a:xfrm>
          <a:prstGeom prst="rect">
            <a:avLst/>
          </a:prstGeom>
          <a:noFill/>
        </p:spPr>
        <p:txBody>
          <a:bodyPr wrap="square">
            <a:spAutoFit/>
          </a:bodyPr>
          <a:lstStyle/>
          <a:p>
            <a:pPr algn="ctr">
              <a:defRPr sz="4800" b="1">
                <a:solidFill>
                  <a:srgbClr val="FFFFFF"/>
                </a:solidFill>
                <a:latin typeface="Trebuchet MS"/>
              </a:defRPr>
            </a:pPr>
            <a:r>
              <a:t>Thank You</a:t>
            </a:r>
          </a:p>
        </p:txBody>
      </p:sp>
      <p:sp>
        <p:nvSpPr>
          <p:cNvPr id="4" name="TextBox 3"/>
          <p:cNvSpPr txBox="1"/>
          <p:nvPr/>
        </p:nvSpPr>
        <p:spPr>
          <a:xfrm>
            <a:off x="914400" y="3840480"/>
            <a:ext cx="10332720" cy="548640"/>
          </a:xfrm>
          <a:prstGeom prst="rect">
            <a:avLst/>
          </a:prstGeom>
          <a:noFill/>
        </p:spPr>
        <p:txBody>
          <a:bodyPr wrap="square">
            <a:spAutoFit/>
          </a:bodyPr>
          <a:lstStyle/>
          <a:p>
            <a:pPr algn="ctr">
              <a:defRPr sz="2800" b="0">
                <a:solidFill>
                  <a:srgbClr val="14B8A6"/>
                </a:solidFill>
                <a:latin typeface="Calibri"/>
              </a:defRPr>
            </a:pPr>
            <a:r>
              <a:t>Questions?</a:t>
            </a:r>
          </a:p>
        </p:txBody>
      </p:sp>
      <p:sp>
        <p:nvSpPr>
          <p:cNvPr id="5" name="Rectangle 4"/>
          <p:cNvSpPr/>
          <p:nvPr/>
        </p:nvSpPr>
        <p:spPr>
          <a:xfrm>
            <a:off x="3657600" y="4572000"/>
            <a:ext cx="4846320" cy="381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029200"/>
            <a:ext cx="10332720" cy="457200"/>
          </a:xfrm>
          <a:prstGeom prst="rect">
            <a:avLst/>
          </a:prstGeom>
          <a:noFill/>
        </p:spPr>
        <p:txBody>
          <a:bodyPr wrap="square">
            <a:spAutoFit/>
          </a:bodyPr>
          <a:lstStyle/>
          <a:p>
            <a:pPr algn="ctr">
              <a:defRPr sz="1600" b="0">
                <a:solidFill>
                  <a:srgbClr val="94A3B8"/>
                </a:solidFill>
                <a:latin typeface="Calibri"/>
              </a:defRPr>
            </a:pPr>
            <a:r>
              <a:t>Aayan Alwani  •  Great Neck South High School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