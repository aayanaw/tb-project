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98"/>
    <p:restoredTop sz="94658"/>
  </p:normalViewPr>
  <p:slideViewPr>
    <p:cSldViewPr snapToGrid="0" snapToObjects="1">
      <p:cViewPr>
        <p:scale>
          <a:sx n="23" d="100"/>
          <a:sy n="23" d="100"/>
        </p:scale>
        <p:origin x="61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43891200" cy="274320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297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Trebuchet MS"/>
              </a:defRPr>
            </a:pPr>
            <a:r>
              <a:t>Stochastic Gene Expression Noise in the Mce3R Autoregulatory Circuit</a:t>
            </a:r>
            <a:br/>
            <a:r>
              <a:t>as a Driver of Antibiotic Persistence in Mycobacterium tuberculosis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7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14B8A6"/>
                </a:solidFill>
                <a:latin typeface="Trebuchet MS"/>
              </a:defRPr>
            </a:pPr>
            <a:r>
              <a:t>Aayan Alwani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4297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E2E8F0"/>
                </a:solidFill>
                <a:latin typeface="Calibri"/>
              </a:defRPr>
            </a:pPr>
            <a:r>
              <a:t>Great Neck South High School, Great Neck, 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926080"/>
            <a:ext cx="27432" cy="2971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00" y="2926080"/>
            <a:ext cx="27432" cy="2971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3108960"/>
            <a:ext cx="1024128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TB kills 1.3 million people/year (WHO 2024)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Treatment: 6-9 months due to </a:t>
            </a:r>
            <a:r>
              <a:rPr dirty="0" err="1"/>
              <a:t>persister</a:t>
            </a:r>
            <a:r>
              <a:rPr dirty="0"/>
              <a:t> cells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Persisters</a:t>
            </a:r>
            <a:r>
              <a:rPr dirty="0"/>
              <a:t> survive antibiotics without resistance mutations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Caused by random gene expression noise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Mce3R: </a:t>
            </a:r>
            <a:r>
              <a:rPr dirty="0" err="1"/>
              <a:t>TetR</a:t>
            </a:r>
            <a:r>
              <a:rPr dirty="0"/>
              <a:t>-family repressor of cholesterol survival genes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  Mce3R deletion increases </a:t>
            </a:r>
            <a:r>
              <a:rPr dirty="0" err="1"/>
              <a:t>persister</a:t>
            </a:r>
            <a:r>
              <a:rPr dirty="0"/>
              <a:t> frequency (Srivastava 2023)</a:t>
            </a:r>
          </a:p>
        </p:txBody>
      </p:sp>
      <p:pic>
        <p:nvPicPr>
          <p:cNvPr id="10" name="Picture 9" descr="fig1_repress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63640"/>
            <a:ext cx="9692640" cy="4216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10652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1. Mce3R repression mechanism. Figure created by student author.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1292840"/>
            <a:ext cx="1024128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THE ASYMMETRIC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9786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2024 cryo-EM at 2.51 A (Panagoda, Balazsi &amp; Sampson)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Two 25 bp non-palindromic half-sites, 53 bp spacer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Downstream: Kd = 2.4 nM (strong); upstream: weaker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  First asymmetric operator in TetR family (unprecedented)</a:t>
            </a:r>
          </a:p>
        </p:txBody>
      </p:sp>
      <p:pic>
        <p:nvPicPr>
          <p:cNvPr id="14" name="Picture 13" descr="fig2_asymmetric_vs_sym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3600147"/>
            <a:ext cx="9692640" cy="49408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18562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2. Asymmetric vs. symmetric operator architecture. Figure created by student author.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202400"/>
            <a:ext cx="1024128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HYPOTHESIS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9888200"/>
            <a:ext cx="9875519" cy="164592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Asymmetric binding sites create a THREE-STATE gene expression system (OFF / INTERMEDIATE / ON) that generates more </a:t>
            </a:r>
            <a:r>
              <a:rPr dirty="0" err="1"/>
              <a:t>persisters</a:t>
            </a:r>
            <a:r>
              <a:rPr dirty="0"/>
              <a:t> than symmetric sites (OFF / ON only)</a:t>
            </a:r>
          </a:p>
        </p:txBody>
      </p:sp>
      <p:pic>
        <p:nvPicPr>
          <p:cNvPr id="18" name="Picture 17" descr="fig3_four_operator_st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2549"/>
            <a:ext cx="9692640" cy="56287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27386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3. Four operator microstates. Intermediate states (2,3) only exist because sites have different strengths. Figure created by student author.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3108960"/>
            <a:ext cx="213969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COMPUTATIONAL PIPELINE (AIM 1 — COMPLETED)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3794760"/>
            <a:ext cx="102705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Scanned 2,351 promoters across M. tuberculosis H37Rv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MEME Suite: de novo motif discovery with grid-search width optimization (w=20-28)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FIMO: genome-wide scanning with dual motif models (palindromic + asymmetric)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Composite scoring: FIMO + architecture + asymmetry + biological prior</a:t>
            </a:r>
          </a:p>
        </p:txBody>
      </p:sp>
      <p:pic>
        <p:nvPicPr>
          <p:cNvPr id="22" name="Picture 21" descr="score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0" y="3611880"/>
            <a:ext cx="10270540" cy="6842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945600" y="7452360"/>
            <a:ext cx="102705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4. Composite score distribution across 451 predicted binding sites.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47120" y="7909560"/>
            <a:ext cx="213969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PIPELINE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8595360"/>
            <a:ext cx="102705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451 predicted Mce3R binding sites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   6 Tier 1 (known) | 23 Tier 2 (plausible) | 422 Tier 3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Top hit: IGR_Rv1963c_Rv1964 (known operator) — validates pipeline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5 sites with validated paired asymmetric architecture (40-65 bp)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98% of sites prefer asymmetric model over palindromic</a:t>
            </a:r>
          </a:p>
        </p:txBody>
      </p:sp>
      <p:pic>
        <p:nvPicPr>
          <p:cNvPr id="26" name="Picture 25" descr="model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0" y="8412480"/>
            <a:ext cx="10270540" cy="79602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0" y="12070080"/>
            <a:ext cx="102705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5. 98% of predicted sites prefer the asymmetric binding model.</a:t>
            </a:r>
          </a:p>
        </p:txBody>
      </p:sp>
      <p:pic>
        <p:nvPicPr>
          <p:cNvPr id="28" name="Picture 27" descr="spacing_histo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0" y="9954404"/>
            <a:ext cx="10270540" cy="69138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47120" y="15819120"/>
            <a:ext cx="102705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6. Inter-site spacing. Vertical line = validated 53 bp.</a:t>
            </a:r>
          </a:p>
        </p:txBody>
      </p:sp>
      <p:pic>
        <p:nvPicPr>
          <p:cNvPr id="30" name="Picture 29" descr="operator_architecture_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73539" y="12527280"/>
            <a:ext cx="10270540" cy="67608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373539" y="15819120"/>
            <a:ext cx="102705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7. Validated paired asymmetric operator architecture.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0" y="16367759"/>
            <a:ext cx="213969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STOCHASTIC MODELING (AIM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17053560"/>
            <a:ext cx="102705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Gillespie stochastic simulation (SSA) of Mce3R circuit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6 reactions: transcription, translation, mRNA degradation,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   protein dilution, Mce3R binding, Mce3R unbinding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Parameters from published data: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   </a:t>
            </a:r>
            <a:r>
              <a:rPr dirty="0" err="1"/>
              <a:t>Kd</a:t>
            </a:r>
            <a:r>
              <a:rPr dirty="0"/>
              <a:t> = 2.4 </a:t>
            </a:r>
            <a:r>
              <a:rPr dirty="0" err="1"/>
              <a:t>nM</a:t>
            </a:r>
            <a:r>
              <a:rPr dirty="0"/>
              <a:t> | mRNA t1/2 = 5 min | doubling = 20 </a:t>
            </a:r>
            <a:r>
              <a:rPr dirty="0" err="1"/>
              <a:t>hrs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rPr dirty="0"/>
              <a:t>  10,000 virtual cells per condition</a:t>
            </a:r>
          </a:p>
        </p:txBody>
      </p:sp>
      <p:pic>
        <p:nvPicPr>
          <p:cNvPr id="34" name="Picture 33" descr="fig8_gillespie_flow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00" y="16779239"/>
            <a:ext cx="10270540" cy="42917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945600" y="19248119"/>
            <a:ext cx="102705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8. Gillespie algorithm. Figure created by student author.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47120" y="19979639"/>
            <a:ext cx="213969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THE FOUR SIMULATIONS</a:t>
            </a:r>
          </a:p>
        </p:txBody>
      </p:sp>
      <p:pic>
        <p:nvPicPr>
          <p:cNvPr id="37" name="Picture 36" descr="fig9_four_simulati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1520" y="20619719"/>
            <a:ext cx="19568160" cy="124177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161520" y="25648919"/>
            <a:ext cx="1956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9. Four operator architectures tested. Figure created by student author.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01280" y="310896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KEY FINDING</a:t>
            </a:r>
          </a:p>
        </p:txBody>
      </p:sp>
      <p:pic>
        <p:nvPicPr>
          <p:cNvPr id="40" name="Picture 39" descr="fig10_trimodal_distributi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4160" y="3794760"/>
            <a:ext cx="10058400" cy="73888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3101280" y="10927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10. Predicted protein distributions. Asymmetric operators produce trimodal distributions; intermediate state = persisters. Figure created by student author.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0" y="11567159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Asymmetric operator: 3 peaks (OFF / INTERMEDIATE / ON)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Symmetric operator: 2 peaks only (OFF / ON)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The INTERMEDIATE state is the persister subpopulation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Predicted persister fraction (~0.1-1%) matches experiments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101280" y="1321308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0" y="138988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Cross-referenced with Santangelo 2009 microarray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Cross-referenced with persister transcriptomics (Keren 2011)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Negative controls PASS: no hits at mce1/mce2/mce4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Pipeline validates: top hit is the known operator</a:t>
            </a:r>
          </a:p>
        </p:txBody>
      </p:sp>
      <p:pic>
        <p:nvPicPr>
          <p:cNvPr id="45" name="Picture 44" descr="palindrome_scor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58480" y="15453359"/>
            <a:ext cx="9509760" cy="668456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3101280" y="191109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E293B"/>
                </a:solidFill>
                <a:latin typeface="Calibri"/>
              </a:defRPr>
            </a:pPr>
            <a:r>
              <a:t>Figure 11. Palindrome score distribution confirms non-palindromic architecture.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101280" y="1965960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NOVEL TARGETS DISCOVERED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84160" y="20299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eccA3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0" y="20299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ESX-3 secretion — 54 bp spacing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84160" y="20802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choD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0" y="20802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Cholesterol oxidase — First step in cholesterol degradation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84160" y="21305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icl1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0" y="21305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Isocitrate lyase — Glyoxylate shunt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84160" y="21808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vapC33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0" y="218084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Toxin-antitoxin — Directly linked to persistence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101280" y="2258568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CONCLUSIONS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01280" y="232714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Asymmetric operator architecture produces trimodal noise (novel)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Intermediate expression state is a "persistence dimmer switch"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Mce3R regulates a broader network than previously known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DNA binding site shape controls persister frequency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101280" y="2491740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3000" b="1">
                <a:solidFill>
                  <a:srgbClr val="FFFFFF"/>
                </a:solidFill>
                <a:latin typeface="Trebuchet MS"/>
              </a:defRPr>
            </a:pPr>
            <a:r>
              <a:t>FUTURE DIRECTIONS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101280" y="256032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Experimental: EMSA on top targets in M. smegmatis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Flow cytometry: measure noise with fluorescent reporters</a:t>
            </a:r>
          </a:p>
          <a:p>
            <a:pPr>
              <a:spcAft>
                <a:spcPts val="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  Therapeutic: design noise suppressors to reduce persisters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101280" y="2706624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ACKNOWLEDGMENTS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01280" y="276606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Dr. Gabor Balazsi, Stony Brook University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Dr. Nicole S. Sampson, University of Rochester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Great Neck South High School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101280" y="28575000"/>
            <a:ext cx="10424160" cy="548640"/>
          </a:xfrm>
          <a:prstGeom prst="roundRect">
            <a:avLst>
              <a:gd name="adj" fmla="val 2000"/>
            </a:avLst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REFERENCES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84160" y="29169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Panagoda et al. 2024, ACS Chem. Biol. 19:2580</a:t>
            </a:r>
            <a:br/>
            <a:r>
              <a:t>Santangelo et al. 2009, Microbiology 155:2245</a:t>
            </a:r>
            <a:br/>
            <a:r>
              <a:t>Srivastava et al. 2023, Microbiol. Spectrum 11:e00235</a:t>
            </a:r>
            <a:br/>
            <a:r>
              <a:t>Balazsi et al. 2011, Cell 144:910</a:t>
            </a:r>
            <a:br/>
            <a:r>
              <a:t>Balaban et al. 2004, Science 305:1622</a:t>
            </a:r>
            <a:br/>
            <a:r>
              <a:t>Quigley &amp; Lewis 2022, Microbiol. Spectrum</a:t>
            </a:r>
            <a:br/>
            <a:r>
              <a:t>Gillespie 1977, J. Phys. Chem. 81:2340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804</Words>
  <Application>Microsoft Macintosh PowerPoint</Application>
  <PresentationFormat>Custom</PresentationFormat>
  <Paragraphs>81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Aayan Alwani</cp:lastModifiedBy>
  <cp:revision>3</cp:revision>
  <dcterms:created xsi:type="dcterms:W3CDTF">2013-01-27T09:14:16Z</dcterms:created>
  <dcterms:modified xsi:type="dcterms:W3CDTF">2026-03-17T04:49:24Z</dcterms:modified>
  <cp:category/>
</cp:coreProperties>
</file>