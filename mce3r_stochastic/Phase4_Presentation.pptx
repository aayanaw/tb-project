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Trebuchet MS"/>
              </a:defRPr>
            </a:pPr>
            <a:r>
              <a:t>Phase 4: Manuscript Figures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108960"/>
            <a:ext cx="3657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Calibri"/>
              </a:defRPr>
            </a:pPr>
            <a:r>
              <a:t>ENIGMA Project — Visualizing the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ENIGMA Project  |  Mce3R Stochastic Gene Regulation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Char char="•"/>
            </a:pPr>
            <a:r>
              <a:rPr b="1" sz="1600">
                <a:solidFill>
                  <a:srgbClr val="1E293B"/>
                </a:solidFill>
                <a:latin typeface="Calibri"/>
              </a:rPr>
              <a:t>Fig 1 — Binding Site Architecture: </a:t>
            </a:r>
            <a:r>
              <a:rPr sz="1600">
                <a:solidFill>
                  <a:srgbClr val="1E293B"/>
                </a:solidFill>
                <a:latin typeface="Calibri"/>
              </a:rPr>
              <a:t>Circular genome plot with FIMO-scored operator sites</a:t>
            </a:r>
          </a:p>
          <a:p>
            <a:pPr>
              <a:spcAft>
                <a:spcPts val="1000"/>
              </a:spcAft>
              <a:buChar char="•"/>
            </a:pPr>
            <a:r>
              <a:rPr b="1" sz="1600">
                <a:solidFill>
                  <a:srgbClr val="1E293B"/>
                </a:solidFill>
                <a:latin typeface="Calibri"/>
              </a:rPr>
              <a:t>Fig 2 — Protein Distributions: </a:t>
            </a:r>
            <a:r>
              <a:rPr sz="1600">
                <a:solidFill>
                  <a:srgbClr val="1E293B"/>
                </a:solidFill>
                <a:latin typeface="Calibri"/>
              </a:rPr>
              <a:t>Histograms + GMM fits for 4 regulatory conditions</a:t>
            </a:r>
          </a:p>
          <a:p>
            <a:pPr>
              <a:spcAft>
                <a:spcPts val="1000"/>
              </a:spcAft>
              <a:buChar char="•"/>
            </a:pPr>
            <a:r>
              <a:rPr b="1" sz="1600">
                <a:solidFill>
                  <a:srgbClr val="1E293B"/>
                </a:solidFill>
                <a:latin typeface="Calibri"/>
              </a:rPr>
              <a:t>Fig 3 — Asymmetry Sweep: </a:t>
            </a:r>
            <a:r>
              <a:rPr sz="1600">
                <a:solidFill>
                  <a:srgbClr val="1E293B"/>
                </a:solidFill>
                <a:latin typeface="Calibri"/>
              </a:rPr>
              <a:t>CV and intermediate fraction vs Kd ratio</a:t>
            </a:r>
          </a:p>
          <a:p>
            <a:pPr>
              <a:spcAft>
                <a:spcPts val="1000"/>
              </a:spcAft>
              <a:buChar char="•"/>
            </a:pPr>
            <a:r>
              <a:rPr b="1" sz="1600">
                <a:solidFill>
                  <a:srgbClr val="1E293B"/>
                </a:solidFill>
                <a:latin typeface="Calibri"/>
              </a:rPr>
              <a:t>Fig 4 — Sensitivity Analysis: </a:t>
            </a:r>
            <a:r>
              <a:rPr sz="1600">
                <a:solidFill>
                  <a:srgbClr val="1E293B"/>
                </a:solidFill>
                <a:latin typeface="Calibri"/>
              </a:rPr>
              <a:t>Tornado plot + heatmap of parameter perturbation effects</a:t>
            </a:r>
          </a:p>
          <a:p>
            <a:pPr>
              <a:spcAft>
                <a:spcPts val="1000"/>
              </a:spcAft>
              <a:buChar char="•"/>
            </a:pPr>
            <a:r>
              <a:rPr b="1" sz="1600">
                <a:solidFill>
                  <a:srgbClr val="1E293B"/>
                </a:solidFill>
                <a:latin typeface="Calibri"/>
              </a:rPr>
              <a:t>Fig 5 — Experimental Validation: </a:t>
            </a:r>
            <a:r>
              <a:rPr sz="1600">
                <a:solidFill>
                  <a:srgbClr val="1E293B"/>
                </a:solidFill>
                <a:latin typeface="Calibri"/>
              </a:rPr>
              <a:t>Model predictions vs Santangelo 2009 data</a:t>
            </a:r>
          </a:p>
          <a:p>
            <a:pPr>
              <a:spcAft>
                <a:spcPts val="1000"/>
              </a:spcAft>
              <a:buChar char="•"/>
            </a:pPr>
            <a:r>
              <a:rPr b="1" sz="1600">
                <a:solidFill>
                  <a:srgbClr val="1E293B"/>
                </a:solidFill>
                <a:latin typeface="Calibri"/>
              </a:rPr>
              <a:t>Fig 6 — Single-Cell Traces: </a:t>
            </a:r>
            <a:r>
              <a:rPr sz="1600">
                <a:solidFill>
                  <a:srgbClr val="1E293B"/>
                </a:solidFill>
                <a:latin typeface="Calibri"/>
              </a:rPr>
              <a:t>Individual cell time series for 3 conditions</a:t>
            </a:r>
          </a:p>
          <a:p>
            <a:pPr>
              <a:spcAft>
                <a:spcPts val="1000"/>
              </a:spcAft>
              <a:buChar char="•"/>
            </a:pPr>
            <a:r>
              <a:rPr b="1" sz="1600">
                <a:solidFill>
                  <a:srgbClr val="1E293B"/>
                </a:solidFill>
                <a:latin typeface="Calibri"/>
              </a:rPr>
              <a:t>Fig 7 — BIC Model Comparison: </a:t>
            </a:r>
            <a:r>
              <a:rPr sz="1600">
                <a:solidFill>
                  <a:srgbClr val="1E293B"/>
                </a:solidFill>
                <a:latin typeface="Calibri"/>
              </a:rPr>
              <a:t>Grouped bar chart of GMM component selection</a:t>
            </a:r>
          </a:p>
          <a:p>
            <a:pPr>
              <a:spcAft>
                <a:spcPts val="1000"/>
              </a:spcAft>
              <a:buChar char="•"/>
            </a:pPr>
            <a:r>
              <a:rPr b="1" sz="1600">
                <a:solidFill>
                  <a:srgbClr val="1E293B"/>
                </a:solidFill>
                <a:latin typeface="Calibri"/>
              </a:rPr>
              <a:t>Fig 8 — Methods Architecture: </a:t>
            </a:r>
            <a:r>
              <a:rPr sz="1600">
                <a:solidFill>
                  <a:srgbClr val="1E293B"/>
                </a:solidFill>
                <a:latin typeface="Calibri"/>
              </a:rPr>
              <a:t>Computational pipeline diagram across all phases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1: Binding Site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pic>
        <p:nvPicPr>
          <p:cNvPr id="6" name="Picture 5" descr="fig1_binding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Circular genome plot of H37Rv with predicted Mce3R binding sites. Inset: top 15 sites ranked by FIMO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2: Protein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pic>
        <p:nvPicPr>
          <p:cNvPr id="6" name="Picture 5" descr="fig2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2×3 panel: histograms with GMM fits for 4 conditions (A–D), box plot of CV/Fano/bimodality, and density overlay.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3: Asymmetry Sweep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pic>
        <p:nvPicPr>
          <p:cNvPr id="6" name="Picture 5" descr="fig3_asymmetr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Intermediate fraction vs asymmetry ratio (log scale). Gold dashed line marks native Mce3R ratio (~20.4, Panagoda 2024).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4: Sensitivity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pic>
        <p:nvPicPr>
          <p:cNvPr id="6" name="Picture 5" descr="fig4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Tornado plot of parameter impact on CV (left) and heatmap of fold-change vs parameter showing number of modes (right).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5: Experimental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pic>
        <p:nvPicPr>
          <p:cNvPr id="6" name="Picture 5" descr="fig5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Predicted vs published fold-change (A), persister fraction WT vs unregulated (B), shuffle test (C), and symmetric TetR comparison (D).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6: Single-Cell Traces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pic>
        <p:nvPicPr>
          <p:cNvPr id="6" name="Picture 5" descr="fig6_single_cell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Time-series traces for 3 representative cells per condition. ~2100 min post-burn-in. Thin lines with transparency.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7: BIC 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pic>
        <p:nvPicPr>
          <p:cNvPr id="6" name="Picture 5" descr="fig7_b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Grouped bar chart: BIC for 1-, 2-, and 3-component GMMs across conditions A–D. Star marks best (lowest) BIC per condition.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8: Methods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pic>
        <p:nvPicPr>
          <p:cNvPr id="6" name="Picture 5" descr="fig8_method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End-to-end computational pipeline: Phase 1 (bioinformatics) through Phase 4 (figures). Color-coded by phase.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Design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har char="•"/>
            </a:pPr>
            <a:r>
              <a:rPr b="1" sz="1500">
                <a:solidFill>
                  <a:srgbClr val="1E293B"/>
                </a:solidFill>
                <a:latin typeface="Calibri"/>
              </a:rPr>
              <a:t>Consistent color scheme: </a:t>
            </a:r>
            <a:r>
              <a:rPr sz="1500">
                <a:solidFill>
                  <a:srgbClr val="1E293B"/>
                </a:solidFill>
                <a:latin typeface="Calibri"/>
              </a:rPr>
              <a:t>Teal = asymmetric, Orange = symmetric, Purple = single-site, Gray = unregulated</a:t>
            </a:r>
          </a:p>
          <a:p>
            <a:pPr>
              <a:spcAft>
                <a:spcPts val="800"/>
              </a:spcAft>
              <a:buChar char="•"/>
            </a:pPr>
            <a:r>
              <a:rPr b="1" sz="1500">
                <a:solidFill>
                  <a:srgbClr val="1E293B"/>
                </a:solidFill>
                <a:latin typeface="Calibri"/>
              </a:rPr>
              <a:t>Resolution: </a:t>
            </a:r>
            <a:r>
              <a:rPr sz="1500">
                <a:solidFill>
                  <a:srgbClr val="1E293B"/>
                </a:solidFill>
                <a:latin typeface="Calibri"/>
              </a:rPr>
              <a:t>All figures rendered at 300 dpi for publication quality</a:t>
            </a:r>
          </a:p>
          <a:p>
            <a:pPr>
              <a:spcAft>
                <a:spcPts val="800"/>
              </a:spcAft>
              <a:buChar char="•"/>
            </a:pPr>
            <a:r>
              <a:rPr b="1" sz="1500">
                <a:solidFill>
                  <a:srgbClr val="1E293B"/>
                </a:solidFill>
                <a:latin typeface="Calibri"/>
              </a:rPr>
              <a:t>Panel labels: </a:t>
            </a:r>
            <a:r>
              <a:rPr sz="1500">
                <a:solidFill>
                  <a:srgbClr val="1E293B"/>
                </a:solidFill>
                <a:latin typeface="Calibri"/>
              </a:rPr>
              <a:t>Bold (A), (B), (C)... in upper-left corner of each sub-panel</a:t>
            </a:r>
          </a:p>
          <a:p>
            <a:pPr>
              <a:spcAft>
                <a:spcPts val="800"/>
              </a:spcAft>
              <a:buChar char="•"/>
            </a:pPr>
            <a:r>
              <a:rPr b="1" sz="1500">
                <a:solidFill>
                  <a:srgbClr val="1E293B"/>
                </a:solidFill>
                <a:latin typeface="Calibri"/>
              </a:rPr>
              <a:t>Typography: </a:t>
            </a:r>
            <a:r>
              <a:rPr sz="1500">
                <a:solidFill>
                  <a:srgbClr val="1E293B"/>
                </a:solidFill>
                <a:latin typeface="Calibri"/>
              </a:rPr>
              <a:t>Calibri body, Trebuchet MS headers; 8–12 pt axis labels</a:t>
            </a:r>
          </a:p>
          <a:p>
            <a:pPr>
              <a:spcAft>
                <a:spcPts val="800"/>
              </a:spcAft>
              <a:buChar char="•"/>
            </a:pPr>
            <a:r>
              <a:rPr b="1" sz="1500">
                <a:solidFill>
                  <a:srgbClr val="1E293B"/>
                </a:solidFill>
                <a:latin typeface="Calibri"/>
              </a:rPr>
              <a:t>Shared style module: </a:t>
            </a:r>
            <a:r>
              <a:rPr sz="1500">
                <a:solidFill>
                  <a:srgbClr val="1E293B"/>
                </a:solidFill>
                <a:latin typeface="Calibri"/>
              </a:rPr>
              <a:t>figure_style.py enforces uniform aesthetics across all 8 figures</a:t>
            </a:r>
          </a:p>
          <a:p>
            <a:pPr>
              <a:spcAft>
                <a:spcPts val="800"/>
              </a:spcAft>
              <a:buChar char="•"/>
            </a:pPr>
            <a:r>
              <a:rPr b="1" sz="1500">
                <a:solidFill>
                  <a:srgbClr val="1E293B"/>
                </a:solidFill>
                <a:latin typeface="Calibri"/>
              </a:rPr>
              <a:t>Accessibility: </a:t>
            </a:r>
            <a:r>
              <a:rPr sz="1500">
                <a:solidFill>
                  <a:srgbClr val="1E293B"/>
                </a:solidFill>
                <a:latin typeface="Calibri"/>
              </a:rPr>
              <a:t>Color-blind-safe palette; patterns supplement color coding</a:t>
            </a:r>
          </a:p>
          <a:p>
            <a:pPr>
              <a:spcAft>
                <a:spcPts val="800"/>
              </a:spcAft>
              <a:buChar char="•"/>
            </a:pPr>
            <a:r>
              <a:rPr b="1" sz="1500">
                <a:solidFill>
                  <a:srgbClr val="1E293B"/>
                </a:solidFill>
                <a:latin typeface="Calibri"/>
              </a:rPr>
              <a:t>Format: </a:t>
            </a:r>
            <a:r>
              <a:rPr sz="1500">
                <a:solidFill>
                  <a:srgbClr val="1E293B"/>
                </a:solidFill>
                <a:latin typeface="Calibri"/>
              </a:rPr>
              <a:t>PNG output with transparent-free white backgrounds for journal submission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Trebuchet MS"/>
              </a:defRPr>
            </a:pPr>
            <a:r>
              <a:t>Phase 4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6888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Calibri"/>
              </a:defRPr>
            </a:pPr>
            <a:r>
              <a:t>8 publication-ready figures spanning binding site architecture</a:t>
            </a:r>
            <a:br/>
            <a:r>
              <a:t>through statistical validation.</a:t>
            </a:r>
            <a:br/>
            <a:br/>
            <a:r>
              <a:t>Figures 1–3: From genome-wide binding sites to asymmetry effects</a:t>
            </a:r>
            <a:br/>
            <a:r>
              <a:t>Figures 4–5: Robustness checks and experimental grounding</a:t>
            </a:r>
            <a:br/>
            <a:r>
              <a:t>Figures 6–7: Single-cell dynamics and statistical model selection</a:t>
            </a:r>
            <a:br/>
            <a:r>
              <a:t>Figure 8: Complete methods architecture for reproducibility</a:t>
            </a:r>
            <a:br/>
            <a:br/>
            <a:r>
              <a:t>All figures use a unified visual language defined in figure_style.py.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ENIGMA Project  |  Mce3R Stochastic Gene Regulation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