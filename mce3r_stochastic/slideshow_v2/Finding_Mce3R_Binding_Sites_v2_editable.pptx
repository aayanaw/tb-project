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D3AD0"/>
                </a:solidFill>
                <a:latin typeface="Calibri"/>
              </a:rPr>
              <a:t>Finding Mce3R Binding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118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B6770"/>
                </a:solidFill>
                <a:latin typeface="Calibri"/>
              </a:rPr>
              <a:t>Identifying where the Mce3R repressor binds across M. tuberculosis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238"/>
                </a:solidFill>
                <a:latin typeface="Calibri"/>
              </a:rPr>
              <a:t>Aayan Alwani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Mce3R (Rv1963c) is a TetR-family transcriptional repressor in M. tuberculosis H37Rv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Panagoda 2024 (PDB 9B7Y) solved its structure — the binding site is unusually asymmetric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Strong half-site: Kd = 2.4 nM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Weak half-site: Kd = 49.0 nM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20.4-fold affinity difference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To study how architecture affects regulation, we need to find every binding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A five-step computational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1 · download_genomes.py → retrieve 3 reference genomes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2 · extract_upstream.py → extract 200 bp upstream of each gene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3 · run_meme.py → discover binding motif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4 · run_fimo.py → scan genome for matches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5 · conservation_check.py → validate across species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Step 1 — Download reference genomes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BC9C"/>
                </a:solidFill>
                <a:latin typeface="Consolas"/>
              </a:rPr>
              <a:t>phase1_pipeline/download_genomes.py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NCBI Entrez download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H37Rv + M. bovis + M. marinum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FASTA + GenBank + GFF3 per species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Three species enables cross-species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Step 2 — Extract regulatory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BC9C"/>
                </a:solidFill>
                <a:latin typeface="Consolas"/>
              </a:rPr>
              <a:t>phase1_pipeline/extract_upstream.py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~4,000 protein-coding genes parsed from GFF3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200 bp upstream extracted per gene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Strand-aware, circular-genome-aware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Five specific intergenic regions also extracted (Kabir 2021 protocol)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Step 3 — Discover the binding motif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BC9C"/>
                </a:solidFill>
                <a:latin typeface="Consolas"/>
              </a:rPr>
              <a:t>phase1_pipeline/run_meme.py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A2238"/>
                </a:solidFill>
                <a:latin typeface="Calibri"/>
              </a:rPr>
              <a:t>MEME Suite (Bailey 2009)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A2238"/>
                </a:solidFill>
                <a:latin typeface="Calibri"/>
              </a:rPr>
              <a:t>Run on 3 yrbE3A ortholog sequences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A2238"/>
                </a:solidFill>
                <a:latin typeface="Calibri"/>
              </a:rPr>
              <a:t>ZOOPS mode, widths 20–30 bp, both strands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A2238"/>
                </a:solidFill>
                <a:latin typeface="Calibri"/>
              </a:rPr>
              <a:t>No palindrome constraint — Mce3R binds asymmetrically</a:t>
            </a:r>
          </a:p>
        </p:txBody>
      </p:sp>
      <p:pic>
        <p:nvPicPr>
          <p:cNvPr id="5" name="Picture 4" descr="logo_mce3r_f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32430"/>
            <a:ext cx="5303520" cy="1484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Step 4 — Scan the genome (FIMO)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1,442 candidate binding sites identified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Top 2 hits match the cryo-EM binding sites at yrbE3A (Panagoda 2024)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77440" y="2286000"/>
          <a:ext cx="7406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1828800"/>
                <a:gridCol w="1280160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Rv1964 (yrbE3A)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1.1e-11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34.9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Rv1964 (yrbE3A)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3.1e-11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Rv1962A (vapB35)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4.8e-11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32.6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Rv0304c (PPE5)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1.5e-07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Rv0251c (hsp)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3.0e-07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14.8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Rv2378c (mbtG)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3.4e-07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Rv0412c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3.5e-07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Rv1393c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3.5e-07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238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Step 5 — Conservation across 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BC9C"/>
                </a:solidFill>
                <a:latin typeface="Consolas"/>
              </a:rPr>
              <a:t>phase1_pipeline/conservation_check.py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Top 50 sites checked in M. bovis and M. marinum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50 / 50 conserved in M. bovis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44 / 50 conserved in both species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Conservation across divergent species supports biological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D3AD0"/>
                </a:solidFill>
                <a:latin typeface="Calibri"/>
              </a:rPr>
              <a:t>Extended MEME recovers a longer 99 bp motif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Per Dr. Balázsi: the Panagoda 2024 123 bp operator is not the only gold standard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Re-ran MEME on </a:t>
            </a:r>
            <a:r>
              <a:rPr sz="1600" b="0" i="1">
                <a:solidFill>
                  <a:srgbClr val="1A2238"/>
                </a:solidFill>
                <a:latin typeface="Calibri"/>
              </a:rPr>
              <a:t>Regions 1 + 2 combined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 with </a:t>
            </a:r>
            <a:r>
              <a:rPr sz="1600" b="0" i="0">
                <a:solidFill>
                  <a:srgbClr val="1D3AD0"/>
                </a:solidFill>
                <a:latin typeface="Consolas"/>
              </a:rPr>
              <a:t>-maxw 120 -mod anr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 (Eram Kabir 2021 protocol)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Result: a </a:t>
            </a:r>
            <a:r>
              <a:rPr sz="1600" b="1" i="0">
                <a:solidFill>
                  <a:srgbClr val="1D3AD0"/>
                </a:solidFill>
                <a:latin typeface="Calibri"/>
              </a:rPr>
              <a:t>99 bp motif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, E = 3.9 × 10⁻⁸ — ~4 orders of magnitude better than Eram’s best (E = 2.8 × 10⁻⁴)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Eram’s </a:t>
            </a:r>
            <a:r>
              <a:rPr sz="1600" b="1" i="0">
                <a:solidFill>
                  <a:srgbClr val="1D3AD0"/>
                </a:solidFill>
                <a:latin typeface="Calibri"/>
              </a:rPr>
              <a:t>49 bp motif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 is contained within the 99 bp motif at </a:t>
            </a:r>
            <a:r>
              <a:rPr sz="1600" b="1" i="0">
                <a:solidFill>
                  <a:srgbClr val="1D3AD0"/>
                </a:solidFill>
                <a:latin typeface="Calibri"/>
              </a:rPr>
              <a:t>100% identity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Three sites: two in Region 1 (mce3R–yrbE3A), one in Region 2 (echA13–Rv1936)</a:t>
            </a:r>
          </a:p>
        </p:txBody>
      </p:sp>
      <p:pic>
        <p:nvPicPr>
          <p:cNvPr id="4" name="Picture 3" descr="logo_99bp_den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313717"/>
            <a:ext cx="5029200" cy="779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A second regulatory region confirmed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BC9C"/>
                </a:solidFill>
                <a:latin typeface="Consolas"/>
              </a:rPr>
              <a:t>Region 2 · echA13 (Rv1935c) – Rv1936 · 224 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Original 21 bp FIMO scan missed it (1 weak hit, rank 1422)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The extended 99 bp MEME search found a strong hit in Region 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First computational recovery of this region with a matching motif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6675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Strand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Eram 49 bp</a:t>
                      </a:r>
                    </a:p>
                  </a:txBody>
                  <a:tcPr>
                    <a:solidFill>
                      <a:srgbClr val="1D3AD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223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2238"/>
                          </a:solidFill>
                        </a:rPr>
                        <a:t>684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2238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2238"/>
                          </a:solidFill>
                        </a:rPr>
                        <a:t>1.6e-45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2238"/>
                          </a:solidFill>
                        </a:rPr>
                        <a:t>100% identity</a:t>
                      </a:r>
                    </a:p>
                  </a:txBody>
                  <a:tcPr>
                    <a:solidFill>
                      <a:srgbClr val="E9F9F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2.3e-44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73%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4.2e-45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2238"/>
                          </a:solidFill>
                        </a:rPr>
                        <a:t>67%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D3AD0"/>
                </a:solidFill>
                <a:latin typeface="Calibri"/>
              </a:rPr>
              <a:t>Three 99 bp motif clusters — ABC, DEF, HXG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The 99 bp motif occurs three times; each occurrence is one of three suspected binding clusters in Dr. Balázsi’s annotated schematic (TBmotifs.pdf)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D3AD0"/>
                </a:solidFill>
                <a:latin typeface="Consolas"/>
              </a:rPr>
              <a:t>ABC 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mce3R–yrbE3A, proximal (near mce3R): 99 bp at position 238 (+), p = 2.3 × 10⁻⁴⁴; sub-sites A, B, 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D3AD0"/>
                </a:solidFill>
                <a:latin typeface="Consolas"/>
              </a:rPr>
              <a:t>DEF 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mce3R–yrbE3A, distal (near yrbE3A): 99 bp at position 684 (+), p = 1.6 × 10⁻⁴⁵; contains the 49 bp core at 100% identity; sites D, E, F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D3AD0"/>
                </a:solidFill>
                <a:latin typeface="Consolas"/>
              </a:rPr>
              <a:t>HXG 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echA13–Rv1936, minus strand: 99 bp at position 62 (−), p = 4.2 × 10⁻⁴⁵; sub-sites H, X, 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Every sub-site core matches a published instance exactly (0 mismatches); equivalence </a:t>
            </a:r>
            <a:r>
              <a:rPr sz="1300" b="0" i="0">
                <a:solidFill>
                  <a:srgbClr val="1D3AD0"/>
                </a:solidFill>
                <a:latin typeface="Consolas"/>
              </a:rPr>
              <a:t>A = C = D = F = rcH = rcG</a:t>
            </a:r>
            <a:r>
              <a:rPr sz="1300" b="0" i="0">
                <a:solidFill>
                  <a:srgbClr val="1A2238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1D3AD0"/>
                </a:solidFill>
                <a:latin typeface="Consolas"/>
              </a:rPr>
              <a:t>B = D = X</a:t>
            </a:r>
          </a:p>
        </p:txBody>
      </p:sp>
      <p:pic>
        <p:nvPicPr>
          <p:cNvPr id="4" name="Picture 3" descr="dna_motif_map_zoo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282" y="1280160"/>
            <a:ext cx="35113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D3AD0"/>
                </a:solidFill>
                <a:latin typeface="Calibri"/>
              </a:rPr>
              <a:t>Multiple independent analyses converge on the same region</a:t>
            </a:r>
          </a:p>
        </p:txBody>
      </p:sp>
      <p:pic>
        <p:nvPicPr>
          <p:cNvPr id="3" name="Picture 2" descr="logo_mce3r_fi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1988"/>
            <a:ext cx="4023360" cy="1126231"/>
          </a:xfrm>
          <a:prstGeom prst="rect">
            <a:avLst/>
          </a:prstGeom>
        </p:spPr>
      </p:pic>
      <p:pic>
        <p:nvPicPr>
          <p:cNvPr id="4" name="Picture 3" descr="logo_eram_moti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10436"/>
            <a:ext cx="4023360" cy="1126231"/>
          </a:xfrm>
          <a:prstGeom prst="rect">
            <a:avLst/>
          </a:prstGeom>
        </p:spPr>
      </p:pic>
      <p:pic>
        <p:nvPicPr>
          <p:cNvPr id="5" name="Picture 4" descr="logo_santang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42" y="3968496"/>
            <a:ext cx="3691355" cy="1207008"/>
          </a:xfrm>
          <a:prstGeom prst="rect">
            <a:avLst/>
          </a:prstGeom>
        </p:spPr>
      </p:pic>
      <p:pic>
        <p:nvPicPr>
          <p:cNvPr id="6" name="Picture 5" descr="logo_99bp_deno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58766"/>
            <a:ext cx="4023360" cy="623363"/>
          </a:xfrm>
          <a:prstGeom prst="rect">
            <a:avLst/>
          </a:prstGeom>
        </p:spPr>
      </p:pic>
      <p:pic>
        <p:nvPicPr>
          <p:cNvPr id="7" name="Picture 6" descr="dna_motif_map_zoo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603" y="1325880"/>
            <a:ext cx="344975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3AD0"/>
                </a:solidFill>
                <a:latin typeface="Calibri"/>
              </a:rPr>
              <a:t>Novel candidates &amp;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Rank 3 — Rv1962A (vapB35): adjacent toxin–antitoxin locus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Rank 4 — Rv0304c (PPE5): PE/PPE family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Rank 6 — Rv2378c (mbtG): mycobactin biosynthesis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A2238"/>
                </a:solidFill>
                <a:latin typeface="Calibri"/>
              </a:rPr>
              <a:t>Rank 38 — Rv1963c: the mce3R gene itself (autoregulation)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D3AD0"/>
                </a:solidFill>
                <a:latin typeface="Calibri"/>
              </a:rPr>
              <a:t>Next steps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Apply the 99 bp PWM genome-wide via FIMO for a broader search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Examine the remaining three intergenic regions (3, 4, 5)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1ABC9C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A2238"/>
                </a:solidFill>
                <a:latin typeface="Calibri"/>
              </a:rPr>
              <a:t>Cross-validate novel candidates with published ChIP-seq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