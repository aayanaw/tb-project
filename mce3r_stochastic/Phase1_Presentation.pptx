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Phase 1: Binding Motif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9488"/>
                </a:solidFill>
                <a:latin typeface="Calibri"/>
              </a:defRPr>
            </a:pPr>
            <a:r>
              <a:t>ENIGMA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Finding Where Mce3R Binds DNA in Mycobacterium tuberculosis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Panagoda et al. 2024  |  Computational Biology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00400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1.23 Million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TB deaths per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Mce3R is a transcriptional repressor that controls cholesterol metabolism genes critical for bacterial survival inside the human host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It binds an unusual ASYMMETRIC operator with two binding sites of dramatically different affinity (Kd = 2.4 nM vs 49 nM)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Antibiotic-tolerant persister cells are a major barrier to TB treatment. Deleting mce3R increases persister frequency (Pandey et al. 2023)</a:t>
            </a:r>
          </a:p>
          <a:p>
            <a:pPr>
              <a:spcAft>
                <a:spcPts val="800"/>
              </a:spcAft>
              <a:buChar char="•"/>
            </a:pPr>
            <a:r>
              <a:rPr b="1" sz="1400">
                <a:solidFill>
                  <a:srgbClr val="1E293B"/>
                </a:solidFill>
                <a:latin typeface="Calibri"/>
              </a:rPr>
              <a:t>Question: </a:t>
            </a:r>
            <a:r>
              <a:rPr sz="1400">
                <a:solidFill>
                  <a:srgbClr val="1E293B"/>
                </a:solidFill>
                <a:latin typeface="Calibri"/>
              </a:rPr>
              <a:t>Where exactly does Mce3R bind DNA, and are there other binding sites across the genome?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Pipeline</a:t>
            </a:r>
          </a:p>
        </p:txBody>
      </p:sp>
      <p:pic>
        <p:nvPicPr>
          <p:cNvPr id="4" name="Picture 3" descr="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3 genomes → MEME motif discovery → FIMO genome scan → 1,442 candidate 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Three Genomes, One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M. tuberculosis H37Rv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NC_000962.3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4,411,532 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Primary — human TB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M. bovis AF2122/97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NC_002945.4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~4,345,492 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Close relative — cattle TB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29184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M. marinum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NC_010612.1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~6,636,827 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Distant relative — fish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If a DNA pattern is conserved across millions of years of evolution, it is functionally important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Extracted 200 bp upstream of yrbE3A (the regulated gene) from each genome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All three genomes have ~65.6% GC content — important for background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Background: GC Content</a:t>
            </a:r>
          </a:p>
        </p:txBody>
      </p:sp>
      <p:pic>
        <p:nvPicPr>
          <p:cNvPr id="4" name="Picture 3" descr="gc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The TB genome is 65.6% GC — meaning C and G each appear ~30% of the time, while A and T each appear ~20%.</a:t>
            </a:r>
            <a:br/>
            <a:br/>
            <a:r>
              <a:t>MEME uses these frequencies as the "null model" so it only reports patterns that are more structured than random genome composition.</a:t>
            </a:r>
            <a:br/>
            <a:br/>
            <a:r>
              <a:t>Without this correction, any stretch of A/T-rich DNA would falsely appear significant in a GC-rich genome.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Operator Architecture</a:t>
            </a:r>
          </a:p>
        </p:txBody>
      </p:sp>
      <p:pic>
        <p:nvPicPr>
          <p:cNvPr id="4" name="Picture 3" descr="operato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Strong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  <a:latin typeface="Calibri"/>
              </a:defRPr>
            </a:pPr>
            <a:r>
              <a:t>Kd = 2.4 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Weak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Kd = 49 nM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Spacer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53 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Affinity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Calibri"/>
              </a:defRPr>
            </a:pPr>
            <a:r>
              <a:t>20.4×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123 bp operator between mce3R (Rv1963c) and yrbE3A (Rv1964) at H37Rv coordinates ~2,207,477–2,207,699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Operator Sequence (123 bp)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EEAD4"/>
                </a:solidFill>
                <a:latin typeface="Courier New"/>
              </a:defRPr>
            </a:pPr>
            <a:r>
              <a:t>GCCCCGCGCTATAGGATACTAGCAAGATACATCATAGCCAATATATGCCAGTT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EEAD4"/>
                </a:solidFill>
                <a:latin typeface="Courier New"/>
              </a:defRPr>
            </a:pPr>
            <a:r>
              <a:t>TGCATTGCTATTTACCGATCAGTTGTCCAAGCAATCGCGTATTGGCTATGGA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EEAD4"/>
                </a:solidFill>
                <a:latin typeface="Courier New"/>
              </a:defRPr>
            </a:pPr>
            <a:r>
              <a:t>CATCAGCGGTTCTGCCGC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Source: Panagoda et al. 2024, PDB 9B7Y (cryo-EM structure)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CA5A5"/>
                </a:solidFill>
                <a:latin typeface="Calibri"/>
              </a:defRPr>
            </a:pPr>
            <a:r>
              <a:t>■  Positions 10–35: Weak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■  Positions 35–88: Spacer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E7B7"/>
                </a:solidFill>
                <a:latin typeface="Calibri"/>
              </a:defRPr>
            </a:pPr>
            <a:r>
              <a:t>■  Positions 88–113: Strong 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Step 1: MEME — De Novo Motif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Multiple EM for Motif Elicitation — finds DNA patterns without prior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Input: 3 orthologous yrbE3A upstream sequences (200 bp each)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Mode: ZOOPS (Zero Or One Occurrence Per Sequence)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Searches both DNA strands (+ and –)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Width range: 6–110 bp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Background: 0-order Markov model using H37Rv GC frequencies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Reports top 5 motifs ranked by E-value (statistical significance)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Like a detective examining 3 crime scenes and asking: "What do these have in common?" MEME compares sequences from 3 species and finds the shared fingerprint — without being told what to look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389120"/>
            <a:ext cx="5029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526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Background Frequencies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9377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A = 20.4%    C = 29.6%</a:t>
            </a:r>
            <a:br/>
            <a:r>
              <a:t>G = 29.6%    T = 20.4%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MEME Results — Discovered Motifs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Calibri"/>
              </a:defRPr>
            </a:pPr>
            <a:r>
              <a:t>Motif 1 (8 bp)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ourier New"/>
              </a:defRPr>
            </a:pPr>
            <a:r>
              <a:t>A C A T C A W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Short conserved core pattern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29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Motif 2 (15 bp)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ourier New"/>
              </a:defRPr>
            </a:pPr>
            <a:r>
              <a:t>T W T K C A T T G Y T W T Y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51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Longer motif, captures weak site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IUPAC Ambiguity Codes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ourier New"/>
              </a:defRPr>
            </a:pPr>
            <a:r>
              <a:t>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Weak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A or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 hydrogen bonds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ourier New"/>
              </a:defRPr>
            </a:pPr>
            <a: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Keto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G or 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Keto group bases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0352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ourier New"/>
              </a:defRPr>
            </a:pPr>
            <a:r>
              <a:t>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Pyrimidine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 or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Single-ring bases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ourier New"/>
              </a:defRPr>
            </a:pPr>
            <a: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A, C, G, or 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Completely variable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Position Weight Matrix (PWM)</a:t>
            </a:r>
          </a:p>
        </p:txBody>
      </p:sp>
      <p:pic>
        <p:nvPicPr>
          <p:cNvPr id="4" name="Picture 3" descr="pw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Each cell = probability (0–1) that the protein wants that base at that position.</a:t>
            </a:r>
            <a:br/>
            <a:br/>
            <a:r>
              <a:t>Dark red (1.0) = absolutely required for binding.</a:t>
            </a:r>
            <a:br/>
            <a:br/>
            <a:r>
              <a:t>White (0.0) = never seen at this position.</a:t>
            </a:r>
            <a:br/>
            <a:br/>
            <a:r>
              <a:t>This matrix is the "search template" that FIMO uses to scan the genome.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The PWM is derived by aligning the motif instances found across species and counting base frequencies at each position. It encodes the protein's DNA-binding preferences as a quantitative probability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Step 2: FIMO — Genome-Wide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Find Individual Motif Occurrences — scan all 4,411,532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Takes the PWM from MEME and slides it across every position in the genome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At each position: computes log-odds score (match vs. random background)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Converts score to p-value (probability of seeing this by chance)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P-value threshold: 1×10⁻⁴ (only report if &lt;0.01% chance of random)</a:t>
            </a:r>
          </a:p>
          <a:p>
            <a:pPr>
              <a:spcAft>
                <a:spcPts val="800"/>
              </a:spcAft>
              <a:buChar char="•"/>
            </a:pPr>
            <a:r>
              <a:rPr b="1" sz="1400">
                <a:solidFill>
                  <a:srgbClr val="1E293B"/>
                </a:solidFill>
                <a:latin typeface="Calibri"/>
              </a:rPr>
              <a:t>Result: </a:t>
            </a:r>
            <a:r>
              <a:rPr sz="1400">
                <a:solidFill>
                  <a:srgbClr val="1E293B"/>
                </a:solidFill>
                <a:latin typeface="Calibri"/>
              </a:rPr>
              <a:t>1,442 candidate binding sites across the genome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737360"/>
            <a:ext cx="4572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737360"/>
            <a:ext cx="4572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774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Like using a metal detector to sweep an entire beach. MEME told us what metal to look for; FIMO finds every buried piece.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931920"/>
            <a:ext cx="45720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1,442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candidate binding sites</a:t>
            </a:r>
            <a:br/>
            <a:r>
              <a:t>across the TB genome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FIMO Top Hits</a:t>
            </a:r>
          </a:p>
        </p:txBody>
      </p:sp>
      <p:pic>
        <p:nvPicPr>
          <p:cNvPr id="4" name="Picture 3" descr="fimo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The #1 and #2 hits land exactly in the known operator region.</a:t>
            </a:r>
            <a:br/>
            <a:br/>
            <a:r>
              <a:t>p = 1.1×10⁻¹¹ means a 1-in-100-billion chance of being random.</a:t>
            </a:r>
            <a:br/>
            <a:br/>
            <a:r>
              <a:t>This validates the entire approach: we rediscovered the known binding site without prior bias.</a:t>
            </a:r>
            <a:br/>
            <a:br/>
            <a:r>
              <a:t>The tgs1 hit (#21) is biologically exciting — it links Mce3R to dormancy and lipid body 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Conservation Across Species</a:t>
            </a:r>
          </a:p>
        </p:txBody>
      </p:sp>
      <p:pic>
        <p:nvPicPr>
          <p:cNvPr id="4" name="Picture 3" descr="con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430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389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Binding sites (red = weak, green = strong) are more conserved than the spacer region. &gt;80% sequence identity across three species separated by millions of years of evolution. This confirms the operator is under purifying selection — organisms that lost this sequence did not survive.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Energy Connection</a:t>
            </a:r>
          </a:p>
        </p:txBody>
      </p:sp>
      <p:pic>
        <p:nvPicPr>
          <p:cNvPr id="4" name="Picture 3" descr="energ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40080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ΔG = –RT × ln(Kd)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PWM scores map directly to physical binding energy.</a:t>
            </a:r>
            <a:br/>
            <a:br/>
            <a:r>
              <a:t>R = 1.987 cal/(mol·K)</a:t>
            </a:r>
            <a:br/>
            <a:r>
              <a:t>T = 310 K (37°C, body temp)</a:t>
            </a:r>
            <a:br/>
            <a:br/>
            <a:r>
              <a:t>Strong: ΔG = –10.2 kcal/mol</a:t>
            </a:r>
            <a:br/>
            <a:r>
              <a:t>Weak: ΔG = –8.1 kcal/mol</a:t>
            </a:r>
            <a:br/>
            <a:br/>
            <a:r>
              <a:t>ΔΔG = 1.86 kcal/mol</a:t>
            </a:r>
            <a:br/>
            <a:r>
              <a:t>= 20× affinity difference</a:t>
            </a:r>
            <a:br/>
            <a:br/>
            <a:r>
              <a:t>This asymmetry is the key variable of the entire project.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Validated known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Top FIMO hit matches experimental cryo-EM site with p = 1.1×10⁻¹¹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De novo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Found the motif without prior bias, purely from cross-species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Conservation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&gt;80% identity across M. tuberculosis, M. bovis, M. marinum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1,442 genome-wide 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Potential secondary Mce3R targets including tgs1 dormancy gene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High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P-values from 10⁻¹¹ to 10⁻⁶, far exceeding the 10⁻⁴ threshold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Output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urier New"/>
              </a:defRPr>
            </a:pPr>
            <a:r>
              <a:t>predicted_sites.csv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1,442 FIMO-predicted binding sites with coordinates, p-values, scores, sequences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05156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urier New"/>
              </a:defRPr>
            </a:pPr>
            <a:r>
              <a:t>conservation_status.csv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Cross-species conservation analysis for each predicted 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urier New"/>
              </a:defRPr>
            </a:pPr>
            <a:r>
              <a:t>meme.txt / .xml / 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175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Complete MEME reports with PWMs, alignments, E-values, consensus sequences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105156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urier New"/>
              </a:defRPr>
            </a:pPr>
            <a:r>
              <a:t>logo1–5.eps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5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Sequence logos for each discovered motif (forward and reverse complement)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urier New"/>
              </a:defRPr>
            </a:pPr>
            <a:r>
              <a:t>background.model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720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H37Rv 0-order Markov nucleotide frequency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57800"/>
            <a:ext cx="105156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urier New"/>
              </a:defRPr>
            </a:pPr>
            <a:r>
              <a:t>phase1_summary.json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3492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Machine-readable summary: timings, counts, sanity check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Phase 1 completed in ~26.5 seconds with 100% sanity pass 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What Phase 1 Feeds Into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Stochastic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Operator architecture → Gillespie SSA with 50,000 cells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8288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Thermodynamic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PWMs → Berg–von Hippel energy model + MCMC cooperativity 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8288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Environmental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51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Candidate sites → 4 stress environments + persistence quantification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8288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Publication Figures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440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Motif logos + site coordinates → Figures 9–14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Phase 1 computationally rediscovered the Mce3R binding site from scratch, validated it against experimental cryo-EM data, and found 1,442 new candidate targets across the TB genome — including a link to the dormancy gene tgs1.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"/>
              </a:defRPr>
            </a:pPr>
            <a:r>
              <a:t>ENIGMA: Expression Noise In Gene-regulatory Mechanisms and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