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Phase 5: Thermodynamic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ENIGMA Project  --  From Sequences to Binding Energies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ENIGMA  |  Mce3R Stochastic Gene Regulation  |  M. tuberculosis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Gap: Why Phase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Phase 2 built stochastic simulations with ad-hoc rate constants (k_on, k_off) that lack biophysical grounding.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Phase 5 replaces these with first-principles parameters derived from: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(1) The Berg-von Hippel model: converting PWM scores into binding free energies (Delta-G)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(2) Experimental dissociation constants: Kd_strong = 2.4 nM, Kd_weak = 49 nM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(3) MCMC inference of cooperativity (omega) and spacer penalty (Delta-G_spacer)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Result: every rate constant in the simulation now traces back to a measured Kd or a PWM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Berg-von Hippel Energy Model</a:t>
            </a:r>
          </a:p>
        </p:txBody>
      </p:sp>
      <p:pic>
        <p:nvPicPr>
          <p:cNvPr id="4" name="Picture 3" descr="berg_von_hip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772400" cy="46343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Each position in the binding motif contributes independently to total binding energy.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PWM frequencies (from Phase 1 MEME analysis) are converted to per-base energies.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Motif width = 21 bp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kT = 0.616 kcal/mol (37 C)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Background frequencies = 0.25 (GC-rich M. tb genome approximation).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Energy Calibration: Matching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Strong site (MEME-1):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Sequence: GTTGTCCAAGCAATCGCGTAT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Kd_exp = 2.4 nM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Kd_pred = 2.400 nM  (exact match)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Delta-G = -12.226 kcal/mol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Weak site (MEME-2):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Sequence: TTTGCATTGCTATTTACCGAT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Kd_exp = 49.0 nM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Kd_pred = 49.000 nM  (exact match)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   Delta-G = -10.368 kcal/mol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Key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EEAD4"/>
                </a:solidFill>
                <a:latin typeface="Calibri"/>
              </a:defRPr>
            </a:pPr>
            <a:r>
              <a:t>Delta-Delta-G = 1.86 kcal/mol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Two independent offsets used</a:t>
            </a:r>
            <a:br/>
            <a:r>
              <a:t>(one per MEME motif)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023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Both predicted Kd values</a:t>
            </a:r>
            <a:br/>
            <a:r>
              <a:t>reproduce experiment exactly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4-State Partition Function</a:t>
            </a:r>
          </a:p>
        </p:txBody>
      </p:sp>
      <p:pic>
        <p:nvPicPr>
          <p:cNvPr id="4" name="Picture 3" descr="partition_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532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Statistical mechanics model with 4 operator states: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 = unoccupied (full transcription)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 = strong site bound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W = weak site bound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 = doubly bound (full repression)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Probability of each state depends on [Mce3R], Delta-G values, and cooperativity omega.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Cooperativity: What is omega?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omega &gt; 1:  Positive cooperativity -- binding at one site HELPS binding at the other.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            The doubly-bound state (D) is more probable than expected from independent binding.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omega = 1:  Independent binding -- no interaction between sites.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omega &lt; 1:  Antagonistic -- binding at one site HINDERS binding at the other.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For Mce3R, the two binding sites are separated by a spacer region in the operator.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The spacer introduces a penalty (Delta-G_spacer) that modulates cooperative binding.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Our MCMC result: omega = 1.083  (approximately 1 = near-independent binding)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MCMC Inference of Cooperativity</a:t>
            </a:r>
          </a:p>
        </p:txBody>
      </p:sp>
      <p:pic>
        <p:nvPicPr>
          <p:cNvPr id="4" name="Picture 3" descr="mcmc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36242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Markov Chain Monte Carlo (MCMC) was used to infer omega and Delta-G_spacer.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Walkers: 32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Steps: 5,000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Burn-in: 1,000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MCMC explores the posterior distribution, sampling parameter combinations consistent with the data.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Red zone = burn-in (discarded). Post-burn-in samples define the posterior.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MCMC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32004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Posterior 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EEAD4"/>
                </a:solidFill>
                <a:latin typeface="Calibri"/>
              </a:defRPr>
            </a:pPr>
            <a:r>
              <a:t>omega = 1.083   [95% CI: 0.20 -- 5.89]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EEAD4"/>
                </a:solidFill>
                <a:latin typeface="Calibri"/>
              </a:defRPr>
            </a:pPr>
            <a:r>
              <a:t>Delta-G_spacer = -0.148 kcal/mol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Wide posterior = data does not tightly</a:t>
            </a:r>
            <a:br/>
            <a:r>
              <a:t>constrain cooperativity. This is an honest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Interpretation: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omega near 1 means Mce3R binds its two sites approximately independently.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The spacer penalty is small (-0.15 kcal/mol), consistent with minimal protein-protein interaction across the spacer.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Wide credible interval is expected: with only one operator architecture measured, the data provides limited constraint on cooperativity.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This is scientifically valuable: it means the model is not over-fit.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Repression Curves: 4 Architectures</a:t>
            </a:r>
          </a:p>
        </p:txBody>
      </p:sp>
      <p:pic>
        <p:nvPicPr>
          <p:cNvPr id="4" name="Picture 3" descr="fig9_repress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5849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Fold-repression vs [Mce3R] for 4 operator architectures: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1. Native asymmetric (strong + weak) -- broadest transition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2. Symmetric (two strong sites)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3. Strong-only (single site)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4. Single-site control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The asymmetric architecture produces a GRADED response with more intermediate states.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This is key to noise-driven phenotypic variation.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Cooperativity Posterior Distribution</a:t>
            </a:r>
          </a:p>
        </p:txBody>
      </p:sp>
      <p:pic>
        <p:nvPicPr>
          <p:cNvPr id="4" name="Picture 3" descr="fig10_coopera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3277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2D histogram of the MCMC posterior for ln(omega) and Delta-G_spacer.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Plus: repression landscape showing how fold-repression depends on these parameters.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The posterior is broad, indicating the data is compatible with a wide range of cooperativity values.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The median sits near omega = 1 (independent binding).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Operator Classification: All Graded</a:t>
            </a:r>
          </a:p>
        </p:txBody>
      </p:sp>
      <p:pic>
        <p:nvPicPr>
          <p:cNvPr id="4" name="Picture 3" descr="classifica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619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All 20 top FIMO-predicted Mce3R binding sites classify as GRADED REPRESSORS.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Classification criterion: Hill coefficient n_H &lt; 2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Zero sites classified as digital switches (n_H &gt;= 2).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This is a strong, unanimous result: Mce3R acts as a continuous tuner of gene expression across the genome.</a:t>
            </a: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5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Consistent with the role of a metabolic regulator (not a developmental switch).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Graded vs. Digital Repression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5720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9488"/>
                </a:solidFill>
                <a:latin typeface="Calibri"/>
              </a:defRPr>
            </a:pPr>
            <a:r>
              <a:t>Graded Repressor (n_H &lt;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Continuous tuner of gene expression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Smooth transition from ON to OFF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Many intermediate expression levels accessible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Response spread over wide concentration range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Analogy: a dimmer switch for lights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Mce3R is this type of regulator.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C2626"/>
                </a:solidFill>
                <a:latin typeface="Calibri"/>
              </a:defRPr>
            </a:pPr>
            <a:r>
              <a:t>Digital Switch (n_H &gt;=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ON/OFF binary switch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Sharp transition at threshold concentration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Few intermediate states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Bistable behavior possible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Analogy: a light switch (on or off)</a:t>
            </a: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NOT what Mce3R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134E4A"/>
                </a:solidFill>
                <a:latin typeface="Calibri"/>
              </a:defRPr>
            </a:pPr>
            <a:r>
              <a:t>This distinction matters: graded regulation enables metabolic adaptation, not bistable switching.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Hill Coefficient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Nearest Gene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n_H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K_half (nM)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 Max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Rv1964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775351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Rv1964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Rv1962A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Rv0304c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Rv0251c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Rv2378c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Rv0412c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Rv1393c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Rv0603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Rv2476c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866265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graded repressor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134E4A"/>
                </a:solidFill>
                <a:latin typeface="Calibri"/>
              </a:defRPr>
            </a:pPr>
            <a:r>
              <a:t>All Hill coefficients &lt; 2: every predicted Mce3R target acts as a graded repressor.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MCMC Convergence 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34E4A"/>
                </a:solidFill>
                <a:latin typeface="Calibri"/>
              </a:defRPr>
            </a:pPr>
            <a:r>
              <a:t>Convergence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334155"/>
                </a:solidFill>
                <a:latin typeface="Calibri"/>
              </a:defRPr>
            </a:pPr>
            <a:r>
              <a:t>R-hat (ln omega) = 1.0079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0B981"/>
                </a:solidFill>
                <a:latin typeface="Calibri"/>
              </a:defRPr>
            </a:pPr>
            <a:r>
              <a:t>&lt; 1.01 threshold: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334155"/>
                </a:solidFill>
                <a:latin typeface="Calibri"/>
              </a:defRPr>
            </a:pPr>
            <a:r>
              <a:t>R-hat (Delta-G_spacer) = 1.0085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0B981"/>
                </a:solidFill>
                <a:latin typeface="Calibri"/>
              </a:defRPr>
            </a:pPr>
            <a:r>
              <a:t>&lt; 1.01 threshold: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334155"/>
                </a:solidFill>
                <a:latin typeface="Calibri"/>
              </a:defRPr>
            </a:pPr>
            <a:r>
              <a:t>Acceptance fraction = 0.7044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0B981"/>
                </a:solidFill>
                <a:latin typeface="Calibri"/>
              </a:defRPr>
            </a:pPr>
            <a:r>
              <a:t>Ideal range 0.2-0.8: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334155"/>
                </a:solidFill>
                <a:latin typeface="Calibri"/>
              </a:defRPr>
            </a:pPr>
            <a:r>
              <a:t>Walkers = 32, Steps = 5,000, Burn-in = 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334155"/>
                </a:solidFill>
                <a:latin typeface="Calibri"/>
              </a:defRPr>
            </a:pPr>
            <a:r>
              <a:t>[Mce3R] for fitting = 332.0 nM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Phase 5 Output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34E4A"/>
                </a:solidFill>
                <a:latin typeface="Calibri"/>
              </a:defRPr>
            </a:pPr>
            <a:r>
              <a:t>energy_parameters.json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Calibri"/>
              </a:defRPr>
            </a:pPr>
            <a:r>
              <a:t>Calibrated Delta-G values, offsets, Kd predictions, binding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34E4A"/>
                </a:solidFill>
                <a:latin typeface="Calibri"/>
              </a:defRPr>
            </a:pPr>
            <a:r>
              <a:t>mcmc_summary.json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Calibri"/>
              </a:defRPr>
            </a:pPr>
            <a:r>
              <a:t>MCMC posteriors: omega, Delta-G_spacer, convergence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34E4A"/>
                </a:solidFill>
                <a:latin typeface="Calibri"/>
              </a:defRPr>
            </a:pPr>
            <a:r>
              <a:t>mcmc_posteriors.npz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Calibri"/>
              </a:defRPr>
            </a:pPr>
            <a:r>
              <a:t>Raw MCMC chain samples (NumPy archive) for downstream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34E4A"/>
                </a:solidFill>
                <a:latin typeface="Calibri"/>
              </a:defRPr>
            </a:pPr>
            <a:r>
              <a:t>repression_curves.csv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Calibri"/>
              </a:defRPr>
            </a:pPr>
            <a:r>
              <a:t>Fold-repression vs [Mce3R] for 4 operator architectures (200 concentrations each)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34E4A"/>
                </a:solidFill>
                <a:latin typeface="Calibri"/>
              </a:defRPr>
            </a:pPr>
            <a:r>
              <a:t>operator_classifications.csv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Calibri"/>
              </a:defRPr>
            </a:pPr>
            <a:r>
              <a:t>Hill analysis of top-20 FIMO sites: n_H, K_half,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34E4A"/>
                </a:solidFill>
                <a:latin typeface="Calibri"/>
              </a:defRPr>
            </a:pPr>
            <a:r>
              <a:t>phase5_summary.json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303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Calibri"/>
              </a:defRPr>
            </a:pPr>
            <a:r>
              <a:t>Phase metadata: timing, sanity checks (9/9 passed), scientific predictions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What Phase 5 Feeds Into: 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Phase 6 (Environmental Response Simulations) uses calibrated Delta-G values and omega approx. 1: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1. Calibrated Delta-G_strong and Delta-G_weak set the binding/unbinding rates in the Gillespie simulator.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2. omega approx. 1 means the two-site model simplifies: no strong cooperative effects to model.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3. Repression curves inform which Mce3R concentrations cause derepression of the mce3 operon.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4. The graded (not digital) classification means Phase 6 should expect continuous, noise-sensitive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   gene expression responses -- not bistable switches.</a:t>
            </a: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85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   5. The wide cooperativity posterior is propagated as uncertainty into Phase 6 predictions.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The asymmetric operator is a continuous noise generator, not a switch.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This is functionally important: persistence arises from stochastic fluctuation</a:t>
            </a:r>
            <a:br/>
            <a:r>
              <a:t>in a graded system, not from deterministic bistable switching.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Phase 5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94A3B8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Berg-von Hippel model converts PWM scores to binding free energies (Delta-G).</a:t>
            </a: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Energy calibration: Kd_strong = 2.4 nM, Kd_weak = 49.0 nM reproduced exactly.</a:t>
            </a: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4-state partition function models operator occupancy as function of [Mce3R].</a:t>
            </a: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MCMC inference: omega = 1.083 [CI: 0.20-5.89], near-independent binding.</a:t>
            </a: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All 20 predicted Mce3R targets are graded repressors (Hill n_H &lt; 2).</a:t>
            </a: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The asymmetric operator enables noise-driven phenotypic variation, not bistable switching.</a:t>
            </a: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9/9 sanity checks passed. 0 failures.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